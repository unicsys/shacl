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4" r:id="rId5"/>
    <p:sldId id="265" r:id="rId6"/>
    <p:sldId id="266" r:id="rId7"/>
    <p:sldId id="263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3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1CD7-1FBA-8998-2B55-4D800CA33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6F779-4864-9300-1882-D3485B348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497AB-5A37-AEAC-FC21-DE3FE985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BAF01-63F5-CD03-5519-EB24ABD4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DD65-0F14-A85C-13DB-5DD0E549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3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C5D6-04EA-6D4D-6351-9E81C63B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5D0B-4CDD-2584-42B0-C4BA33D73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97B9C-30C6-A8F9-5B8C-F415A09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01490-B778-6401-4CDE-D0844804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D457-053E-D01B-252D-7AE37E67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A852-6C40-212B-966C-EB47D10B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CF1BD-1026-92CB-8222-DA11B6ECC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90AF8-4A0A-CE31-5BFF-EC3ED226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63721-A267-3B14-AE2F-9514CE69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21A70-5F5E-657E-13F4-34DE480E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8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8873-1CCE-EC7F-5DDE-8D4EEB84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EE52C-0813-29C5-C824-063F62CF3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87D4E-7CEF-B282-634E-1F2606492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68363-2273-8E25-DABF-1B395741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3CEAF-F76D-6909-550D-AF77FDB3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D89DD-EEC5-443F-AB71-2622C9D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5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5118-D68B-6972-F81F-89EFB32C2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71B6-CEE5-AAC6-1D06-91798BFE9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877E1-B613-2DAD-B61F-B7C5B8E20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3C54A-18D3-402D-99C4-B976D9E2B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37239-2093-9C5C-2A4D-53BC8EDD2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97A47-469B-808A-365E-C1557EE4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7D769-1F65-54E5-9F7D-FB4081CC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CEC02-23A9-24A5-1CCC-AA0518FA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1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2DAD-C43B-3754-F2AA-9D6E8FB7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7D185-D403-51F9-4BCA-D2854E4A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32CE5-F54E-8760-8E36-038A696C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4B20D-9ECC-0DB1-DC51-127C3E77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76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9410D-7786-E64E-160A-C79770CA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87065-E16F-1AF8-9C47-113F6FD3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C1CE9-569A-CAAB-6F68-F3BC0A02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5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A031-72CC-83D1-60C6-9999C7DD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4B42D-968E-89BB-BDF8-C1A744AD3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34D77-DA52-B092-FE43-C01FDA50D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7A96-1740-2C26-A12B-46A3A58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FA57F-05CD-8C17-ADAB-5CEE4DAF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86070-F33C-FF48-5E39-C8158118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BC54-F531-A62D-542E-146E4A64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81FB4-5F94-E545-624D-951DD10FC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DE26A-5FD4-348E-2938-C10D3AC8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E6667-84F1-4A05-4D6C-D70BC483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0313C-C381-F145-65B6-DD12B6DD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0B31B-9482-1919-7332-B8A8BEE5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7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75F9-14D8-FB64-1F6E-CBF10472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45A98-E991-6AC3-DAB3-DC0CF95FC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5FF48-8F38-3FAD-25F7-DE2138CC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938B-C68A-27B0-7E76-AFD7C2B3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1F85-CF75-0A4D-5B0B-79E1CDAE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1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E9864-66A5-6D52-5018-884C9E4AA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9DFC8-4EEA-1AED-28C5-CFF816C69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7295-015E-087B-CA01-65FE719B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446C1-7BE1-534E-7A76-8AB8A721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0FF2C-62B8-019A-6D04-98D19EC4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9B05F-5241-D0A3-E695-210F98E6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97C57-BA32-CA98-DA6A-EFCB2ECB5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07A2-D89F-0D7C-46B7-9F775F697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B65FC-0B1B-4FB3-A000-F126EF20213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FB422-FA55-0787-7C98-75A9C7C9F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9296D-68E0-59FF-6E39-383E3180B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62A7E-1D2F-4793-9016-D4E5D15D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2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s://annals-csis.org/Volume_43/drp/2314.html#:~:text=Abstract,research%20project%20descriptions%20and%20the" TargetMode="External"/><Relationship Id="rId18" Type="http://schemas.openxmlformats.org/officeDocument/2006/relationships/hyperlink" Target="https://arxiv.org/html/2507.22935v2#:~:text=match%20at%20L266%20A%20publicly,KE%20in%20the%20maintenance%20domain" TargetMode="External"/><Relationship Id="rId26" Type="http://schemas.openxmlformats.org/officeDocument/2006/relationships/hyperlink" Target="https://github.com/nlp-tlp/quickgraph#:~:text=QuickGraph%20is%20a%20collaborative%20annotation,to%20aid%20with%20annotation%20consistency" TargetMode="External"/><Relationship Id="rId21" Type="http://schemas.openxmlformats.org/officeDocument/2006/relationships/hyperlink" Target="https://github.com/nielstron/quantulum3" TargetMode="External"/><Relationship Id="rId34" Type="http://schemas.openxmlformats.org/officeDocument/2006/relationships/hyperlink" Target="https://dl.ifip.org/IFIP-TC5/hal-04768921v1" TargetMode="External"/><Relationship Id="rId7" Type="http://schemas.openxmlformats.org/officeDocument/2006/relationships/hyperlink" Target="https://arxiv.org/abs/2502.16540" TargetMode="External"/><Relationship Id="rId12" Type="http://schemas.openxmlformats.org/officeDocument/2006/relationships/hyperlink" Target="https://dl.ifip.org/IFIP-TC5/hal-04768921v1#:~:text=workorders.%20A%20SKOS,discovery%20by%20analyzing%20maintenance%20logs" TargetMode="External"/><Relationship Id="rId17" Type="http://schemas.openxmlformats.org/officeDocument/2006/relationships/hyperlink" Target="https://arxiv.org/html/2507.22935v2#:~:text=benchmark%2C%20or%20OMIn%2C%20a%20novel,uncommon%20or%20incorrect%20syntax%20due" TargetMode="External"/><Relationship Id="rId25" Type="http://schemas.openxmlformats.org/officeDocument/2006/relationships/hyperlink" Target="https://pypi.org/project/mudlark" TargetMode="External"/><Relationship Id="rId33" Type="http://schemas.openxmlformats.org/officeDocument/2006/relationships/hyperlink" Target="https://arxiv.org/html/2507.22935v2" TargetMode="External"/><Relationship Id="rId2" Type="http://schemas.openxmlformats.org/officeDocument/2006/relationships/hyperlink" Target="https://www.researchgate.net/publication/347608971_Technical_Language_Processing_Unlocking_Maintenance_Knowledge#:~:text=Knowledge%20www,001" TargetMode="External"/><Relationship Id="rId16" Type="http://schemas.openxmlformats.org/officeDocument/2006/relationships/hyperlink" Target="https://people.rit.edu/fa3019/MaintNet/" TargetMode="External"/><Relationship Id="rId20" Type="http://schemas.openxmlformats.org/officeDocument/2006/relationships/hyperlink" Target="https://github.com/nielstron/quantulum3#:~:text=Python%20library%20for%20information%20extraction,representation%20and%20their%20Wikipedia%20page" TargetMode="External"/><Relationship Id="rId29" Type="http://schemas.openxmlformats.org/officeDocument/2006/relationships/hyperlink" Target="https://www.researchgate.net/publication/347608971_Technical_Language_Processing_Unlocking_Maintenance_Knowled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502.16540?#:~:text=Abstract%E2%80%94In%20electronic%20design%2C%20engineers%20often,systems%2C%20D2S%02FLOW%20employs%20a%20workflow" TargetMode="External"/><Relationship Id="rId11" Type="http://schemas.openxmlformats.org/officeDocument/2006/relationships/hyperlink" Target="https://arxiv.org/html/2507.22935v2#:~:text=applications%20in%20the%20aircraft%20industry,further%20baseline%20testing%20and%20evaluation" TargetMode="External"/><Relationship Id="rId24" Type="http://schemas.openxmlformats.org/officeDocument/2006/relationships/hyperlink" Target="https://pypi.org/project/mudlark/#:~:text=,can%20view%20this%20dictionary%20here" TargetMode="External"/><Relationship Id="rId32" Type="http://schemas.openxmlformats.org/officeDocument/2006/relationships/hyperlink" Target="https://github.com/nlp-tlp/maintie" TargetMode="External"/><Relationship Id="rId37" Type="http://schemas.openxmlformats.org/officeDocument/2006/relationships/hyperlink" Target="https://pypi.org/project/mudlark/" TargetMode="External"/><Relationship Id="rId5" Type="http://schemas.openxmlformats.org/officeDocument/2006/relationships/hyperlink" Target="https://arxiv.org/abs/2202.05065" TargetMode="External"/><Relationship Id="rId15" Type="http://schemas.openxmlformats.org/officeDocument/2006/relationships/hyperlink" Target="https://ar5iv.org/abs/2005.12443#:~:text=prevent%20accidents%20and%20save%20lives,tools%20for%20logbook%20data%20analysis" TargetMode="External"/><Relationship Id="rId23" Type="http://schemas.openxmlformats.org/officeDocument/2006/relationships/hyperlink" Target="https://pypi.org/project/mudlark/#:~:text=This%20library%20is%20designed%20to,Mudlark%20has%20three%20main%20purposes" TargetMode="External"/><Relationship Id="rId28" Type="http://schemas.openxmlformats.org/officeDocument/2006/relationships/hyperlink" Target="https://github.com/nlp-tlp/quickgraph#:~:text=QuickGraph" TargetMode="External"/><Relationship Id="rId36" Type="http://schemas.openxmlformats.org/officeDocument/2006/relationships/hyperlink" Target="https://ar5iv.org/abs/2005.12443" TargetMode="External"/><Relationship Id="rId10" Type="http://schemas.openxmlformats.org/officeDocument/2006/relationships/hyperlink" Target="https://arxiv.org/html/2507.22935v2#:~:text=and%20maintenance,shot%20performance%20of%20NLP" TargetMode="External"/><Relationship Id="rId19" Type="http://schemas.openxmlformats.org/officeDocument/2006/relationships/hyperlink" Target="https://zenodo.org/record/13333825" TargetMode="External"/><Relationship Id="rId31" Type="http://schemas.openxmlformats.org/officeDocument/2006/relationships/hyperlink" Target="https://arxiv.org/pdf/2502.16540" TargetMode="External"/><Relationship Id="rId4" Type="http://schemas.openxmlformats.org/officeDocument/2006/relationships/hyperlink" Target="https://www.nrc.gov/docs/ML2120/ML21201A369.pdf#:~:text=,46" TargetMode="External"/><Relationship Id="rId9" Type="http://schemas.openxmlformats.org/officeDocument/2006/relationships/hyperlink" Target="https://aclanthology.org/2024.lrec-main.954.pdf" TargetMode="External"/><Relationship Id="rId14" Type="http://schemas.openxmlformats.org/officeDocument/2006/relationships/hyperlink" Target="http://dx.doi.org/10.15439/2025F2314" TargetMode="External"/><Relationship Id="rId22" Type="http://schemas.openxmlformats.org/officeDocument/2006/relationships/hyperlink" Target="https://www.gdandtbasics.com/gdt-symbols-chart/" TargetMode="External"/><Relationship Id="rId27" Type="http://schemas.openxmlformats.org/officeDocument/2006/relationships/hyperlink" Target="https://github.com/nlp-tlp/quickgraph" TargetMode="External"/><Relationship Id="rId30" Type="http://schemas.openxmlformats.org/officeDocument/2006/relationships/hyperlink" Target="https://www.nrc.gov/docs/ML2120/ML21201A369.pdf" TargetMode="External"/><Relationship Id="rId35" Type="http://schemas.openxmlformats.org/officeDocument/2006/relationships/hyperlink" Target="https://annals-csis.org/Volume_43/drp/2314.html" TargetMode="External"/><Relationship Id="rId8" Type="http://schemas.openxmlformats.org/officeDocument/2006/relationships/hyperlink" Target="https://github.com/nlp-tlp/maintie#:~:text=This%20repository%20contains%20the%20data%2C,Coling%202024" TargetMode="External"/><Relationship Id="rId3" Type="http://schemas.openxmlformats.org/officeDocument/2006/relationships/hyperlink" Target="https://doi.org/10.1016/j.mfglet.2020.11.00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8282-62E2-3288-E5CF-009F9168F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053D3-86B9-96FB-6E18-03945E6B3A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6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496C-9746-299B-9BA6-1286344C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D6944-C642-19E6-0FBB-E43955D80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15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03D7-40BB-F262-F3D0-9195A685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622B-A368-3366-7069-FD82BB387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1" dirty="0"/>
              <a:t>Academic Literature</a:t>
            </a:r>
          </a:p>
          <a:p>
            <a:pPr lvl="0"/>
            <a:r>
              <a:rPr lang="en-US" b="1" dirty="0"/>
              <a:t>Technical Language Processing (TLP)</a:t>
            </a:r>
            <a:r>
              <a:rPr lang="en-US" dirty="0"/>
              <a:t> – </a:t>
            </a:r>
            <a:r>
              <a:rPr lang="en-US" i="1" dirty="0"/>
              <a:t>Brundage et al., 2020</a:t>
            </a:r>
            <a:r>
              <a:rPr lang="en-US" dirty="0"/>
              <a:t> introduced the TLP paradigm to tailor NLP for technical engineering text</a:t>
            </a:r>
            <a:r>
              <a:rPr lang="en-US" dirty="0">
                <a:hlinkClick r:id="rId2"/>
              </a:rPr>
              <a:t>[1]</a:t>
            </a:r>
            <a:r>
              <a:rPr lang="en-US" dirty="0"/>
              <a:t>. </a:t>
            </a:r>
            <a:r>
              <a:rPr lang="en-US" i="1" dirty="0"/>
              <a:t>Manufacturing Letters 27(1)</a:t>
            </a:r>
            <a:r>
              <a:rPr lang="en-US" dirty="0"/>
              <a:t> – DOI:</a:t>
            </a:r>
            <a:r>
              <a:rPr lang="en-US" dirty="0">
                <a:hlinkClick r:id="rId3"/>
              </a:rPr>
              <a:t>10.1016/j.mfglet.2020.11.001</a:t>
            </a:r>
            <a:r>
              <a:rPr lang="en-US" dirty="0"/>
              <a:t> – A call to adapt NLP pipelines for maintenance logs and domain jargon</a:t>
            </a:r>
            <a:r>
              <a:rPr lang="en-US" dirty="0">
                <a:hlinkClick r:id="rId4"/>
              </a:rPr>
              <a:t>[2]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Requirements &amp; Parameter Mining</a:t>
            </a:r>
            <a:r>
              <a:rPr lang="en-US" dirty="0"/>
              <a:t> – </a:t>
            </a:r>
            <a:r>
              <a:rPr lang="en-US" i="1" dirty="0" err="1"/>
              <a:t>Vierlboeck</a:t>
            </a:r>
            <a:r>
              <a:rPr lang="en-US" i="1" dirty="0"/>
              <a:t> et al., 2022</a:t>
            </a:r>
            <a:r>
              <a:rPr lang="en-US" dirty="0"/>
              <a:t> review NLP in Requirements Engineering (no fully automated open-source tool yet for extracting structured requirements) – ArXiv:</a:t>
            </a:r>
            <a:r>
              <a:rPr lang="en-US" dirty="0">
                <a:hlinkClick r:id="rId5"/>
              </a:rPr>
              <a:t>2202.05065</a:t>
            </a:r>
            <a:r>
              <a:rPr lang="en-US" dirty="0"/>
              <a:t>. </a:t>
            </a:r>
            <a:r>
              <a:rPr lang="en-US" i="1" dirty="0"/>
              <a:t>Chen et al., 2025</a:t>
            </a:r>
            <a:r>
              <a:rPr lang="en-US" dirty="0"/>
              <a:t> propose </a:t>
            </a:r>
            <a:r>
              <a:rPr lang="en-US" b="1" dirty="0"/>
              <a:t>D2S-FLOW</a:t>
            </a:r>
            <a:r>
              <a:rPr lang="en-US" dirty="0"/>
              <a:t>, an LLM-based workflow for extracting design parameters from chip datasheets (e.g. SPICE model values) with high precision</a:t>
            </a:r>
            <a:r>
              <a:rPr lang="en-US" dirty="0">
                <a:hlinkClick r:id="rId6"/>
              </a:rPr>
              <a:t>[3]</a:t>
            </a:r>
            <a:r>
              <a:rPr lang="en-US" dirty="0"/>
              <a:t> – ArXiv:</a:t>
            </a:r>
            <a:r>
              <a:rPr lang="en-US" dirty="0">
                <a:hlinkClick r:id="rId7"/>
              </a:rPr>
              <a:t>2502.16540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Maintenance/Quality Logs NLP</a:t>
            </a:r>
            <a:r>
              <a:rPr lang="en-US" dirty="0"/>
              <a:t> – </a:t>
            </a:r>
            <a:r>
              <a:rPr lang="en-US" i="1" dirty="0" err="1"/>
              <a:t>Bikaun</a:t>
            </a:r>
            <a:r>
              <a:rPr lang="en-US" i="1" dirty="0"/>
              <a:t> et al., 2024</a:t>
            </a:r>
            <a:r>
              <a:rPr lang="en-US" dirty="0"/>
              <a:t> present </a:t>
            </a:r>
            <a:r>
              <a:rPr lang="en-US" b="1" dirty="0" err="1"/>
              <a:t>MaintIE</a:t>
            </a:r>
            <a:r>
              <a:rPr lang="en-US" dirty="0"/>
              <a:t>, a fine-grained information extraction scheme and annotated corpus for maintenance work-order texts</a:t>
            </a:r>
            <a:r>
              <a:rPr lang="en-US" dirty="0">
                <a:hlinkClick r:id="rId8"/>
              </a:rPr>
              <a:t>[4]</a:t>
            </a:r>
            <a:r>
              <a:rPr lang="en-US" dirty="0"/>
              <a:t>. (LREC-COLING 2024) – </a:t>
            </a:r>
            <a:r>
              <a:rPr lang="en-US" dirty="0">
                <a:hlinkClick r:id="rId9"/>
              </a:rPr>
              <a:t>Paper (PDF)</a:t>
            </a:r>
            <a:r>
              <a:rPr lang="en-US" dirty="0"/>
              <a:t>. Also, </a:t>
            </a:r>
            <a:r>
              <a:rPr lang="en-US" i="1" dirty="0" err="1"/>
              <a:t>Hershowitz</a:t>
            </a:r>
            <a:r>
              <a:rPr lang="en-US" i="1" dirty="0"/>
              <a:t> et al., 2024</a:t>
            </a:r>
            <a:r>
              <a:rPr lang="en-US" dirty="0"/>
              <a:t> extract causal knowledge from long maintenance reports (Computers in Industry 161, 104110).</a:t>
            </a:r>
          </a:p>
          <a:p>
            <a:pPr lvl="0"/>
            <a:r>
              <a:rPr lang="en-US" b="1" dirty="0"/>
              <a:t>Knowledge Graphs from Technical Docs</a:t>
            </a:r>
            <a:r>
              <a:rPr lang="en-US" dirty="0"/>
              <a:t> – </a:t>
            </a:r>
            <a:r>
              <a:rPr lang="en-US" i="1" dirty="0"/>
              <a:t>Mealey et al., 2025</a:t>
            </a:r>
            <a:r>
              <a:rPr lang="en-US" dirty="0"/>
              <a:t> (</a:t>
            </a:r>
            <a:r>
              <a:rPr lang="en-US" dirty="0" err="1"/>
              <a:t>ArXiv</a:t>
            </a:r>
            <a:r>
              <a:rPr lang="en-US" dirty="0"/>
              <a:t>) benchmark knowledge extraction tools on aviation maintenance text, introducing the </a:t>
            </a:r>
            <a:r>
              <a:rPr lang="en-US" b="1" dirty="0" err="1"/>
              <a:t>OMIn</a:t>
            </a:r>
            <a:r>
              <a:rPr lang="en-US" dirty="0"/>
              <a:t> dataset and discussing KGs in maintenance</a:t>
            </a:r>
            <a:r>
              <a:rPr lang="en-US" dirty="0">
                <a:hlinkClick r:id="rId10"/>
              </a:rPr>
              <a:t>[5]</a:t>
            </a:r>
            <a:r>
              <a:rPr lang="en-US" dirty="0">
                <a:hlinkClick r:id="rId11"/>
              </a:rPr>
              <a:t>[6]</a:t>
            </a:r>
            <a:r>
              <a:rPr lang="en-US" dirty="0"/>
              <a:t>. </a:t>
            </a:r>
            <a:r>
              <a:rPr lang="en-US" i="1" dirty="0"/>
              <a:t>Ameri &amp; Tahsin, 2022</a:t>
            </a:r>
            <a:r>
              <a:rPr lang="en-US" dirty="0"/>
              <a:t> develop </a:t>
            </a:r>
            <a:r>
              <a:rPr lang="en-US" b="1" dirty="0" err="1"/>
              <a:t>KnoWo</a:t>
            </a:r>
            <a:r>
              <a:rPr lang="en-US" dirty="0"/>
              <a:t>, a Java-based tool to automatically build semantic KGs from maintenance work orders using a SKOS thesaurus and OWL ontology</a:t>
            </a:r>
            <a:r>
              <a:rPr lang="en-US" dirty="0">
                <a:hlinkClick r:id="rId12"/>
              </a:rPr>
              <a:t>[7]</a:t>
            </a:r>
            <a:r>
              <a:rPr lang="en-US" dirty="0"/>
              <a:t> (IFIP APMS 2022).</a:t>
            </a:r>
          </a:p>
          <a:p>
            <a:pPr lvl="0"/>
            <a:r>
              <a:rPr lang="en-US" b="1" dirty="0"/>
              <a:t>Export-Control Classification (ITAR/EAR)</a:t>
            </a:r>
            <a:r>
              <a:rPr lang="en-US" dirty="0"/>
              <a:t> – </a:t>
            </a:r>
            <a:r>
              <a:rPr lang="en-US" i="1" dirty="0"/>
              <a:t>Alotaibi et al., 2025</a:t>
            </a:r>
            <a:r>
              <a:rPr lang="en-US" dirty="0"/>
              <a:t> evaluate ChatGPT-4 and </a:t>
            </a:r>
            <a:r>
              <a:rPr lang="en-US" dirty="0" err="1"/>
              <a:t>LLaMA</a:t>
            </a:r>
            <a:r>
              <a:rPr lang="en-US" dirty="0"/>
              <a:t> for classifying research descriptions under export regulations</a:t>
            </a:r>
            <a:r>
              <a:rPr lang="en-US" dirty="0">
                <a:hlinkClick r:id="rId13"/>
              </a:rPr>
              <a:t>[8]</a:t>
            </a:r>
            <a:r>
              <a:rPr lang="en-US" dirty="0"/>
              <a:t>. They propose a 5-stage expert-in-the-loop workflow for high-precision </a:t>
            </a:r>
            <a:r>
              <a:rPr lang="en-US" b="1" dirty="0"/>
              <a:t>export control</a:t>
            </a:r>
            <a:r>
              <a:rPr lang="en-US" dirty="0"/>
              <a:t> text classification. (</a:t>
            </a:r>
            <a:r>
              <a:rPr lang="en-US" dirty="0" err="1"/>
              <a:t>FedCSIS</a:t>
            </a:r>
            <a:r>
              <a:rPr lang="en-US" dirty="0"/>
              <a:t> 2025) – DOI:</a:t>
            </a:r>
            <a:r>
              <a:rPr lang="en-US" dirty="0">
                <a:hlinkClick r:id="rId14"/>
              </a:rPr>
              <a:t>10.15439/2025F2314</a:t>
            </a:r>
            <a:r>
              <a:rPr lang="en-US" dirty="0"/>
              <a:t>.</a:t>
            </a:r>
          </a:p>
          <a:p>
            <a:r>
              <a:rPr lang="en-US" b="1" dirty="0"/>
              <a:t>Open-Source Tools &amp; Resources</a:t>
            </a:r>
          </a:p>
          <a:p>
            <a:pPr lvl="0"/>
            <a:r>
              <a:rPr lang="en-US" b="1" dirty="0" err="1"/>
              <a:t>MaintNet</a:t>
            </a:r>
            <a:r>
              <a:rPr lang="en-US" dirty="0"/>
              <a:t> – Collaborative library of technical language datasets &amp; NLP tools for predictive maintenance</a:t>
            </a:r>
            <a:r>
              <a:rPr lang="en-US" dirty="0">
                <a:hlinkClick r:id="rId15"/>
              </a:rPr>
              <a:t>[9]</a:t>
            </a:r>
            <a:r>
              <a:rPr lang="en-US" dirty="0"/>
              <a:t>. Includes aviation, automotive, facility maintenance logs plus preprocessing utilities. </a:t>
            </a:r>
            <a:r>
              <a:rPr lang="en-US" i="1" dirty="0"/>
              <a:t>RIT </a:t>
            </a:r>
            <a:r>
              <a:rPr lang="en-US" i="1" dirty="0" err="1"/>
              <a:t>MaintNet</a:t>
            </a:r>
            <a:r>
              <a:rPr lang="en-US" dirty="0"/>
              <a:t> – </a:t>
            </a:r>
            <a:r>
              <a:rPr lang="en-US" dirty="0">
                <a:hlinkClick r:id="rId16"/>
              </a:rPr>
              <a:t>Website</a:t>
            </a:r>
            <a:r>
              <a:rPr lang="en-US" dirty="0"/>
              <a:t> – </a:t>
            </a:r>
            <a:r>
              <a:rPr lang="en-US" i="1" dirty="0"/>
              <a:t>Paper:</a:t>
            </a:r>
            <a:r>
              <a:rPr lang="en-US" dirty="0"/>
              <a:t> ArXiv:2005.12443.</a:t>
            </a:r>
          </a:p>
          <a:p>
            <a:pPr lvl="0"/>
            <a:r>
              <a:rPr lang="en-US" b="1" dirty="0" err="1"/>
              <a:t>KnoWo</a:t>
            </a:r>
            <a:r>
              <a:rPr lang="en-US" dirty="0"/>
              <a:t> – Java-based tool (open-source) for generating maintenance </a:t>
            </a:r>
            <a:r>
              <a:rPr lang="en-US" b="1" dirty="0"/>
              <a:t>Knowledge Graphs</a:t>
            </a:r>
            <a:r>
              <a:rPr lang="en-US" dirty="0"/>
              <a:t>. Uses a controlled vocabulary (SKOS) for entity extraction and an ontology for graph schema</a:t>
            </a:r>
            <a:r>
              <a:rPr lang="en-US" dirty="0">
                <a:hlinkClick r:id="rId12"/>
              </a:rPr>
              <a:t>[7]</a:t>
            </a:r>
            <a:r>
              <a:rPr lang="en-US" dirty="0"/>
              <a:t>. Described in APMS 2022 (Farhad Ameri’s </a:t>
            </a:r>
            <a:r>
              <a:rPr lang="en-US" b="1" dirty="0"/>
              <a:t>Engineering Informatics Lab</a:t>
            </a:r>
            <a:r>
              <a:rPr lang="en-US" dirty="0"/>
              <a:t>).</a:t>
            </a:r>
          </a:p>
          <a:p>
            <a:pPr lvl="0"/>
            <a:r>
              <a:rPr lang="en-US" b="1" dirty="0" err="1"/>
              <a:t>OMIn</a:t>
            </a:r>
            <a:r>
              <a:rPr lang="en-US" b="1" dirty="0"/>
              <a:t> Dataset</a:t>
            </a:r>
            <a:r>
              <a:rPr lang="en-US" dirty="0"/>
              <a:t> – </a:t>
            </a:r>
            <a:r>
              <a:rPr lang="en-US" i="1" dirty="0"/>
              <a:t>Operations &amp; Maintenance Intelligence</a:t>
            </a:r>
            <a:r>
              <a:rPr lang="en-US" dirty="0"/>
              <a:t> corpus derived from FAA incident reports</a:t>
            </a:r>
            <a:r>
              <a:rPr lang="en-US" dirty="0">
                <a:hlinkClick r:id="rId17"/>
              </a:rPr>
              <a:t>[10]</a:t>
            </a:r>
            <a:r>
              <a:rPr lang="en-US" dirty="0">
                <a:hlinkClick r:id="rId18"/>
              </a:rPr>
              <a:t>[11]</a:t>
            </a:r>
            <a:r>
              <a:rPr lang="en-US" dirty="0"/>
              <a:t>. Open benchmark with gold-standard annotations (entities, links, etc.) for evaluating IE tools in technical domains. Available on </a:t>
            </a:r>
            <a:r>
              <a:rPr lang="en-US" dirty="0" err="1"/>
              <a:t>Zenodo</a:t>
            </a:r>
            <a:r>
              <a:rPr lang="en-US" dirty="0"/>
              <a:t>: </a:t>
            </a:r>
            <a:r>
              <a:rPr lang="en-US" b="1" dirty="0" err="1"/>
              <a:t>OMIn</a:t>
            </a:r>
            <a:r>
              <a:rPr lang="en-US" b="1" dirty="0"/>
              <a:t> v1</a:t>
            </a:r>
            <a:r>
              <a:rPr lang="en-US" dirty="0"/>
              <a:t> – </a:t>
            </a:r>
            <a:r>
              <a:rPr lang="en-US" dirty="0">
                <a:hlinkClick r:id="rId19"/>
              </a:rPr>
              <a:t>doi:10.5281/zenodo.13333825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Quantulum</a:t>
            </a:r>
            <a:r>
              <a:rPr lang="en-US" dirty="0"/>
              <a:t> – Python library for extracting </a:t>
            </a:r>
            <a:r>
              <a:rPr lang="en-US" b="1" dirty="0"/>
              <a:t>units and quantities</a:t>
            </a:r>
            <a:r>
              <a:rPr lang="en-US" dirty="0"/>
              <a:t> from text</a:t>
            </a:r>
            <a:r>
              <a:rPr lang="en-US" dirty="0">
                <a:hlinkClick r:id="rId20"/>
              </a:rPr>
              <a:t>[12]</a:t>
            </a:r>
            <a:r>
              <a:rPr lang="en-US" dirty="0"/>
              <a:t>. Disambiguates units via context (includes ~300 units, handles ranges and tolerances). GitHub: </a:t>
            </a:r>
            <a:r>
              <a:rPr lang="en-US" dirty="0">
                <a:hlinkClick r:id="rId21"/>
              </a:rPr>
              <a:t>quantulum3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“Regex” for GD&amp;T &amp; Tolerances</a:t>
            </a:r>
            <a:r>
              <a:rPr lang="en-US" dirty="0"/>
              <a:t> – No single library, but patterns can be crafted using domain knowledge. e.g., lists of </a:t>
            </a:r>
            <a:r>
              <a:rPr lang="en-US" b="1" dirty="0"/>
              <a:t>GD&amp;T symbols</a:t>
            </a:r>
            <a:r>
              <a:rPr lang="en-US" dirty="0"/>
              <a:t> (ASME Y14.5) from guides like </a:t>
            </a:r>
            <a:r>
              <a:rPr lang="en-US" i="1" dirty="0"/>
              <a:t>GD&amp;T Basics</a:t>
            </a:r>
            <a:r>
              <a:rPr lang="en-US" dirty="0"/>
              <a:t> </a:t>
            </a:r>
            <a:r>
              <a:rPr lang="en-US" dirty="0">
                <a:hlinkClick r:id="rId22"/>
              </a:rPr>
              <a:t>Reference</a:t>
            </a:r>
            <a:r>
              <a:rPr lang="en-US" dirty="0"/>
              <a:t> and incorporating regex for tolerances (± values, fits). These patterns are often implemented in custom text cleaners (see </a:t>
            </a:r>
            <a:r>
              <a:rPr lang="en-US" i="1" dirty="0" err="1"/>
              <a:t>Mudlark</a:t>
            </a:r>
            <a:r>
              <a:rPr lang="en-US" dirty="0"/>
              <a:t> below).</a:t>
            </a:r>
          </a:p>
          <a:p>
            <a:pPr lvl="0"/>
            <a:r>
              <a:rPr lang="en-US" b="1" dirty="0" err="1"/>
              <a:t>Mudlark</a:t>
            </a:r>
            <a:r>
              <a:rPr lang="en-US" b="1" dirty="0"/>
              <a:t> (2024)</a:t>
            </a:r>
            <a:r>
              <a:rPr lang="en-US" dirty="0"/>
              <a:t> – Open-source toolkit for cleaning and normalizing short technical texts (maintenance notes)</a:t>
            </a:r>
            <a:r>
              <a:rPr lang="en-US" dirty="0">
                <a:hlinkClick r:id="rId23"/>
              </a:rPr>
              <a:t>[13]</a:t>
            </a:r>
            <a:r>
              <a:rPr lang="en-US" dirty="0"/>
              <a:t>. Replaces domain-specific abbreviations and misspellings via a built-in corrections dictionary</a:t>
            </a:r>
            <a:r>
              <a:rPr lang="en-US" dirty="0">
                <a:hlinkClick r:id="rId24"/>
              </a:rPr>
              <a:t>[14]</a:t>
            </a:r>
            <a:r>
              <a:rPr lang="en-US" dirty="0"/>
              <a:t>. </a:t>
            </a:r>
            <a:r>
              <a:rPr lang="en-US" dirty="0" err="1"/>
              <a:t>PyPI</a:t>
            </a:r>
            <a:r>
              <a:rPr lang="en-US" dirty="0"/>
              <a:t>: </a:t>
            </a:r>
            <a:r>
              <a:rPr lang="en-US" dirty="0" err="1">
                <a:hlinkClick r:id="rId25"/>
              </a:rPr>
              <a:t>mudlark</a:t>
            </a:r>
            <a:r>
              <a:rPr lang="en-US" dirty="0"/>
              <a:t>, GitHub: </a:t>
            </a:r>
            <a:r>
              <a:rPr lang="en-US" dirty="0" err="1"/>
              <a:t>nlp-tlp</a:t>
            </a:r>
            <a:r>
              <a:rPr lang="en-US" dirty="0"/>
              <a:t>/</a:t>
            </a:r>
            <a:r>
              <a:rPr lang="en-US" dirty="0" err="1"/>
              <a:t>mudlark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QuickGraph</a:t>
            </a:r>
            <a:r>
              <a:rPr lang="en-US" dirty="0"/>
              <a:t> – Web-based </a:t>
            </a:r>
            <a:r>
              <a:rPr lang="en-US" b="1" dirty="0"/>
              <a:t>annotation tool</a:t>
            </a:r>
            <a:r>
              <a:rPr lang="en-US" dirty="0"/>
              <a:t> for rapid multi-task IE on technical text</a:t>
            </a:r>
            <a:r>
              <a:rPr lang="en-US" dirty="0">
                <a:hlinkClick r:id="rId26"/>
              </a:rPr>
              <a:t>[15]</a:t>
            </a:r>
            <a:r>
              <a:rPr lang="en-US" dirty="0"/>
              <a:t>. Supports collaborative entity/relation tagging with propagation (weak supervision) and instant KG visualization. GitHub: </a:t>
            </a:r>
            <a:r>
              <a:rPr lang="en-US" dirty="0" err="1">
                <a:hlinkClick r:id="rId27"/>
              </a:rPr>
              <a:t>quickgraph</a:t>
            </a:r>
            <a:r>
              <a:rPr lang="en-US" dirty="0"/>
              <a:t> – facilitates creation of high-quality training data for knowledge graph extraction</a:t>
            </a:r>
            <a:r>
              <a:rPr lang="en-US" dirty="0">
                <a:hlinkClick r:id="rId28"/>
              </a:rPr>
              <a:t>[16]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>
                <a:hlinkClick r:id="rId2"/>
              </a:rPr>
              <a:t>[1]</a:t>
            </a:r>
            <a:r>
              <a:rPr lang="en-US" dirty="0"/>
              <a:t> Technical Language Processing: Unlocking Maintenance Knowledge</a:t>
            </a:r>
          </a:p>
          <a:p>
            <a:r>
              <a:rPr lang="en-US" dirty="0">
                <a:hlinkClick r:id="rId29"/>
              </a:rPr>
              <a:t>https://www.researchgate.net/publication/347608971_Technical_Language_Processing_Unlocking_Maintenance_Knowledge</a:t>
            </a:r>
            <a:endParaRPr lang="en-US" dirty="0"/>
          </a:p>
          <a:p>
            <a:r>
              <a:rPr lang="en-US" dirty="0">
                <a:hlinkClick r:id="rId4"/>
              </a:rPr>
              <a:t>[2]</a:t>
            </a:r>
            <a:r>
              <a:rPr lang="en-US" dirty="0"/>
              <a:t> [PDF] 4 Thurston Sexton</a:t>
            </a:r>
          </a:p>
          <a:p>
            <a:r>
              <a:rPr lang="en-US" dirty="0">
                <a:hlinkClick r:id="rId30"/>
              </a:rPr>
              <a:t>https://www.nrc.gov/docs/ML2120/ML21201A369.pdf</a:t>
            </a:r>
            <a:endParaRPr lang="en-US" dirty="0"/>
          </a:p>
          <a:p>
            <a:r>
              <a:rPr lang="en-US" dirty="0">
                <a:hlinkClick r:id="rId6"/>
              </a:rPr>
              <a:t>[3]</a:t>
            </a:r>
            <a:r>
              <a:rPr lang="en-US" dirty="0"/>
              <a:t> </a:t>
            </a:r>
          </a:p>
          <a:p>
            <a:r>
              <a:rPr lang="en-US" dirty="0">
                <a:hlinkClick r:id="rId31"/>
              </a:rPr>
              <a:t>https://arxiv.org/pdf/2502.16540</a:t>
            </a:r>
            <a:endParaRPr lang="en-US" dirty="0"/>
          </a:p>
          <a:p>
            <a:r>
              <a:rPr lang="en-US" dirty="0">
                <a:hlinkClick r:id="rId8"/>
              </a:rPr>
              <a:t>[4]</a:t>
            </a:r>
            <a:r>
              <a:rPr lang="en-US" dirty="0"/>
              <a:t> GitHub - </a:t>
            </a:r>
            <a:r>
              <a:rPr lang="en-US" dirty="0" err="1"/>
              <a:t>nlp-tlp</a:t>
            </a:r>
            <a:r>
              <a:rPr lang="en-US" dirty="0"/>
              <a:t>/</a:t>
            </a:r>
            <a:r>
              <a:rPr lang="en-US" dirty="0" err="1"/>
              <a:t>maintie</a:t>
            </a:r>
            <a:r>
              <a:rPr lang="en-US" dirty="0"/>
              <a:t>: Maintenance Information Extraction (</a:t>
            </a:r>
            <a:r>
              <a:rPr lang="en-US" dirty="0" err="1"/>
              <a:t>MaintIE</a:t>
            </a:r>
            <a:r>
              <a:rPr lang="en-US" dirty="0"/>
              <a:t>)</a:t>
            </a:r>
          </a:p>
          <a:p>
            <a:r>
              <a:rPr lang="en-US" dirty="0">
                <a:hlinkClick r:id="rId32"/>
              </a:rPr>
              <a:t>https://github.com/nlp-tlp/maintie</a:t>
            </a:r>
            <a:endParaRPr lang="en-US" dirty="0"/>
          </a:p>
          <a:p>
            <a:r>
              <a:rPr lang="en-US" dirty="0">
                <a:hlinkClick r:id="rId10"/>
              </a:rPr>
              <a:t>[5]</a:t>
            </a:r>
            <a:r>
              <a:rPr lang="en-US" dirty="0"/>
              <a:t> </a:t>
            </a:r>
            <a:r>
              <a:rPr lang="en-US" dirty="0">
                <a:hlinkClick r:id="rId11"/>
              </a:rPr>
              <a:t>[6]</a:t>
            </a:r>
            <a:r>
              <a:rPr lang="en-US" dirty="0"/>
              <a:t> </a:t>
            </a:r>
            <a:r>
              <a:rPr lang="en-US" dirty="0">
                <a:hlinkClick r:id="rId17"/>
              </a:rPr>
              <a:t>[10]</a:t>
            </a:r>
            <a:r>
              <a:rPr lang="en-US" dirty="0"/>
              <a:t> </a:t>
            </a:r>
            <a:r>
              <a:rPr lang="en-US" dirty="0">
                <a:hlinkClick r:id="rId18"/>
              </a:rPr>
              <a:t>[11]</a:t>
            </a:r>
            <a:r>
              <a:rPr lang="en-US" dirty="0"/>
              <a:t> Trusted Knowledge Extraction for Operations and Maintenance Intelligence</a:t>
            </a:r>
          </a:p>
          <a:p>
            <a:r>
              <a:rPr lang="en-US" dirty="0">
                <a:hlinkClick r:id="rId33"/>
              </a:rPr>
              <a:t>https://arxiv.org/html/2507.22935v2</a:t>
            </a:r>
            <a:endParaRPr lang="en-US" dirty="0"/>
          </a:p>
          <a:p>
            <a:r>
              <a:rPr lang="en-US" dirty="0">
                <a:hlinkClick r:id="rId12"/>
              </a:rPr>
              <a:t>[7]</a:t>
            </a:r>
            <a:r>
              <a:rPr lang="en-US" dirty="0"/>
              <a:t>  KNOWO: A Tool for Generation of Semantic Knowledge Graphs from Maintenance Workorders Data - IFIP TC5: Information Technology Applications</a:t>
            </a:r>
          </a:p>
          <a:p>
            <a:r>
              <a:rPr lang="en-US" dirty="0">
                <a:hlinkClick r:id="rId34"/>
              </a:rPr>
              <a:t>https://dl.ifip.org/IFIP-TC5/hal-04768921v1</a:t>
            </a:r>
            <a:endParaRPr lang="en-US" dirty="0"/>
          </a:p>
          <a:p>
            <a:r>
              <a:rPr lang="en-US" dirty="0">
                <a:hlinkClick r:id="rId13"/>
              </a:rPr>
              <a:t>[8]</a:t>
            </a:r>
            <a:r>
              <a:rPr lang="en-US" dirty="0"/>
              <a:t> Annals of Computer Science and Information Systems, Volume 43</a:t>
            </a:r>
          </a:p>
          <a:p>
            <a:r>
              <a:rPr lang="en-US" dirty="0">
                <a:hlinkClick r:id="rId35"/>
              </a:rPr>
              <a:t>https://annals-csis.org/Volume_43/drp/2314.html</a:t>
            </a:r>
            <a:endParaRPr lang="en-US" dirty="0"/>
          </a:p>
          <a:p>
            <a:r>
              <a:rPr lang="en-US" dirty="0">
                <a:hlinkClick r:id="rId15"/>
              </a:rPr>
              <a:t>[9]</a:t>
            </a:r>
            <a:r>
              <a:rPr lang="en-US" dirty="0"/>
              <a:t> [2005.12443] </a:t>
            </a:r>
            <a:r>
              <a:rPr lang="en-US" dirty="0" err="1"/>
              <a:t>MaintNet</a:t>
            </a:r>
            <a:r>
              <a:rPr lang="en-US" dirty="0"/>
              <a:t>: A Collaborative Open-Source Library for Predictive Maintenance Language Resources</a:t>
            </a:r>
          </a:p>
          <a:p>
            <a:r>
              <a:rPr lang="en-US" dirty="0">
                <a:hlinkClick r:id="rId36"/>
              </a:rPr>
              <a:t>https://ar5iv.org/abs/2005.12443</a:t>
            </a:r>
            <a:endParaRPr lang="en-US" dirty="0"/>
          </a:p>
          <a:p>
            <a:r>
              <a:rPr lang="en-US" dirty="0">
                <a:hlinkClick r:id="rId20"/>
              </a:rPr>
              <a:t>[12]</a:t>
            </a:r>
            <a:r>
              <a:rPr lang="en-US" dirty="0"/>
              <a:t> GitHub - </a:t>
            </a:r>
            <a:r>
              <a:rPr lang="en-US" dirty="0" err="1"/>
              <a:t>nielstron</a:t>
            </a:r>
            <a:r>
              <a:rPr lang="en-US" dirty="0"/>
              <a:t>/quantulum3: Library for unit extraction - fork of </a:t>
            </a:r>
            <a:r>
              <a:rPr lang="en-US" dirty="0" err="1"/>
              <a:t>quantulum</a:t>
            </a:r>
            <a:r>
              <a:rPr lang="en-US" dirty="0"/>
              <a:t> for python3</a:t>
            </a:r>
          </a:p>
          <a:p>
            <a:r>
              <a:rPr lang="en-US" dirty="0">
                <a:hlinkClick r:id="rId21"/>
              </a:rPr>
              <a:t>https://github.com/nielstron/quantulum3</a:t>
            </a:r>
            <a:endParaRPr lang="en-US" dirty="0"/>
          </a:p>
          <a:p>
            <a:r>
              <a:rPr lang="en-US" dirty="0">
                <a:hlinkClick r:id="rId23"/>
              </a:rPr>
              <a:t>[13]</a:t>
            </a:r>
            <a:r>
              <a:rPr lang="en-US" dirty="0"/>
              <a:t> </a:t>
            </a:r>
            <a:r>
              <a:rPr lang="en-US" dirty="0">
                <a:hlinkClick r:id="rId24"/>
              </a:rPr>
              <a:t>[14]</a:t>
            </a:r>
            <a:r>
              <a:rPr lang="en-US" dirty="0"/>
              <a:t> </a:t>
            </a:r>
            <a:r>
              <a:rPr lang="en-US" dirty="0" err="1"/>
              <a:t>mudlark</a:t>
            </a:r>
            <a:r>
              <a:rPr lang="en-US" dirty="0"/>
              <a:t> · </a:t>
            </a:r>
            <a:r>
              <a:rPr lang="en-US" dirty="0" err="1"/>
              <a:t>PyPI</a:t>
            </a:r>
            <a:endParaRPr lang="en-US" dirty="0"/>
          </a:p>
          <a:p>
            <a:r>
              <a:rPr lang="en-US" dirty="0">
                <a:hlinkClick r:id="rId37"/>
              </a:rPr>
              <a:t>https://pypi.org/project/mudlark/</a:t>
            </a:r>
            <a:endParaRPr lang="en-US" dirty="0"/>
          </a:p>
          <a:p>
            <a:r>
              <a:rPr lang="en-US" dirty="0">
                <a:hlinkClick r:id="rId26"/>
              </a:rPr>
              <a:t>[15]</a:t>
            </a:r>
            <a:r>
              <a:rPr lang="en-US" dirty="0"/>
              <a:t> </a:t>
            </a:r>
            <a:r>
              <a:rPr lang="en-US" dirty="0">
                <a:hlinkClick r:id="rId28"/>
              </a:rPr>
              <a:t>[16]</a:t>
            </a:r>
            <a:r>
              <a:rPr lang="en-US" dirty="0"/>
              <a:t> GitHub - </a:t>
            </a:r>
            <a:r>
              <a:rPr lang="en-US" dirty="0" err="1"/>
              <a:t>nlp-tlp</a:t>
            </a:r>
            <a:r>
              <a:rPr lang="en-US" dirty="0"/>
              <a:t>/</a:t>
            </a:r>
            <a:r>
              <a:rPr lang="en-US" dirty="0" err="1"/>
              <a:t>quickgraph</a:t>
            </a:r>
            <a:r>
              <a:rPr lang="en-US" dirty="0"/>
              <a:t>: An annotation tool for rapid multi-task collaborative information extraction for knowledge graph construction.</a:t>
            </a:r>
          </a:p>
          <a:p>
            <a:r>
              <a:rPr lang="en-US" dirty="0">
                <a:hlinkClick r:id="rId27"/>
              </a:rPr>
              <a:t>https://github.com/nlp-tlp/quickgraph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9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29E2-BD17-5610-A533-DF9F1271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E2463-731F-EB49-03EB-EF37FC4F6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Material specifications</a:t>
            </a:r>
          </a:p>
          <a:p>
            <a:pPr marL="0" indent="0">
              <a:buNone/>
            </a:pPr>
            <a:r>
              <a:rPr lang="en-US" dirty="0"/>
              <a:t>2. Manufacturing process parameters</a:t>
            </a:r>
          </a:p>
          <a:p>
            <a:pPr marL="0" indent="0">
              <a:buNone/>
            </a:pPr>
            <a:r>
              <a:rPr lang="en-US" dirty="0"/>
              <a:t>3. Dimensional specifications</a:t>
            </a:r>
          </a:p>
          <a:p>
            <a:pPr marL="0" indent="0">
              <a:buNone/>
            </a:pPr>
            <a:r>
              <a:rPr lang="en-US" dirty="0"/>
              <a:t>4. Loads, forces &amp; torques</a:t>
            </a:r>
          </a:p>
          <a:p>
            <a:pPr marL="0" indent="0">
              <a:buNone/>
            </a:pPr>
            <a:r>
              <a:rPr lang="en-US" dirty="0"/>
              <a:t>5. Performance parameters</a:t>
            </a:r>
          </a:p>
          <a:p>
            <a:pPr marL="0" indent="0">
              <a:buNone/>
            </a:pPr>
            <a:r>
              <a:rPr lang="en-US" dirty="0"/>
              <a:t>6. Test data with criteria</a:t>
            </a:r>
          </a:p>
          <a:p>
            <a:pPr marL="0" indent="0">
              <a:buNone/>
            </a:pPr>
            <a:r>
              <a:rPr lang="en-US" dirty="0"/>
              <a:t>7. Failure analysis </a:t>
            </a:r>
          </a:p>
          <a:p>
            <a:pPr marL="0" indent="0">
              <a:buNone/>
            </a:pPr>
            <a:r>
              <a:rPr lang="en-US" dirty="0"/>
              <a:t>8. Technical standards with specifics:</a:t>
            </a:r>
          </a:p>
          <a:p>
            <a:pPr marL="0" indent="0">
              <a:buNone/>
            </a:pPr>
            <a:r>
              <a:rPr lang="en-US" dirty="0"/>
              <a:t>9. Corrective actions </a:t>
            </a:r>
          </a:p>
          <a:p>
            <a:pPr marL="0" indent="0">
              <a:buNone/>
            </a:pPr>
            <a:r>
              <a:rPr lang="en-US" dirty="0"/>
              <a:t>10. Detailed design specifications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52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73C3-E16F-3E2D-7613-4709939E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1BB6-2A88-CFDF-3252-B8FC7D0FAB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Numerical values with units</a:t>
            </a:r>
          </a:p>
          <a:p>
            <a:r>
              <a:rPr lang="en-US" dirty="0"/>
              <a:t>Specific parameters or conditions</a:t>
            </a:r>
          </a:p>
          <a:p>
            <a:r>
              <a:rPr lang="en-US" dirty="0"/>
              <a:t>Measurements with acceptance criteria</a:t>
            </a:r>
          </a:p>
          <a:p>
            <a:r>
              <a:rPr lang="en-US" dirty="0"/>
              <a:t>Technical analysis with calculations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8EE69-09CB-27C8-4247-171DF9FAD9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names/labels without specifications</a:t>
            </a:r>
          </a:p>
          <a:p>
            <a:r>
              <a:rPr lang="en-US" dirty="0"/>
              <a:t>Vague or qualitative descriptions</a:t>
            </a:r>
          </a:p>
          <a:p>
            <a:r>
              <a:rPr lang="en-US" dirty="0"/>
              <a:t>Generic references without details</a:t>
            </a:r>
          </a:p>
          <a:p>
            <a:r>
              <a:rPr lang="en-US" dirty="0"/>
              <a:t>Administrative or procedural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6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7BC3-DF2F-B15A-C119-A5908AF6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2F58F-D068-38B0-5D67-662EB0E814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3EAAA-D6B8-BDC0-71AD-4F41B0FF09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Part numbers, serial numbers, or material numbers alone</a:t>
            </a:r>
          </a:p>
          <a:p>
            <a:r>
              <a:rPr lang="en-US" dirty="0"/>
              <a:t>Drawing numbers or revision codes alone</a:t>
            </a:r>
          </a:p>
          <a:p>
            <a:r>
              <a:rPr lang="en-US" dirty="0"/>
              <a:t>Generic process names without parameters</a:t>
            </a:r>
          </a:p>
          <a:p>
            <a:r>
              <a:rPr lang="en-US" dirty="0"/>
              <a:t>Vague statements ("defect found", "failed inspection", "out of spec")</a:t>
            </a:r>
          </a:p>
          <a:p>
            <a:r>
              <a:rPr lang="en-US" dirty="0"/>
              <a:t>Administrative content (dates, names, assignments, status)</a:t>
            </a:r>
          </a:p>
          <a:p>
            <a:r>
              <a:rPr lang="en-US" dirty="0"/>
              <a:t>Generic references ("per specification", "per manual") without specific details</a:t>
            </a:r>
          </a:p>
          <a:p>
            <a:r>
              <a:rPr lang="en-US" dirty="0"/>
              <a:t>Quality observations without measurements ("excessive wear", "corrosion noted")</a:t>
            </a:r>
          </a:p>
          <a:p>
            <a:r>
              <a:rPr lang="en-US" dirty="0"/>
              <a:t>Assembly/disassembly instructions without technical parameters</a:t>
            </a:r>
          </a:p>
          <a:p>
            <a:r>
              <a:rPr lang="en-US" dirty="0"/>
              <a:t>Maintenance actions without specifications</a:t>
            </a:r>
          </a:p>
          <a:p>
            <a:r>
              <a:rPr lang="en-US" dirty="0"/>
              <a:t>Software/firmware version numbers alone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9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37FA-D95C-9A4C-E65A-29978D05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A2152-74D0-EA95-262C-DD148372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1. MATERIAL SPECIFICATIONS:</a:t>
            </a:r>
          </a:p>
          <a:p>
            <a:r>
              <a:rPr lang="en-US" dirty="0"/>
              <a:t>Material grades with properties (tensile strength, yield strength, hardness values)</a:t>
            </a:r>
          </a:p>
          <a:p>
            <a:r>
              <a:rPr lang="en-US" dirty="0"/>
              <a:t>Chemical compositions with percentages</a:t>
            </a:r>
          </a:p>
          <a:p>
            <a:r>
              <a:rPr lang="en-US" dirty="0"/>
              <a:t>Material standards with specific grade/class and properties</a:t>
            </a:r>
          </a:p>
          <a:p>
            <a:r>
              <a:rPr lang="en-US" dirty="0"/>
              <a:t>Heat treatment specifications with temperatures, times, and resulting properties</a:t>
            </a:r>
          </a:p>
          <a:p>
            <a:endParaRPr lang="en-US" dirty="0"/>
          </a:p>
          <a:p>
            <a:r>
              <a:rPr lang="en-US" dirty="0"/>
              <a:t>2. MANUFACTURING PROCESS PARAMETERS:</a:t>
            </a:r>
          </a:p>
          <a:p>
            <a:endParaRPr lang="en-US" dirty="0"/>
          </a:p>
          <a:p>
            <a:r>
              <a:rPr lang="en-US" dirty="0"/>
              <a:t>Plating/coating with thickness values and process parameters</a:t>
            </a:r>
          </a:p>
          <a:p>
            <a:r>
              <a:rPr lang="en-US" dirty="0"/>
              <a:t>Heat treatment with temperature, time, and atmosphere specifications</a:t>
            </a:r>
          </a:p>
          <a:p>
            <a:r>
              <a:rPr lang="en-US" dirty="0"/>
              <a:t>Welding with current, voltage, filler material, and technique</a:t>
            </a:r>
          </a:p>
          <a:p>
            <a:r>
              <a:rPr lang="en-US" dirty="0"/>
              <a:t>Machining with feed rates, speeds, or critical dimensions</a:t>
            </a:r>
          </a:p>
          <a:p>
            <a:r>
              <a:rPr lang="en-US" dirty="0"/>
              <a:t>Surface finish with Ra values or specifications</a:t>
            </a:r>
          </a:p>
          <a:p>
            <a:endParaRPr lang="en-US" dirty="0"/>
          </a:p>
          <a:p>
            <a:r>
              <a:rPr lang="en-US" dirty="0"/>
              <a:t>3. DIMENSIONAL SPECIFICATIONS:</a:t>
            </a:r>
          </a:p>
          <a:p>
            <a:endParaRPr lang="en-US" dirty="0"/>
          </a:p>
          <a:p>
            <a:r>
              <a:rPr lang="en-US" dirty="0"/>
              <a:t>Critical dimensions with tight tolerances (±0.010" or tighter)</a:t>
            </a:r>
          </a:p>
          <a:p>
            <a:r>
              <a:rPr lang="en-US" dirty="0"/>
              <a:t>Geometric tolerances (GD&amp;T callouts with values)</a:t>
            </a:r>
          </a:p>
          <a:p>
            <a:r>
              <a:rPr lang="en-US" dirty="0"/>
              <a:t>Clearances with minimum/maximum values</a:t>
            </a:r>
          </a:p>
          <a:p>
            <a:r>
              <a:rPr lang="en-US" dirty="0"/>
              <a:t>Fit specifications with tolerance class</a:t>
            </a:r>
          </a:p>
          <a:p>
            <a:endParaRPr lang="en-US" dirty="0"/>
          </a:p>
          <a:p>
            <a:r>
              <a:rPr lang="en-US" dirty="0"/>
              <a:t>4. LOADS, FORCES &amp; TORQUES:</a:t>
            </a:r>
          </a:p>
          <a:p>
            <a:endParaRPr lang="en-US" dirty="0"/>
          </a:p>
          <a:p>
            <a:r>
              <a:rPr lang="en-US" dirty="0"/>
              <a:t>Load specifications with magnitude and direction</a:t>
            </a:r>
          </a:p>
          <a:p>
            <a:r>
              <a:rPr lang="en-US" dirty="0"/>
              <a:t>Torque values with tolerance and application</a:t>
            </a:r>
          </a:p>
          <a:p>
            <a:r>
              <a:rPr lang="en-US" dirty="0"/>
              <a:t>Pressure specifications with operating conditions</a:t>
            </a:r>
          </a:p>
          <a:p>
            <a:r>
              <a:rPr lang="en-US" dirty="0"/>
              <a:t>Stress values from analysis or testing</a:t>
            </a:r>
          </a:p>
          <a:p>
            <a:endParaRPr lang="en-US" dirty="0"/>
          </a:p>
          <a:p>
            <a:r>
              <a:rPr lang="en-US" dirty="0"/>
              <a:t>5. PERFORMANCE PARAMETERS:</a:t>
            </a:r>
          </a:p>
          <a:p>
            <a:endParaRPr lang="en-US" dirty="0"/>
          </a:p>
          <a:p>
            <a:r>
              <a:rPr lang="en-US" dirty="0"/>
              <a:t>Operating envelopes with numerical ranges (temperature, pressure, speed, altitude)</a:t>
            </a:r>
          </a:p>
          <a:p>
            <a:r>
              <a:rPr lang="en-US" dirty="0"/>
              <a:t>Capacity/capability specifications with values and conditions</a:t>
            </a:r>
          </a:p>
          <a:p>
            <a:r>
              <a:rPr lang="en-US" dirty="0"/>
              <a:t>Efficiency or performance metrics with numerical targets</a:t>
            </a:r>
          </a:p>
          <a:p>
            <a:r>
              <a:rPr lang="en-US" dirty="0"/>
              <a:t>Timing/cycle specifications with duration and conditions</a:t>
            </a:r>
          </a:p>
          <a:p>
            <a:endParaRPr lang="en-US" dirty="0"/>
          </a:p>
          <a:p>
            <a:r>
              <a:rPr lang="en-US" dirty="0"/>
              <a:t>6. TEST DATA WITH CRITERIA:</a:t>
            </a:r>
          </a:p>
          <a:p>
            <a:endParaRPr lang="en-US" dirty="0"/>
          </a:p>
          <a:p>
            <a:r>
              <a:rPr lang="en-US" dirty="0"/>
              <a:t>Test results with acceptance criteria and actual measured values</a:t>
            </a:r>
          </a:p>
          <a:p>
            <a:r>
              <a:rPr lang="en-US" dirty="0"/>
              <a:t>Test procedures with specific parameters (loads, temperatures, pressures, durations)</a:t>
            </a:r>
          </a:p>
          <a:p>
            <a:r>
              <a:rPr lang="en-US" dirty="0"/>
              <a:t>Pass/fail data with specification limits</a:t>
            </a:r>
          </a:p>
          <a:p>
            <a:r>
              <a:rPr lang="en-US" dirty="0"/>
              <a:t>Qualification data with test conditions and results</a:t>
            </a:r>
          </a:p>
          <a:p>
            <a:endParaRPr lang="en-US" dirty="0"/>
          </a:p>
          <a:p>
            <a:r>
              <a:rPr lang="en-US" dirty="0"/>
              <a:t>7. FAILURE ANALYSIS (Technical):</a:t>
            </a:r>
          </a:p>
          <a:p>
            <a:endParaRPr lang="en-US" dirty="0"/>
          </a:p>
          <a:p>
            <a:r>
              <a:rPr lang="en-US" dirty="0"/>
              <a:t>Root cause with calculations, stress analysis, or measured data</a:t>
            </a:r>
          </a:p>
          <a:p>
            <a:r>
              <a:rPr lang="en-US" dirty="0"/>
              <a:t>Failure modes with measurements (crack length, wear depth, deformation amount)</a:t>
            </a:r>
          </a:p>
          <a:p>
            <a:r>
              <a:rPr lang="en-US" dirty="0"/>
              <a:t>Technical analysis with engineering calculations or FEA results</a:t>
            </a:r>
          </a:p>
          <a:p>
            <a:endParaRPr lang="en-US" dirty="0"/>
          </a:p>
          <a:p>
            <a:r>
              <a:rPr lang="en-US" dirty="0"/>
              <a:t>8. TECHNICAL STANDARDS WITH SPECIFICS:</a:t>
            </a:r>
          </a:p>
          <a:p>
            <a:endParaRPr lang="en-US" dirty="0"/>
          </a:p>
          <a:p>
            <a:r>
              <a:rPr lang="en-US" dirty="0"/>
              <a:t>ASTM/ISO/MIL-STD/AMS standards with specific clauses, tables, or requirements called out</a:t>
            </a:r>
          </a:p>
          <a:p>
            <a:r>
              <a:rPr lang="en-US" dirty="0"/>
              <a:t>Industry specifications with specific sections and requirements</a:t>
            </a:r>
          </a:p>
          <a:p>
            <a:r>
              <a:rPr lang="en-US" dirty="0"/>
              <a:t>(Exclude: generic mentions like "per ASTM" without details)</a:t>
            </a:r>
          </a:p>
          <a:p>
            <a:endParaRPr lang="en-US" dirty="0"/>
          </a:p>
          <a:p>
            <a:r>
              <a:rPr lang="en-US" dirty="0"/>
              <a:t>9. CORRECTIVE ACTIONS (Technical Only):</a:t>
            </a:r>
          </a:p>
          <a:p>
            <a:endParaRPr lang="en-US" dirty="0"/>
          </a:p>
          <a:p>
            <a:r>
              <a:rPr lang="en-US" dirty="0"/>
              <a:t>Rework/repair procedures with specific parameters</a:t>
            </a:r>
          </a:p>
          <a:p>
            <a:r>
              <a:rPr lang="en-US" dirty="0"/>
              <a:t>Material/process substitutions with technical justification and equivalency data</a:t>
            </a:r>
          </a:p>
          <a:p>
            <a:r>
              <a:rPr lang="en-US" dirty="0"/>
              <a:t>Engineering deviations with measurements and validation results</a:t>
            </a:r>
          </a:p>
          <a:p>
            <a:endParaRPr lang="en-US" dirty="0"/>
          </a:p>
          <a:p>
            <a:r>
              <a:rPr lang="en-US" dirty="0"/>
              <a:t>10. DETAILED DESIGN SPECIFICATIONS:</a:t>
            </a:r>
          </a:p>
          <a:p>
            <a:endParaRPr lang="en-US" dirty="0"/>
          </a:p>
          <a:p>
            <a:r>
              <a:rPr lang="en-US" dirty="0"/>
              <a:t>Design requirements with numerical values</a:t>
            </a:r>
          </a:p>
          <a:p>
            <a:r>
              <a:rPr lang="en-US" dirty="0"/>
              <a:t>Interface specifications with dimensions, loads, or electrical parameters</a:t>
            </a:r>
          </a:p>
          <a:p>
            <a:r>
              <a:rPr lang="en-US" dirty="0"/>
              <a:t>(Exclude: drawing numbers alone, CAD file names without details)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2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7B3F-507F-C0AD-F4E8-9ABC289C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Layer 1: Detection Patterns (What triggers recognition)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39A2-AC84-D4D4-5524-C2052F9D9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Numerical value + unit detected: instantiates a Measurement ICE</a:t>
            </a:r>
          </a:p>
          <a:p>
            <a:r>
              <a:rPr lang="en-US" dirty="0"/>
              <a:t>Standard identifier (ISO XXXX) detected: instantiates a Standards Reference ICE</a:t>
            </a:r>
          </a:p>
          <a:p>
            <a:r>
              <a:rPr lang="en-US" dirty="0"/>
              <a:t>Dimensional tolerance detected: instantiates a Geometric Specification ICE</a:t>
            </a:r>
          </a:p>
          <a:p>
            <a:r>
              <a:rPr lang="en-US" dirty="0"/>
              <a:t>Test result + criteria detected: instantiates a Test Data ICE</a:t>
            </a:r>
          </a:p>
          <a:p>
            <a:endParaRPr lang="en-US" dirty="0"/>
          </a:p>
          <a:p>
            <a:r>
              <a:rPr lang="en-US" dirty="0"/>
              <a:t>Measurement ICE → prescribes/describes → Material Specification</a:t>
            </a:r>
          </a:p>
          <a:p>
            <a:r>
              <a:rPr lang="en-US" dirty="0"/>
              <a:t>Measurement ICE → prescribes/describes → Process Specification</a:t>
            </a:r>
          </a:p>
          <a:p>
            <a:r>
              <a:rPr lang="en-US" dirty="0"/>
              <a:t>Standards Reference ICE → specifies requirement for → Material/Process</a:t>
            </a:r>
          </a:p>
          <a:p>
            <a:r>
              <a:rPr lang="en-US" dirty="0"/>
              <a:t>Test Data ICE → evaluates → Material Quality/Process Capability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65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E4B0-45CD-A1BC-B60B-023B1360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 2: Relationship Patterns (What makes it technical)</a:t>
            </a:r>
            <a:r>
              <a:rPr lang="en-US" dirty="0"/>
              <a:t> The key is: these ICEs must </a:t>
            </a:r>
            <a:r>
              <a:rPr lang="en-US" i="1" dirty="0"/>
              <a:t>target</a:t>
            </a:r>
            <a:r>
              <a:rPr lang="en-US" dirty="0"/>
              <a:t> something concrete: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7B40-6D77-3BFD-F036-9D8652472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Measurement ICE → </a:t>
            </a:r>
            <a:r>
              <a:rPr lang="en-US" b="1" dirty="0"/>
              <a:t>prescribes/describes</a:t>
            </a:r>
            <a:r>
              <a:rPr lang="en-US" dirty="0"/>
              <a:t> → Material Specification</a:t>
            </a:r>
          </a:p>
          <a:p>
            <a:r>
              <a:rPr lang="en-US" dirty="0"/>
              <a:t>Measurement ICE → </a:t>
            </a:r>
            <a:r>
              <a:rPr lang="en-US" b="1" dirty="0"/>
              <a:t>prescribes/describes</a:t>
            </a:r>
            <a:r>
              <a:rPr lang="en-US" dirty="0"/>
              <a:t> → Process Specification</a:t>
            </a:r>
          </a:p>
          <a:p>
            <a:r>
              <a:rPr lang="en-US" dirty="0"/>
              <a:t>Standards Reference ICE → </a:t>
            </a:r>
            <a:r>
              <a:rPr lang="en-US" b="1" dirty="0"/>
              <a:t>specifies requirement for</a:t>
            </a:r>
            <a:r>
              <a:rPr lang="en-US" dirty="0"/>
              <a:t> → Material/Process</a:t>
            </a:r>
          </a:p>
          <a:p>
            <a:r>
              <a:rPr lang="en-US" dirty="0"/>
              <a:t>Test Data ICE → </a:t>
            </a:r>
            <a:r>
              <a:rPr lang="en-US" b="1" dirty="0"/>
              <a:t>evaluates</a:t>
            </a:r>
            <a:r>
              <a:rPr lang="en-US" dirty="0"/>
              <a:t> → Material Quality/Process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05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ABA7-7D10-DF1E-8D12-73327DC5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Layer 3: Technical Data Classification Rule</a:t>
            </a:r>
            <a:r>
              <a:rPr lang="en-US" dirty="0"/>
              <a:t> IF (any ICE from Layer 1) + (any relationship from Layer 2 exists) THEN classify as Technical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3233-58A8-41FA-59AA-B4DDA3591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68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3ADA-0495-B2ED-FBB9-CEF302B4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9AD7-6F70-329A-AAC0-A4CF8A29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ISO 21200 example is interesting because it's slightly different. A standard reference alone isn't technical data - but a standard reference that </a:t>
            </a:r>
            <a:r>
              <a:rPr lang="en-US" i="1" dirty="0"/>
              <a:t>specifies a requirement</a:t>
            </a:r>
            <a:r>
              <a:rPr lang="en-US" dirty="0"/>
              <a:t> for something concrete becomes technical data.</a:t>
            </a:r>
          </a:p>
          <a:p>
            <a:r>
              <a:rPr lang="en-US" dirty="0"/>
              <a:t>So the pattern is:</a:t>
            </a:r>
          </a:p>
          <a:p>
            <a:r>
              <a:rPr lang="en-US" dirty="0"/>
              <a:t>Standards Reference ICE [ISO 21200] → </a:t>
            </a:r>
            <a:r>
              <a:rPr lang="en-US" b="1" dirty="0"/>
              <a:t>specifies requirement for</a:t>
            </a:r>
            <a:r>
              <a:rPr lang="en-US" dirty="0"/>
              <a:t> → Material Entity [zinc-nickel plating] → </a:t>
            </a:r>
            <a:r>
              <a:rPr lang="en-US" b="1" dirty="0"/>
              <a:t>with parameter</a:t>
            </a:r>
            <a:r>
              <a:rPr lang="en-US" dirty="0"/>
              <a:t> → Measurement ICE [thickness: 8.6 </a:t>
            </a:r>
            <a:r>
              <a:rPr lang="en-US" dirty="0" err="1"/>
              <a:t>μm</a:t>
            </a:r>
            <a:r>
              <a:rPr lang="en-US" dirty="0"/>
              <a:t>]</a:t>
            </a:r>
          </a:p>
          <a:p>
            <a:r>
              <a:rPr lang="en-US" dirty="0"/>
              <a:t>The standard becomes the </a:t>
            </a:r>
            <a:r>
              <a:rPr lang="en-US" i="1" dirty="0"/>
              <a:t>authority</a:t>
            </a:r>
            <a:r>
              <a:rPr lang="en-US" dirty="0"/>
              <a:t> that brings together requirements and their targets.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6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1783</Words>
  <Application>Microsoft Office PowerPoint</Application>
  <PresentationFormat>Widescreen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Layer 1: Detection Patterns (What triggers recognition)</vt:lpstr>
      <vt:lpstr>Layer 2: Relationship Patterns (What makes it technical) The key is: these ICEs must target something concrete:</vt:lpstr>
      <vt:lpstr>Layer 3: Technical Data Classification Rule IF (any ICE from Layer 1) + (any relationship from Layer 2 exists) THEN classify as Technical Data</vt:lpstr>
      <vt:lpstr>The Standards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Shatad Purohit</dc:creator>
  <cp:lastModifiedBy>Shatad Purohit</cp:lastModifiedBy>
  <cp:revision>1</cp:revision>
  <dcterms:created xsi:type="dcterms:W3CDTF">2025-11-14T18:50:54Z</dcterms:created>
  <dcterms:modified xsi:type="dcterms:W3CDTF">2025-11-14T19:22:02Z</dcterms:modified>
</cp:coreProperties>
</file>