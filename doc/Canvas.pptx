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sldIdLst>
    <p:sldId id="266" r:id="rId3"/>
    <p:sldId id="268" r:id="rId4"/>
    <p:sldId id="269" r:id="rId5"/>
    <p:sldId id="273" r:id="rId6"/>
    <p:sldId id="271" r:id="rId7"/>
    <p:sldId id="272" r:id="rId8"/>
    <p:sldId id="274" r:id="rId9"/>
    <p:sldId id="276" r:id="rId10"/>
    <p:sldId id="275" r:id="rId11"/>
    <p:sldId id="270" r:id="rId12"/>
    <p:sldId id="27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831" autoAdjust="0"/>
    <p:restoredTop sz="96449" autoAdjust="0"/>
  </p:normalViewPr>
  <p:slideViewPr>
    <p:cSldViewPr snapToGrid="0">
      <p:cViewPr>
        <p:scale>
          <a:sx n="120" d="100"/>
          <a:sy n="120" d="100"/>
        </p:scale>
        <p:origin x="7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772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4025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9767078E-7F54-B0CA-C099-8F3F765A5CA6}"/>
              </a:ext>
            </a:extLst>
          </p:cNvPr>
          <p:cNvSpPr txBox="1">
            <a:spLocks/>
          </p:cNvSpPr>
          <p:nvPr userDrawn="1"/>
        </p:nvSpPr>
        <p:spPr>
          <a:xfrm>
            <a:off x="72851" y="252064"/>
            <a:ext cx="7854159" cy="2285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/>
              <a:t>Things That Exist</a:t>
            </a:r>
            <a:endParaRPr lang="en-US" sz="1200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18199A8-FDD1-B939-C35B-43B700D41178}"/>
              </a:ext>
            </a:extLst>
          </p:cNvPr>
          <p:cNvSpPr txBox="1">
            <a:spLocks/>
          </p:cNvSpPr>
          <p:nvPr userDrawn="1"/>
        </p:nvSpPr>
        <p:spPr>
          <a:xfrm>
            <a:off x="7994688" y="249991"/>
            <a:ext cx="4124435" cy="2285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Things That Happen</a:t>
            </a:r>
            <a:endParaRPr lang="en-US" sz="120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F41B6E6-EA74-B8BD-81C7-6F88B67CE922}"/>
              </a:ext>
            </a:extLst>
          </p:cNvPr>
          <p:cNvSpPr txBox="1">
            <a:spLocks/>
          </p:cNvSpPr>
          <p:nvPr userDrawn="1"/>
        </p:nvSpPr>
        <p:spPr>
          <a:xfrm>
            <a:off x="4255741" y="555640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Information Things</a:t>
            </a:r>
            <a:br>
              <a:rPr lang="en-US" sz="4800" b="1" dirty="0"/>
            </a:br>
            <a:r>
              <a:rPr lang="en-US" sz="4000" dirty="0"/>
              <a:t>(Data that describes, prescribes, designates things)</a:t>
            </a:r>
            <a:endParaRPr lang="en-US" sz="1050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0475E3D-A2F7-D47F-14E9-6E0955013BA2}"/>
              </a:ext>
            </a:extLst>
          </p:cNvPr>
          <p:cNvSpPr txBox="1">
            <a:spLocks/>
          </p:cNvSpPr>
          <p:nvPr userDrawn="1"/>
        </p:nvSpPr>
        <p:spPr>
          <a:xfrm>
            <a:off x="1815050" y="555640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Qualities, Functions, Roles</a:t>
            </a:r>
            <a:br>
              <a:rPr lang="en-US" b="1" dirty="0"/>
            </a:br>
            <a:r>
              <a:rPr lang="en-US" sz="4000" dirty="0"/>
              <a:t>(Entities tied to things)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3D35D08-40FA-CAD1-B237-F68E41DA9434}"/>
              </a:ext>
            </a:extLst>
          </p:cNvPr>
          <p:cNvSpPr txBox="1">
            <a:spLocks/>
          </p:cNvSpPr>
          <p:nvPr userDrawn="1"/>
        </p:nvSpPr>
        <p:spPr>
          <a:xfrm>
            <a:off x="72851" y="555640"/>
            <a:ext cx="1674594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Material Things </a:t>
            </a:r>
            <a:br>
              <a:rPr lang="en-US" sz="4800" b="1" dirty="0"/>
            </a:br>
            <a:r>
              <a:rPr lang="en-US" sz="4000" dirty="0"/>
              <a:t>(e.g., aircraft engine)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0BA4242-8F1F-EDF1-F9D5-0ACB34179287}"/>
              </a:ext>
            </a:extLst>
          </p:cNvPr>
          <p:cNvSpPr txBox="1">
            <a:spLocks/>
          </p:cNvSpPr>
          <p:nvPr userDrawn="1"/>
        </p:nvSpPr>
        <p:spPr>
          <a:xfrm>
            <a:off x="7994698" y="555640"/>
            <a:ext cx="2375997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Processes</a:t>
            </a:r>
            <a:br>
              <a:rPr lang="en-US" b="1" dirty="0"/>
            </a:br>
            <a:r>
              <a:rPr lang="en-US" sz="4000" dirty="0"/>
              <a:t>(e.g., inspection)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D41626E-1A6F-E92A-AF87-018206A86B04}"/>
              </a:ext>
            </a:extLst>
          </p:cNvPr>
          <p:cNvSpPr txBox="1">
            <a:spLocks/>
          </p:cNvSpPr>
          <p:nvPr userDrawn="1"/>
        </p:nvSpPr>
        <p:spPr>
          <a:xfrm>
            <a:off x="10438301" y="555640"/>
            <a:ext cx="1680822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Time Periods</a:t>
            </a:r>
            <a:br>
              <a:rPr lang="en-US" sz="4800" b="1" dirty="0"/>
            </a:br>
            <a:r>
              <a:rPr lang="en-US" sz="4000" dirty="0"/>
              <a:t>(e.g., work shift)</a:t>
            </a:r>
            <a:endParaRPr lang="en-US" sz="3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DCFB83-A5D1-502F-7F9D-765A2B50DB94}"/>
              </a:ext>
            </a:extLst>
          </p:cNvPr>
          <p:cNvSpPr/>
          <p:nvPr userDrawn="1"/>
        </p:nvSpPr>
        <p:spPr>
          <a:xfrm>
            <a:off x="72851" y="872458"/>
            <a:ext cx="1674593" cy="591648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C14BEC-D076-F1E6-1FA6-B7CEDEADD19A}"/>
              </a:ext>
            </a:extLst>
          </p:cNvPr>
          <p:cNvSpPr/>
          <p:nvPr userDrawn="1"/>
        </p:nvSpPr>
        <p:spPr>
          <a:xfrm>
            <a:off x="1815049" y="872458"/>
            <a:ext cx="2373084" cy="591648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3CDE76-3F64-5982-2AF9-E95FEBE08097}"/>
              </a:ext>
            </a:extLst>
          </p:cNvPr>
          <p:cNvSpPr/>
          <p:nvPr userDrawn="1"/>
        </p:nvSpPr>
        <p:spPr>
          <a:xfrm>
            <a:off x="4255736" y="872459"/>
            <a:ext cx="3671351" cy="5916484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260206-6E55-004C-7239-468B9E671CDE}"/>
              </a:ext>
            </a:extLst>
          </p:cNvPr>
          <p:cNvSpPr/>
          <p:nvPr userDrawn="1"/>
        </p:nvSpPr>
        <p:spPr>
          <a:xfrm>
            <a:off x="7994688" y="872458"/>
            <a:ext cx="2375997" cy="5916483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CA1B0C-0598-4458-C520-D0518529C29F}"/>
              </a:ext>
            </a:extLst>
          </p:cNvPr>
          <p:cNvSpPr/>
          <p:nvPr userDrawn="1"/>
        </p:nvSpPr>
        <p:spPr>
          <a:xfrm>
            <a:off x="10438327" y="872459"/>
            <a:ext cx="1680822" cy="591648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C10CEB38-906F-E5DC-3E5A-DBAC76E3562E}"/>
              </a:ext>
            </a:extLst>
          </p:cNvPr>
          <p:cNvSpPr txBox="1">
            <a:spLocks/>
          </p:cNvSpPr>
          <p:nvPr userDrawn="1"/>
        </p:nvSpPr>
        <p:spPr>
          <a:xfrm>
            <a:off x="1815009" y="923788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Qualities</a:t>
            </a:r>
            <a:br>
              <a:rPr lang="en-US" dirty="0"/>
            </a:br>
            <a:r>
              <a:rPr lang="en-US" sz="4000" dirty="0"/>
              <a:t>(e.g., mass, temperature)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276152FB-2F0B-63F2-62A2-E230433F98E6}"/>
              </a:ext>
            </a:extLst>
          </p:cNvPr>
          <p:cNvSpPr txBox="1">
            <a:spLocks/>
          </p:cNvSpPr>
          <p:nvPr userDrawn="1"/>
        </p:nvSpPr>
        <p:spPr>
          <a:xfrm>
            <a:off x="1815009" y="2913637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sz="1200" b="1" dirty="0"/>
              <a:t>Functions </a:t>
            </a:r>
            <a:br>
              <a:rPr lang="en-US" sz="1000" dirty="0"/>
            </a:br>
            <a:r>
              <a:rPr lang="en-US" sz="1000" dirty="0"/>
              <a:t>(e.g., generating thrust function) 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E6F34719-84BB-7E51-26ED-EB115521AE31}"/>
              </a:ext>
            </a:extLst>
          </p:cNvPr>
          <p:cNvSpPr txBox="1">
            <a:spLocks/>
          </p:cNvSpPr>
          <p:nvPr userDrawn="1"/>
        </p:nvSpPr>
        <p:spPr>
          <a:xfrm>
            <a:off x="1815008" y="4895918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Roles</a:t>
            </a:r>
            <a:br>
              <a:rPr lang="en-US" dirty="0"/>
            </a:br>
            <a:r>
              <a:rPr lang="en-US" sz="4000" dirty="0"/>
              <a:t>(e.g., supplier role, primary pump role)</a:t>
            </a:r>
            <a:endParaRPr lang="en-US" dirty="0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0A04F06F-AFB2-3982-8F42-0843765EEF6D}"/>
              </a:ext>
            </a:extLst>
          </p:cNvPr>
          <p:cNvSpPr txBox="1">
            <a:spLocks/>
          </p:cNvSpPr>
          <p:nvPr userDrawn="1"/>
        </p:nvSpPr>
        <p:spPr>
          <a:xfrm>
            <a:off x="4255560" y="4895917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Identifiers</a:t>
            </a:r>
            <a:br>
              <a:rPr lang="en-US" dirty="0"/>
            </a:br>
            <a:r>
              <a:rPr lang="en-US" sz="4000" dirty="0"/>
              <a:t>(Data that designates things - e.g., names, serial numbers)</a:t>
            </a:r>
            <a:endParaRPr lang="en-US" dirty="0"/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16C9E9D8-B51A-2C74-2822-DADE6E13515D}"/>
              </a:ext>
            </a:extLst>
          </p:cNvPr>
          <p:cNvSpPr txBox="1">
            <a:spLocks/>
          </p:cNvSpPr>
          <p:nvPr userDrawn="1"/>
        </p:nvSpPr>
        <p:spPr>
          <a:xfrm>
            <a:off x="4255657" y="922452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Descriptive Data</a:t>
            </a:r>
            <a:br>
              <a:rPr lang="en-US" dirty="0"/>
            </a:br>
            <a:r>
              <a:rPr lang="en-US" sz="4000" dirty="0"/>
              <a:t>(Data that describes things - e.g., measurements, reports)</a:t>
            </a:r>
            <a:endParaRPr lang="en-US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98312035-13B7-987E-8775-062F1BB33014}"/>
              </a:ext>
            </a:extLst>
          </p:cNvPr>
          <p:cNvSpPr txBox="1">
            <a:spLocks/>
          </p:cNvSpPr>
          <p:nvPr userDrawn="1"/>
        </p:nvSpPr>
        <p:spPr>
          <a:xfrm>
            <a:off x="4255560" y="2912048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sz="1200" b="1" dirty="0"/>
              <a:t>Prescriptive Data</a:t>
            </a:r>
            <a:br>
              <a:rPr lang="en-US" sz="1200" b="1" dirty="0"/>
            </a:br>
            <a:r>
              <a:rPr lang="en-US" sz="1000" dirty="0"/>
              <a:t>(Data that prescribes things - e.g., designs, requirements, plans)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F8ED39-4C54-72F7-F9EE-88703E9EFD3F}"/>
              </a:ext>
            </a:extLst>
          </p:cNvPr>
          <p:cNvSpPr txBox="1"/>
          <p:nvPr userDrawn="1"/>
        </p:nvSpPr>
        <p:spPr>
          <a:xfrm>
            <a:off x="0" y="0"/>
            <a:ext cx="16745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Ontology Modeling Scope:</a:t>
            </a:r>
          </a:p>
        </p:txBody>
      </p:sp>
    </p:spTree>
    <p:extLst>
      <p:ext uri="{BB962C8B-B14F-4D97-AF65-F5344CB8AC3E}">
        <p14:creationId xmlns:p14="http://schemas.microsoft.com/office/powerpoint/2010/main" val="1385336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626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62148C-51F0-6793-E879-B35018C35B13}"/>
              </a:ext>
            </a:extLst>
          </p:cNvPr>
          <p:cNvSpPr/>
          <p:nvPr/>
        </p:nvSpPr>
        <p:spPr>
          <a:xfrm>
            <a:off x="346013" y="1585018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FF47CE-B116-0C34-1632-73FB27518F6C}"/>
              </a:ext>
            </a:extLst>
          </p:cNvPr>
          <p:cNvSpPr/>
          <p:nvPr/>
        </p:nvSpPr>
        <p:spPr>
          <a:xfrm>
            <a:off x="122807" y="2316967"/>
            <a:ext cx="1565401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Assembly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6EE7CB-AFAD-BDA2-EB58-D633330220E0}"/>
              </a:ext>
            </a:extLst>
          </p:cNvPr>
          <p:cNvSpPr txBox="1"/>
          <p:nvPr/>
        </p:nvSpPr>
        <p:spPr>
          <a:xfrm>
            <a:off x="1564187" y="-45175"/>
            <a:ext cx="10573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bronze_idx,</a:t>
            </a:r>
            <a:r>
              <a:rPr lang="en-US" sz="1200" dirty="0">
                <a:highlight>
                  <a:srgbClr val="FFFF00"/>
                </a:highlight>
              </a:rPr>
              <a:t>assy</a:t>
            </a:r>
            <a:r>
              <a:rPr lang="en-US" sz="1200" dirty="0"/>
              <a:t>,position,sub_position,adhesive,partial,wear,total,date,esn,tacs,base,origin_sheet_name,origin_fn,ingest_stage,ingest_dt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76439A9-EB91-16C0-3286-3F7462189E97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905508" y="1751713"/>
            <a:ext cx="0" cy="565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E878DCF-8738-63B7-6C4D-761BCF45E186}"/>
              </a:ext>
            </a:extLst>
          </p:cNvPr>
          <p:cNvSpPr txBox="1"/>
          <p:nvPr/>
        </p:nvSpPr>
        <p:spPr>
          <a:xfrm>
            <a:off x="955610" y="1751365"/>
            <a:ext cx="12920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has component part at some time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B78246-9234-3B66-CDBC-3CA070141C77}"/>
              </a:ext>
            </a:extLst>
          </p:cNvPr>
          <p:cNvSpPr/>
          <p:nvPr/>
        </p:nvSpPr>
        <p:spPr>
          <a:xfrm>
            <a:off x="4924816" y="5525717"/>
            <a:ext cx="2342367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Assembly Type Identifier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B58CA5E-414B-51EF-702F-6E135773FAA4}"/>
              </a:ext>
            </a:extLst>
          </p:cNvPr>
          <p:cNvSpPr/>
          <p:nvPr/>
        </p:nvSpPr>
        <p:spPr>
          <a:xfrm>
            <a:off x="5094778" y="3968314"/>
            <a:ext cx="2002442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Assembly Model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3262E82-BCD3-8628-C7D3-37D6584CF035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>
          <a:xfrm flipH="1" flipV="1">
            <a:off x="6095999" y="4135009"/>
            <a:ext cx="1" cy="1390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349ABFA-C852-487D-9178-8E0ACEF4C897}"/>
              </a:ext>
            </a:extLst>
          </p:cNvPr>
          <p:cNvCxnSpPr>
            <a:cxnSpLocks/>
            <a:stCxn id="12" idx="1"/>
            <a:endCxn id="4" idx="2"/>
          </p:cNvCxnSpPr>
          <p:nvPr/>
        </p:nvCxnSpPr>
        <p:spPr>
          <a:xfrm flipH="1" flipV="1">
            <a:off x="905508" y="2483662"/>
            <a:ext cx="4189270" cy="156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58DF437-F1FC-61D2-4B37-595DC8F50ACE}"/>
              </a:ext>
            </a:extLst>
          </p:cNvPr>
          <p:cNvSpPr txBox="1"/>
          <p:nvPr/>
        </p:nvSpPr>
        <p:spPr>
          <a:xfrm>
            <a:off x="6050070" y="4461031"/>
            <a:ext cx="12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designates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E353EB-7974-8574-85FC-4B96CB28381A}"/>
              </a:ext>
            </a:extLst>
          </p:cNvPr>
          <p:cNvSpPr txBox="1"/>
          <p:nvPr/>
        </p:nvSpPr>
        <p:spPr>
          <a:xfrm>
            <a:off x="4448731" y="3634062"/>
            <a:ext cx="12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prescribes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5FD579-D174-883C-6BA5-F5EE64D42BD8}"/>
              </a:ext>
            </a:extLst>
          </p:cNvPr>
          <p:cNvSpPr txBox="1"/>
          <p:nvPr/>
        </p:nvSpPr>
        <p:spPr>
          <a:xfrm>
            <a:off x="5740824" y="5728628"/>
            <a:ext cx="7218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highlight>
                  <a:srgbClr val="FFFF00"/>
                </a:highlight>
              </a:rPr>
              <a:t>assy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56114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37A697-9915-7E12-5A08-63C4AA6344B3}"/>
              </a:ext>
            </a:extLst>
          </p:cNvPr>
          <p:cNvSpPr/>
          <p:nvPr/>
        </p:nvSpPr>
        <p:spPr>
          <a:xfrm>
            <a:off x="122807" y="2316967"/>
            <a:ext cx="1565401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Assembly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24030DD-8E93-8B7A-C065-3B67A1BFC5E3}"/>
              </a:ext>
            </a:extLst>
          </p:cNvPr>
          <p:cNvSpPr/>
          <p:nvPr/>
        </p:nvSpPr>
        <p:spPr>
          <a:xfrm>
            <a:off x="122807" y="4374339"/>
            <a:ext cx="1565401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Assembly Zone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75C1F16-F25E-604A-1E25-F2FDED2A1675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905508" y="2483662"/>
            <a:ext cx="0" cy="1890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D3F885B-C4F7-4312-3A35-40569DBF494A}"/>
              </a:ext>
            </a:extLst>
          </p:cNvPr>
          <p:cNvSpPr txBox="1"/>
          <p:nvPr/>
        </p:nvSpPr>
        <p:spPr>
          <a:xfrm>
            <a:off x="905507" y="3379748"/>
            <a:ext cx="12920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has continuant part at all time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DD4681-8F7D-BBF2-AD73-B3550589C38C}"/>
              </a:ext>
            </a:extLst>
          </p:cNvPr>
          <p:cNvSpPr/>
          <p:nvPr/>
        </p:nvSpPr>
        <p:spPr>
          <a:xfrm>
            <a:off x="5141568" y="5420492"/>
            <a:ext cx="1565401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Assembly Zone Identifier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6D8423-985C-2522-B031-78A85711BCA2}"/>
              </a:ext>
            </a:extLst>
          </p:cNvPr>
          <p:cNvSpPr txBox="1"/>
          <p:nvPr/>
        </p:nvSpPr>
        <p:spPr>
          <a:xfrm>
            <a:off x="1564187" y="-45175"/>
            <a:ext cx="10573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bronze_idx,assy,</a:t>
            </a:r>
            <a:r>
              <a:rPr lang="en-US" sz="1200" dirty="0">
                <a:highlight>
                  <a:srgbClr val="FFFF00"/>
                </a:highlight>
              </a:rPr>
              <a:t>position</a:t>
            </a:r>
            <a:r>
              <a:rPr lang="en-US" sz="1200" dirty="0"/>
              <a:t>,sub_position,adhesive,partial,wear,total,date,esn,tacs,base,origin_sheet_name,origin_fn,ingest_stage,ingest_dt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13DF634-DFB6-A3B7-239E-DA9DBFFED6D1}"/>
              </a:ext>
            </a:extLst>
          </p:cNvPr>
          <p:cNvCxnSpPr>
            <a:cxnSpLocks/>
            <a:stCxn id="8" idx="1"/>
            <a:endCxn id="3" idx="3"/>
          </p:cNvCxnSpPr>
          <p:nvPr/>
        </p:nvCxnSpPr>
        <p:spPr>
          <a:xfrm flipH="1" flipV="1">
            <a:off x="1688208" y="4457687"/>
            <a:ext cx="3453360" cy="10461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8BACF61-C7E4-F6D0-BFBF-384A3D238B0A}"/>
              </a:ext>
            </a:extLst>
          </p:cNvPr>
          <p:cNvSpPr txBox="1"/>
          <p:nvPr/>
        </p:nvSpPr>
        <p:spPr>
          <a:xfrm>
            <a:off x="2514144" y="4541034"/>
            <a:ext cx="12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designates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6A903C-9BD8-6900-8E76-17D1B5EC9717}"/>
              </a:ext>
            </a:extLst>
          </p:cNvPr>
          <p:cNvSpPr txBox="1"/>
          <p:nvPr/>
        </p:nvSpPr>
        <p:spPr>
          <a:xfrm>
            <a:off x="5472308" y="5569216"/>
            <a:ext cx="9159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highlight>
                  <a:srgbClr val="FFFF00"/>
                </a:highlight>
              </a:rPr>
              <a:t>position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23464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1B231-7058-05F9-4D8C-09327EACD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B388996-887B-0A25-4321-3F69016BC977}"/>
              </a:ext>
            </a:extLst>
          </p:cNvPr>
          <p:cNvSpPr/>
          <p:nvPr/>
        </p:nvSpPr>
        <p:spPr>
          <a:xfrm>
            <a:off x="122807" y="2316967"/>
            <a:ext cx="1565401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Assembly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835C821-A487-6DCB-156A-2EDD9E57AD4B}"/>
              </a:ext>
            </a:extLst>
          </p:cNvPr>
          <p:cNvSpPr/>
          <p:nvPr/>
        </p:nvSpPr>
        <p:spPr>
          <a:xfrm>
            <a:off x="122807" y="4374339"/>
            <a:ext cx="1565401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Assembly Zone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27F2D46-2DFD-A1C2-C3A8-3EF6A1A54AA4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905508" y="2483662"/>
            <a:ext cx="0" cy="1890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70EC7FF-E533-32C0-BC0D-65C545911030}"/>
              </a:ext>
            </a:extLst>
          </p:cNvPr>
          <p:cNvSpPr txBox="1"/>
          <p:nvPr/>
        </p:nvSpPr>
        <p:spPr>
          <a:xfrm>
            <a:off x="905507" y="3379748"/>
            <a:ext cx="12920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has continuant part at all time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6531B5-974C-F5E9-3E0B-A99741101228}"/>
              </a:ext>
            </a:extLst>
          </p:cNvPr>
          <p:cNvSpPr/>
          <p:nvPr/>
        </p:nvSpPr>
        <p:spPr>
          <a:xfrm>
            <a:off x="122806" y="5587187"/>
            <a:ext cx="1565401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Assembly Sub-zone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0371D06-FE52-7574-4B1C-D6D48926448C}"/>
              </a:ext>
            </a:extLst>
          </p:cNvPr>
          <p:cNvSpPr/>
          <p:nvPr/>
        </p:nvSpPr>
        <p:spPr>
          <a:xfrm>
            <a:off x="5103990" y="5959211"/>
            <a:ext cx="1835427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Assembly Sub-zone Identifier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8B78EB-28EB-C6E2-4F5D-7D41FD94950F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 flipH="1">
            <a:off x="905507" y="4541034"/>
            <a:ext cx="1" cy="10461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8DAC102-B6D0-C1B1-043C-95074A06E055}"/>
              </a:ext>
            </a:extLst>
          </p:cNvPr>
          <p:cNvSpPr txBox="1"/>
          <p:nvPr/>
        </p:nvSpPr>
        <p:spPr>
          <a:xfrm>
            <a:off x="905506" y="4826011"/>
            <a:ext cx="12920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has continuant part at all time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0F3DE22-8C47-4E77-18FB-1C0987E155CD}"/>
              </a:ext>
            </a:extLst>
          </p:cNvPr>
          <p:cNvCxnSpPr>
            <a:cxnSpLocks/>
            <a:stCxn id="8" idx="1"/>
            <a:endCxn id="7" idx="3"/>
          </p:cNvCxnSpPr>
          <p:nvPr/>
        </p:nvCxnSpPr>
        <p:spPr>
          <a:xfrm flipH="1" flipV="1">
            <a:off x="1688207" y="5670535"/>
            <a:ext cx="3415783" cy="372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33985CA-5E82-A41E-8542-0A6097965AB7}"/>
              </a:ext>
            </a:extLst>
          </p:cNvPr>
          <p:cNvSpPr txBox="1"/>
          <p:nvPr/>
        </p:nvSpPr>
        <p:spPr>
          <a:xfrm>
            <a:off x="3159234" y="5610326"/>
            <a:ext cx="12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designates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209A9B-E028-4EB0-133C-7008B0F3BF9C}"/>
              </a:ext>
            </a:extLst>
          </p:cNvPr>
          <p:cNvSpPr txBox="1"/>
          <p:nvPr/>
        </p:nvSpPr>
        <p:spPr>
          <a:xfrm>
            <a:off x="1564187" y="-45175"/>
            <a:ext cx="10573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bronze_idx,assy,position,</a:t>
            </a:r>
            <a:r>
              <a:rPr lang="en-US" sz="1200" dirty="0">
                <a:highlight>
                  <a:srgbClr val="FFFF00"/>
                </a:highlight>
              </a:rPr>
              <a:t>sub_position</a:t>
            </a:r>
            <a:r>
              <a:rPr lang="en-US" sz="1200" dirty="0"/>
              <a:t>,adhesive,partial,wear,total,date,esn,tacs,base,origin_sheet_name,origin_fn,ingest_stage,ingest_dt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529856-5DBD-2041-D79E-3486B918076C}"/>
              </a:ext>
            </a:extLst>
          </p:cNvPr>
          <p:cNvSpPr txBox="1"/>
          <p:nvPr/>
        </p:nvSpPr>
        <p:spPr>
          <a:xfrm>
            <a:off x="5497958" y="6125906"/>
            <a:ext cx="10474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highlight>
                  <a:srgbClr val="FFFF00"/>
                </a:highlight>
              </a:rPr>
              <a:t>sub_position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58383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88A0D-03DC-61A6-DC4B-93394C8F3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4687FA3-BE07-063B-4A32-5502ADD3D612}"/>
              </a:ext>
            </a:extLst>
          </p:cNvPr>
          <p:cNvSpPr/>
          <p:nvPr/>
        </p:nvSpPr>
        <p:spPr>
          <a:xfrm>
            <a:off x="122806" y="2430628"/>
            <a:ext cx="1565401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Assembly Sub-zone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FE22D5-1095-B115-5F57-2BA4C2526A9F}"/>
              </a:ext>
            </a:extLst>
          </p:cNvPr>
          <p:cNvSpPr txBox="1"/>
          <p:nvPr/>
        </p:nvSpPr>
        <p:spPr>
          <a:xfrm>
            <a:off x="1564187" y="-45175"/>
            <a:ext cx="10573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bronze_idx,assy,position,sub_position,</a:t>
            </a:r>
            <a:r>
              <a:rPr lang="en-US" sz="1200" dirty="0">
                <a:highlight>
                  <a:srgbClr val="FFFF00"/>
                </a:highlight>
              </a:rPr>
              <a:t>adhesive</a:t>
            </a:r>
            <a:r>
              <a:rPr lang="en-US" sz="1200" dirty="0"/>
              <a:t>,partial,wear,total,date,esn,tacs,base,origin_sheet_name,origin_fn,ingest_stage,ingest_dt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71663E2-54FD-29A4-8AD4-5FE40432201E}"/>
              </a:ext>
            </a:extLst>
          </p:cNvPr>
          <p:cNvCxnSpPr>
            <a:cxnSpLocks/>
            <a:stCxn id="21" idx="1"/>
            <a:endCxn id="7" idx="0"/>
          </p:cNvCxnSpPr>
          <p:nvPr/>
        </p:nvCxnSpPr>
        <p:spPr>
          <a:xfrm flipH="1">
            <a:off x="905507" y="1914410"/>
            <a:ext cx="1225991" cy="516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8C66D65-6E83-CC23-493B-422F05718B3E}"/>
              </a:ext>
            </a:extLst>
          </p:cNvPr>
          <p:cNvSpPr txBox="1"/>
          <p:nvPr/>
        </p:nvSpPr>
        <p:spPr>
          <a:xfrm>
            <a:off x="760849" y="1904116"/>
            <a:ext cx="12353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inheres in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F554798-DA42-2331-79AF-59DC779428ED}"/>
              </a:ext>
            </a:extLst>
          </p:cNvPr>
          <p:cNvSpPr/>
          <p:nvPr/>
        </p:nvSpPr>
        <p:spPr>
          <a:xfrm>
            <a:off x="2131498" y="1836058"/>
            <a:ext cx="1921086" cy="15670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Thermal Barrier Coating Defect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5131305-5296-F4B7-54D1-186B0A0334B7}"/>
              </a:ext>
            </a:extLst>
          </p:cNvPr>
          <p:cNvSpPr/>
          <p:nvPr/>
        </p:nvSpPr>
        <p:spPr>
          <a:xfrm>
            <a:off x="5135457" y="1836058"/>
            <a:ext cx="1790860" cy="15670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Adhesive Loss Measurement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32DFBE8-1020-0BEB-86A3-F5A6977746F8}"/>
              </a:ext>
            </a:extLst>
          </p:cNvPr>
          <p:cNvCxnSpPr>
            <a:cxnSpLocks/>
            <a:stCxn id="33" idx="1"/>
            <a:endCxn id="21" idx="3"/>
          </p:cNvCxnSpPr>
          <p:nvPr/>
        </p:nvCxnSpPr>
        <p:spPr>
          <a:xfrm flipH="1">
            <a:off x="4052584" y="1914410"/>
            <a:ext cx="10828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AA9AC6B-D95B-29C2-8D5B-6BBD0765BBD1}"/>
              </a:ext>
            </a:extLst>
          </p:cNvPr>
          <p:cNvSpPr txBox="1"/>
          <p:nvPr/>
        </p:nvSpPr>
        <p:spPr>
          <a:xfrm>
            <a:off x="4052584" y="1668188"/>
            <a:ext cx="12353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describes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0679E6-F2DB-B114-B7F3-CB55C6233CC1}"/>
              </a:ext>
            </a:extLst>
          </p:cNvPr>
          <p:cNvSpPr txBox="1"/>
          <p:nvPr/>
        </p:nvSpPr>
        <p:spPr>
          <a:xfrm>
            <a:off x="6904039" y="1791298"/>
            <a:ext cx="264986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Def: A measurement of the surface area where the coating has </a:t>
            </a:r>
            <a:r>
              <a:rPr lang="en-US" sz="1050" dirty="0" err="1"/>
              <a:t>debonded</a:t>
            </a:r>
            <a:r>
              <a:rPr lang="en-US" sz="1050" dirty="0"/>
              <a:t> from the substrate.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7E823B-2F81-9939-325F-750A22C23AC9}"/>
              </a:ext>
            </a:extLst>
          </p:cNvPr>
          <p:cNvSpPr txBox="1"/>
          <p:nvPr/>
        </p:nvSpPr>
        <p:spPr>
          <a:xfrm>
            <a:off x="5569806" y="2011837"/>
            <a:ext cx="8625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highlight>
                  <a:srgbClr val="FFFF00"/>
                </a:highlight>
              </a:rPr>
              <a:t>adhesive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61967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730D2-7B59-9388-CF64-13C968FB2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8B945D-1B01-2AB0-E7E6-D711B4905766}"/>
              </a:ext>
            </a:extLst>
          </p:cNvPr>
          <p:cNvSpPr/>
          <p:nvPr/>
        </p:nvSpPr>
        <p:spPr>
          <a:xfrm>
            <a:off x="122806" y="2430628"/>
            <a:ext cx="1565401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Assembly Sub-zone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72B0CC-A157-82CF-79A3-BD0F9463A7F5}"/>
              </a:ext>
            </a:extLst>
          </p:cNvPr>
          <p:cNvSpPr txBox="1"/>
          <p:nvPr/>
        </p:nvSpPr>
        <p:spPr>
          <a:xfrm>
            <a:off x="1564187" y="-45175"/>
            <a:ext cx="10573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bronze_idx,assy,position,sub_position,adhesive,</a:t>
            </a:r>
            <a:r>
              <a:rPr lang="en-US" sz="1200" dirty="0">
                <a:highlight>
                  <a:srgbClr val="FFFF00"/>
                </a:highlight>
              </a:rPr>
              <a:t>partial</a:t>
            </a:r>
            <a:r>
              <a:rPr lang="en-US" sz="1200" dirty="0"/>
              <a:t>,wear,total,date,esn,tacs,base,origin_sheet_name,origin_fn,ingest_stage,ingest_dt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D3A2A33-5CBD-1BAF-3781-E9ECFD599DD4}"/>
              </a:ext>
            </a:extLst>
          </p:cNvPr>
          <p:cNvCxnSpPr>
            <a:cxnSpLocks/>
            <a:stCxn id="21" idx="1"/>
            <a:endCxn id="7" idx="0"/>
          </p:cNvCxnSpPr>
          <p:nvPr/>
        </p:nvCxnSpPr>
        <p:spPr>
          <a:xfrm flipH="1">
            <a:off x="905507" y="1914410"/>
            <a:ext cx="1225991" cy="516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DA78D9B-8C44-0A7D-29E5-C31B776FAE56}"/>
              </a:ext>
            </a:extLst>
          </p:cNvPr>
          <p:cNvSpPr txBox="1"/>
          <p:nvPr/>
        </p:nvSpPr>
        <p:spPr>
          <a:xfrm>
            <a:off x="760849" y="1904116"/>
            <a:ext cx="12353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inheres in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E01D3ED-9766-1C98-EBF5-870B67103B06}"/>
              </a:ext>
            </a:extLst>
          </p:cNvPr>
          <p:cNvSpPr/>
          <p:nvPr/>
        </p:nvSpPr>
        <p:spPr>
          <a:xfrm>
            <a:off x="2131498" y="1836058"/>
            <a:ext cx="1921086" cy="15670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Thermal Barrier Coating Defect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8D82BC6-F690-4DD4-BE16-C76CE1D9332C}"/>
              </a:ext>
            </a:extLst>
          </p:cNvPr>
          <p:cNvSpPr/>
          <p:nvPr/>
        </p:nvSpPr>
        <p:spPr>
          <a:xfrm>
            <a:off x="5135456" y="1836058"/>
            <a:ext cx="2173437" cy="15670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Partial Coating Loss Measurement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5029D64-7126-75A9-80D6-430E7E8278D4}"/>
              </a:ext>
            </a:extLst>
          </p:cNvPr>
          <p:cNvCxnSpPr>
            <a:cxnSpLocks/>
            <a:stCxn id="33" idx="1"/>
            <a:endCxn id="21" idx="3"/>
          </p:cNvCxnSpPr>
          <p:nvPr/>
        </p:nvCxnSpPr>
        <p:spPr>
          <a:xfrm flipH="1">
            <a:off x="4052584" y="1914410"/>
            <a:ext cx="10828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19C5A3D-C9EA-9139-7183-D38C3F4FB53F}"/>
              </a:ext>
            </a:extLst>
          </p:cNvPr>
          <p:cNvSpPr txBox="1"/>
          <p:nvPr/>
        </p:nvSpPr>
        <p:spPr>
          <a:xfrm>
            <a:off x="4052584" y="1668188"/>
            <a:ext cx="12353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describes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4C8A04-459A-C5E7-430E-46BB464CC0E8}"/>
              </a:ext>
            </a:extLst>
          </p:cNvPr>
          <p:cNvSpPr txBox="1"/>
          <p:nvPr/>
        </p:nvSpPr>
        <p:spPr>
          <a:xfrm>
            <a:off x="5746531" y="2027227"/>
            <a:ext cx="7236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ighlight>
                  <a:srgbClr val="FFFF00"/>
                </a:highlight>
              </a:rPr>
              <a:t>partial</a:t>
            </a:r>
            <a:endParaRPr lang="en-US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F02D53-8323-5D21-4863-6026B65DC9CA}"/>
              </a:ext>
            </a:extLst>
          </p:cNvPr>
          <p:cNvSpPr txBox="1"/>
          <p:nvPr/>
        </p:nvSpPr>
        <p:spPr>
          <a:xfrm>
            <a:off x="7308893" y="1794036"/>
            <a:ext cx="27516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Def. A measurement of the surface area where the coating layer has fractured internally (spalled), leaving some coating material remaining (Partial Depth Loss)</a:t>
            </a:r>
          </a:p>
        </p:txBody>
      </p:sp>
    </p:spTree>
    <p:extLst>
      <p:ext uri="{BB962C8B-B14F-4D97-AF65-F5344CB8AC3E}">
        <p14:creationId xmlns:p14="http://schemas.microsoft.com/office/powerpoint/2010/main" val="669959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08C1B-D8FB-763B-02A2-C2DD069FC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47D158-CC52-E5BD-CC2F-1CD36292EC29}"/>
              </a:ext>
            </a:extLst>
          </p:cNvPr>
          <p:cNvSpPr/>
          <p:nvPr/>
        </p:nvSpPr>
        <p:spPr>
          <a:xfrm>
            <a:off x="122806" y="2430628"/>
            <a:ext cx="1565401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Assembly Sub-zone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5B2F45-37EF-326E-ABA3-949B764EFF10}"/>
              </a:ext>
            </a:extLst>
          </p:cNvPr>
          <p:cNvSpPr txBox="1"/>
          <p:nvPr/>
        </p:nvSpPr>
        <p:spPr>
          <a:xfrm>
            <a:off x="1564187" y="-45175"/>
            <a:ext cx="10573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bronze_idx,assy,position,sub_position,adhesive,partial,</a:t>
            </a:r>
            <a:r>
              <a:rPr lang="en-US" sz="1200" dirty="0">
                <a:highlight>
                  <a:srgbClr val="FFFF00"/>
                </a:highlight>
              </a:rPr>
              <a:t>wear</a:t>
            </a:r>
            <a:r>
              <a:rPr lang="en-US" sz="1200" dirty="0"/>
              <a:t>,total,date,esn,tacs,base,origin_sheet_name,origin_fn,ingest_stage,ingest_dt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F09F799-ED9D-1324-E3C3-F9EA08BD98A4}"/>
              </a:ext>
            </a:extLst>
          </p:cNvPr>
          <p:cNvCxnSpPr>
            <a:cxnSpLocks/>
            <a:stCxn id="21" idx="1"/>
            <a:endCxn id="7" idx="0"/>
          </p:cNvCxnSpPr>
          <p:nvPr/>
        </p:nvCxnSpPr>
        <p:spPr>
          <a:xfrm flipH="1">
            <a:off x="905507" y="1914410"/>
            <a:ext cx="1225991" cy="516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5893FF4-4089-7DF6-7D9F-20A3343BB976}"/>
              </a:ext>
            </a:extLst>
          </p:cNvPr>
          <p:cNvSpPr txBox="1"/>
          <p:nvPr/>
        </p:nvSpPr>
        <p:spPr>
          <a:xfrm>
            <a:off x="760849" y="1904116"/>
            <a:ext cx="12353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inheres in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D10DC5F-1F93-D4BA-27BA-1B9FB8225BCB}"/>
              </a:ext>
            </a:extLst>
          </p:cNvPr>
          <p:cNvSpPr/>
          <p:nvPr/>
        </p:nvSpPr>
        <p:spPr>
          <a:xfrm>
            <a:off x="2131498" y="1836058"/>
            <a:ext cx="1921086" cy="15670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Thermal Barrier Coating Defect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81CA2EB-B210-BD51-355A-E09D5AF78F34}"/>
              </a:ext>
            </a:extLst>
          </p:cNvPr>
          <p:cNvSpPr/>
          <p:nvPr/>
        </p:nvSpPr>
        <p:spPr>
          <a:xfrm>
            <a:off x="5135457" y="1836058"/>
            <a:ext cx="1790860" cy="15670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Wear Loss Measurement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83B9824-DDC7-2092-610A-2B4420731B34}"/>
              </a:ext>
            </a:extLst>
          </p:cNvPr>
          <p:cNvCxnSpPr>
            <a:cxnSpLocks/>
            <a:stCxn id="33" idx="1"/>
            <a:endCxn id="21" idx="3"/>
          </p:cNvCxnSpPr>
          <p:nvPr/>
        </p:nvCxnSpPr>
        <p:spPr>
          <a:xfrm flipH="1">
            <a:off x="4052584" y="1914410"/>
            <a:ext cx="10828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1D7A3BB-95A2-7A18-5A8C-9353534B8DCE}"/>
              </a:ext>
            </a:extLst>
          </p:cNvPr>
          <p:cNvSpPr txBox="1"/>
          <p:nvPr/>
        </p:nvSpPr>
        <p:spPr>
          <a:xfrm>
            <a:off x="4052584" y="1668188"/>
            <a:ext cx="12353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describes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5288CD-D770-F195-00FC-AA7B980A0F7E}"/>
              </a:ext>
            </a:extLst>
          </p:cNvPr>
          <p:cNvSpPr txBox="1"/>
          <p:nvPr/>
        </p:nvSpPr>
        <p:spPr>
          <a:xfrm>
            <a:off x="5571322" y="1992761"/>
            <a:ext cx="9191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highlight>
                  <a:srgbClr val="FFFF00"/>
                </a:highlight>
              </a:rPr>
              <a:t>wear</a:t>
            </a:r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0F9C3C-C0D2-C23A-78DF-A296EA0344F8}"/>
              </a:ext>
            </a:extLst>
          </p:cNvPr>
          <p:cNvSpPr txBox="1"/>
          <p:nvPr/>
        </p:nvSpPr>
        <p:spPr>
          <a:xfrm>
            <a:off x="6882484" y="1791298"/>
            <a:ext cx="21176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Def. A measurement of the surface area where the coating has been removed due to friction or erosion.</a:t>
            </a:r>
          </a:p>
        </p:txBody>
      </p:sp>
    </p:spTree>
    <p:extLst>
      <p:ext uri="{BB962C8B-B14F-4D97-AF65-F5344CB8AC3E}">
        <p14:creationId xmlns:p14="http://schemas.microsoft.com/office/powerpoint/2010/main" val="200412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5B6AF-91F9-C3A5-D1A8-A03B00D93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9B2213-CCAB-C637-2E6E-E95B5FCE0460}"/>
              </a:ext>
            </a:extLst>
          </p:cNvPr>
          <p:cNvSpPr/>
          <p:nvPr/>
        </p:nvSpPr>
        <p:spPr>
          <a:xfrm>
            <a:off x="122806" y="2430628"/>
            <a:ext cx="1565401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Assembly Sub-zone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9EFEC9-4063-4595-F1AC-FD31C031AB19}"/>
              </a:ext>
            </a:extLst>
          </p:cNvPr>
          <p:cNvSpPr txBox="1"/>
          <p:nvPr/>
        </p:nvSpPr>
        <p:spPr>
          <a:xfrm>
            <a:off x="1564187" y="-45175"/>
            <a:ext cx="10573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bronze_idx,assy,position,sub_position,adhesive,partial,wear,</a:t>
            </a:r>
            <a:r>
              <a:rPr lang="en-US" sz="1200" dirty="0">
                <a:highlight>
                  <a:srgbClr val="FFFF00"/>
                </a:highlight>
              </a:rPr>
              <a:t>total</a:t>
            </a:r>
            <a:r>
              <a:rPr lang="en-US" sz="1200" dirty="0"/>
              <a:t>,date,esn,tacs,base,origin_sheet_name,origin_fn,ingest_stage,ingest_dt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CBA20CB-9079-A583-9BCA-1E51C789ACD4}"/>
              </a:ext>
            </a:extLst>
          </p:cNvPr>
          <p:cNvCxnSpPr>
            <a:cxnSpLocks/>
            <a:stCxn id="21" idx="1"/>
            <a:endCxn id="7" idx="0"/>
          </p:cNvCxnSpPr>
          <p:nvPr/>
        </p:nvCxnSpPr>
        <p:spPr>
          <a:xfrm flipH="1">
            <a:off x="905507" y="1914410"/>
            <a:ext cx="1225991" cy="516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E5D969F-BD90-3BB4-A330-867CA796DD99}"/>
              </a:ext>
            </a:extLst>
          </p:cNvPr>
          <p:cNvSpPr txBox="1"/>
          <p:nvPr/>
        </p:nvSpPr>
        <p:spPr>
          <a:xfrm>
            <a:off x="760849" y="1904116"/>
            <a:ext cx="12353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inheres in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16BEF7A-042B-7665-2EDC-760A601611A0}"/>
              </a:ext>
            </a:extLst>
          </p:cNvPr>
          <p:cNvSpPr/>
          <p:nvPr/>
        </p:nvSpPr>
        <p:spPr>
          <a:xfrm>
            <a:off x="2131498" y="1836058"/>
            <a:ext cx="1921086" cy="15670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Thermal Barrier Coating Defect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D894300-5F8E-1929-7878-FBCA8DC611DD}"/>
              </a:ext>
            </a:extLst>
          </p:cNvPr>
          <p:cNvSpPr/>
          <p:nvPr/>
        </p:nvSpPr>
        <p:spPr>
          <a:xfrm>
            <a:off x="5135457" y="1836058"/>
            <a:ext cx="1790860" cy="15670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Total Defect Measurement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0820A27-C0C9-D5C3-1307-1EF0C5F91B31}"/>
              </a:ext>
            </a:extLst>
          </p:cNvPr>
          <p:cNvCxnSpPr>
            <a:cxnSpLocks/>
            <a:stCxn id="33" idx="1"/>
            <a:endCxn id="21" idx="3"/>
          </p:cNvCxnSpPr>
          <p:nvPr/>
        </p:nvCxnSpPr>
        <p:spPr>
          <a:xfrm flipH="1">
            <a:off x="4052584" y="1914410"/>
            <a:ext cx="10828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ED3F3E8-E1F8-E294-C22E-0945FE7051D9}"/>
              </a:ext>
            </a:extLst>
          </p:cNvPr>
          <p:cNvSpPr txBox="1"/>
          <p:nvPr/>
        </p:nvSpPr>
        <p:spPr>
          <a:xfrm>
            <a:off x="4052584" y="1668188"/>
            <a:ext cx="12353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describes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8EFE84-4B8C-7387-1965-FDE0422307A3}"/>
              </a:ext>
            </a:extLst>
          </p:cNvPr>
          <p:cNvSpPr txBox="1"/>
          <p:nvPr/>
        </p:nvSpPr>
        <p:spPr>
          <a:xfrm>
            <a:off x="5677164" y="1975965"/>
            <a:ext cx="6731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ighlight>
                  <a:srgbClr val="FFFF00"/>
                </a:highlight>
              </a:rPr>
              <a:t>total</a:t>
            </a:r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3D328F-156E-76A4-1678-674DB47E66F4}"/>
              </a:ext>
            </a:extLst>
          </p:cNvPr>
          <p:cNvSpPr txBox="1"/>
          <p:nvPr/>
        </p:nvSpPr>
        <p:spPr>
          <a:xfrm>
            <a:off x="6912543" y="1791298"/>
            <a:ext cx="33228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Def. The aggregate summation of all coating loss measurements for a specific zone.</a:t>
            </a:r>
          </a:p>
        </p:txBody>
      </p:sp>
    </p:spTree>
    <p:extLst>
      <p:ext uri="{BB962C8B-B14F-4D97-AF65-F5344CB8AC3E}">
        <p14:creationId xmlns:p14="http://schemas.microsoft.com/office/powerpoint/2010/main" val="551169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64394-5AEE-70B8-9B3F-4CA12B1ED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59F7951-C6B2-4B9A-B91C-9681A47EBCE8}"/>
              </a:ext>
            </a:extLst>
          </p:cNvPr>
          <p:cNvSpPr txBox="1"/>
          <p:nvPr/>
        </p:nvSpPr>
        <p:spPr>
          <a:xfrm>
            <a:off x="1564187" y="-45175"/>
            <a:ext cx="10573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bronze_idx,assy,position,sub_position,adhesive,partial,wear,total,</a:t>
            </a:r>
            <a:r>
              <a:rPr lang="en-US" sz="1200" dirty="0">
                <a:highlight>
                  <a:srgbClr val="FFFF00"/>
                </a:highlight>
              </a:rPr>
              <a:t>date</a:t>
            </a:r>
            <a:r>
              <a:rPr lang="en-US" sz="1200" dirty="0"/>
              <a:t>,esn,tacs,base,origin_sheet_name,origin_fn,ingest_stage,ingest_dt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D15BAE6-1D41-3469-F2C9-4FE52CE2F827}"/>
              </a:ext>
            </a:extLst>
          </p:cNvPr>
          <p:cNvSpPr/>
          <p:nvPr/>
        </p:nvSpPr>
        <p:spPr>
          <a:xfrm>
            <a:off x="5200570" y="2390740"/>
            <a:ext cx="1790860" cy="15670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Total Defect Measurement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4A7AA-6D53-BF2F-F060-64C73834E81D}"/>
              </a:ext>
            </a:extLst>
          </p:cNvPr>
          <p:cNvSpPr txBox="1"/>
          <p:nvPr/>
        </p:nvSpPr>
        <p:spPr>
          <a:xfrm>
            <a:off x="6136002" y="5922322"/>
            <a:ext cx="6731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highlight>
                  <a:srgbClr val="FFFF00"/>
                </a:highlight>
              </a:rPr>
              <a:t>date</a:t>
            </a:r>
            <a:endParaRPr lang="en-US" sz="1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574503A-D2B8-EF34-2E56-8BD11A64E99C}"/>
              </a:ext>
            </a:extLst>
          </p:cNvPr>
          <p:cNvSpPr/>
          <p:nvPr/>
        </p:nvSpPr>
        <p:spPr>
          <a:xfrm>
            <a:off x="10802532" y="2034301"/>
            <a:ext cx="983068" cy="159619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Time Interval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EAD2FAE-A00D-D83A-F7E0-D5EB91C8D0B2}"/>
              </a:ext>
            </a:extLst>
          </p:cNvPr>
          <p:cNvSpPr/>
          <p:nvPr/>
        </p:nvSpPr>
        <p:spPr>
          <a:xfrm>
            <a:off x="8715178" y="2027225"/>
            <a:ext cx="1277604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Inspection Process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D5C4206-434B-7ACF-DD16-31D9EC55FD7C}"/>
              </a:ext>
            </a:extLst>
          </p:cNvPr>
          <p:cNvCxnSpPr>
            <a:cxnSpLocks/>
            <a:stCxn id="4" idx="3"/>
            <a:endCxn id="2" idx="1"/>
          </p:cNvCxnSpPr>
          <p:nvPr/>
        </p:nvCxnSpPr>
        <p:spPr>
          <a:xfrm>
            <a:off x="9992782" y="2110573"/>
            <a:ext cx="809750" cy="35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DC6AE01-4413-102B-48FF-2E0DEFA64930}"/>
              </a:ext>
            </a:extLst>
          </p:cNvPr>
          <p:cNvSpPr txBox="1"/>
          <p:nvPr/>
        </p:nvSpPr>
        <p:spPr>
          <a:xfrm>
            <a:off x="9632283" y="1710462"/>
            <a:ext cx="1277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occupies temporal region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41FF96-5C8A-9C3F-7369-CC2061EFAA44}"/>
              </a:ext>
            </a:extLst>
          </p:cNvPr>
          <p:cNvSpPr txBox="1"/>
          <p:nvPr/>
        </p:nvSpPr>
        <p:spPr>
          <a:xfrm>
            <a:off x="6796870" y="1868975"/>
            <a:ext cx="12776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has output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CA3AED-313E-2D9B-AB9A-0384D9FD8947}"/>
              </a:ext>
            </a:extLst>
          </p:cNvPr>
          <p:cNvCxnSpPr>
            <a:cxnSpLocks/>
            <a:stCxn id="4" idx="1"/>
            <a:endCxn id="33" idx="3"/>
          </p:cNvCxnSpPr>
          <p:nvPr/>
        </p:nvCxnSpPr>
        <p:spPr>
          <a:xfrm flipH="1">
            <a:off x="6991430" y="2110573"/>
            <a:ext cx="1723748" cy="358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EA86F75-F798-5756-3142-CD719DAE7EE0}"/>
              </a:ext>
            </a:extLst>
          </p:cNvPr>
          <p:cNvSpPr/>
          <p:nvPr/>
        </p:nvSpPr>
        <p:spPr>
          <a:xfrm>
            <a:off x="5200570" y="2146859"/>
            <a:ext cx="1790860" cy="15670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Wear Loss Measurement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B29E194-EC39-6953-C6C0-795770F29DDA}"/>
              </a:ext>
            </a:extLst>
          </p:cNvPr>
          <p:cNvSpPr/>
          <p:nvPr/>
        </p:nvSpPr>
        <p:spPr>
          <a:xfrm>
            <a:off x="4821794" y="1853677"/>
            <a:ext cx="2173437" cy="15670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Partial Coating Loss Measurement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66104B6-6F70-0DA3-3416-B81C0B7C5494}"/>
              </a:ext>
            </a:extLst>
          </p:cNvPr>
          <p:cNvSpPr/>
          <p:nvPr/>
        </p:nvSpPr>
        <p:spPr>
          <a:xfrm>
            <a:off x="5200570" y="1593100"/>
            <a:ext cx="1790860" cy="15670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Adhesive Loss Measurement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4E7110D-870C-44C1-75E2-6D7B796A4AF8}"/>
              </a:ext>
            </a:extLst>
          </p:cNvPr>
          <p:cNvCxnSpPr>
            <a:cxnSpLocks/>
            <a:stCxn id="4" idx="1"/>
            <a:endCxn id="23" idx="3"/>
          </p:cNvCxnSpPr>
          <p:nvPr/>
        </p:nvCxnSpPr>
        <p:spPr>
          <a:xfrm flipH="1" flipV="1">
            <a:off x="6991430" y="1671452"/>
            <a:ext cx="1723748" cy="4391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971671A-5C6D-934C-482D-21521E09040D}"/>
              </a:ext>
            </a:extLst>
          </p:cNvPr>
          <p:cNvCxnSpPr>
            <a:cxnSpLocks/>
            <a:stCxn id="4" idx="1"/>
            <a:endCxn id="22" idx="3"/>
          </p:cNvCxnSpPr>
          <p:nvPr/>
        </p:nvCxnSpPr>
        <p:spPr>
          <a:xfrm flipH="1" flipV="1">
            <a:off x="6995231" y="1932029"/>
            <a:ext cx="1719947" cy="1785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A73BD28-E38C-A480-78D5-E2F5ADE0B116}"/>
              </a:ext>
            </a:extLst>
          </p:cNvPr>
          <p:cNvCxnSpPr>
            <a:cxnSpLocks/>
            <a:stCxn id="4" idx="1"/>
            <a:endCxn id="19" idx="3"/>
          </p:cNvCxnSpPr>
          <p:nvPr/>
        </p:nvCxnSpPr>
        <p:spPr>
          <a:xfrm flipH="1">
            <a:off x="6991430" y="2110573"/>
            <a:ext cx="1723748" cy="114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7A32A42-6B0B-DE1A-E6C7-E227E65B2B6C}"/>
              </a:ext>
            </a:extLst>
          </p:cNvPr>
          <p:cNvSpPr txBox="1"/>
          <p:nvPr/>
        </p:nvSpPr>
        <p:spPr>
          <a:xfrm>
            <a:off x="6829499" y="2326912"/>
            <a:ext cx="12776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has output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4E4F32-C005-EF97-3638-62FB7DD8C7D5}"/>
              </a:ext>
            </a:extLst>
          </p:cNvPr>
          <p:cNvSpPr txBox="1"/>
          <p:nvPr/>
        </p:nvSpPr>
        <p:spPr>
          <a:xfrm>
            <a:off x="6796869" y="1499337"/>
            <a:ext cx="12776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has output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8702F6-ACEC-3274-F743-14493CBB6455}"/>
              </a:ext>
            </a:extLst>
          </p:cNvPr>
          <p:cNvSpPr txBox="1"/>
          <p:nvPr/>
        </p:nvSpPr>
        <p:spPr>
          <a:xfrm>
            <a:off x="6829500" y="2114421"/>
            <a:ext cx="12776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has output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0BE6902-3964-7BD3-D91A-F2825975ADF2}"/>
              </a:ext>
            </a:extLst>
          </p:cNvPr>
          <p:cNvSpPr/>
          <p:nvPr/>
        </p:nvSpPr>
        <p:spPr>
          <a:xfrm>
            <a:off x="5953760" y="5765619"/>
            <a:ext cx="1037670" cy="15670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Date Identifier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30CA398-E36F-C87E-4CFD-7D6B43730295}"/>
              </a:ext>
            </a:extLst>
          </p:cNvPr>
          <p:cNvCxnSpPr>
            <a:cxnSpLocks/>
            <a:stCxn id="46" idx="3"/>
            <a:endCxn id="2" idx="2"/>
          </p:cNvCxnSpPr>
          <p:nvPr/>
        </p:nvCxnSpPr>
        <p:spPr>
          <a:xfrm flipV="1">
            <a:off x="6991430" y="2193920"/>
            <a:ext cx="4302636" cy="36500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0F9DE2C-A42F-1C0D-1109-904BA304AC9F}"/>
              </a:ext>
            </a:extLst>
          </p:cNvPr>
          <p:cNvSpPr txBox="1"/>
          <p:nvPr/>
        </p:nvSpPr>
        <p:spPr>
          <a:xfrm>
            <a:off x="8794608" y="4126790"/>
            <a:ext cx="12776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Designates</a:t>
            </a:r>
          </a:p>
        </p:txBody>
      </p:sp>
    </p:spTree>
    <p:extLst>
      <p:ext uri="{BB962C8B-B14F-4D97-AF65-F5344CB8AC3E}">
        <p14:creationId xmlns:p14="http://schemas.microsoft.com/office/powerpoint/2010/main" val="925927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23EDF-6C32-5F2D-9AB0-96E9C9153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CB47BF0-A923-DB46-6547-6B6454B313A6}"/>
              </a:ext>
            </a:extLst>
          </p:cNvPr>
          <p:cNvSpPr/>
          <p:nvPr/>
        </p:nvSpPr>
        <p:spPr>
          <a:xfrm>
            <a:off x="445197" y="5442369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7CC0E-4533-B3D8-681F-0D232EF23DBF}"/>
              </a:ext>
            </a:extLst>
          </p:cNvPr>
          <p:cNvSpPr txBox="1"/>
          <p:nvPr/>
        </p:nvSpPr>
        <p:spPr>
          <a:xfrm>
            <a:off x="1564187" y="-45175"/>
            <a:ext cx="10573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bronze_idx,assy,position,sub_position,adhesive,partial,wear,total,date,</a:t>
            </a:r>
            <a:r>
              <a:rPr lang="en-US" sz="1200" dirty="0">
                <a:highlight>
                  <a:srgbClr val="FFFF00"/>
                </a:highlight>
              </a:rPr>
              <a:t>esn</a:t>
            </a:r>
            <a:r>
              <a:rPr lang="en-US" sz="1200" dirty="0"/>
              <a:t>,tacs,base,origin_sheet_name,origin_fn,ingest_stage,ingest_dt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B6AE8BF-95B9-19F6-FD00-9547B17069E5}"/>
              </a:ext>
            </a:extLst>
          </p:cNvPr>
          <p:cNvSpPr/>
          <p:nvPr/>
        </p:nvSpPr>
        <p:spPr>
          <a:xfrm>
            <a:off x="5063553" y="5442369"/>
            <a:ext cx="1748728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Identifier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0A3C9D-5EF1-13B2-3EA0-078D29B12749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flipH="1">
            <a:off x="1564187" y="5525717"/>
            <a:ext cx="34993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AE132BB-3A26-C362-685C-B8C5FD4CE47E}"/>
              </a:ext>
            </a:extLst>
          </p:cNvPr>
          <p:cNvSpPr txBox="1"/>
          <p:nvPr/>
        </p:nvSpPr>
        <p:spPr>
          <a:xfrm>
            <a:off x="2960028" y="5279495"/>
            <a:ext cx="12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designates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992440-F598-2497-61E9-A4C86A1988F3}"/>
              </a:ext>
            </a:extLst>
          </p:cNvPr>
          <p:cNvSpPr txBox="1"/>
          <p:nvPr/>
        </p:nvSpPr>
        <p:spPr>
          <a:xfrm>
            <a:off x="5735094" y="5609064"/>
            <a:ext cx="7218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highlight>
                  <a:srgbClr val="FFFF00"/>
                </a:highlight>
              </a:rPr>
              <a:t>esn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70069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0B96D7-85CF-3697-0A91-45AECAEF1F83}"/>
              </a:ext>
            </a:extLst>
          </p:cNvPr>
          <p:cNvSpPr txBox="1"/>
          <p:nvPr/>
        </p:nvSpPr>
        <p:spPr>
          <a:xfrm>
            <a:off x="1564187" y="-45175"/>
            <a:ext cx="10573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bronze_idx,assy,position,sub_position,adhesive,partial,wear,total,date,esn,</a:t>
            </a:r>
            <a:r>
              <a:rPr lang="en-US" sz="1200" dirty="0">
                <a:highlight>
                  <a:srgbClr val="FFFF00"/>
                </a:highlight>
              </a:rPr>
              <a:t>tacs</a:t>
            </a:r>
            <a:r>
              <a:rPr lang="en-US" sz="1200" dirty="0"/>
              <a:t>,base,origin_sheet_name,origin_fn,ingest_stage,ingest_dt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6612137-2C3D-A859-915A-B8E401B7F919}"/>
              </a:ext>
            </a:extLst>
          </p:cNvPr>
          <p:cNvSpPr/>
          <p:nvPr/>
        </p:nvSpPr>
        <p:spPr>
          <a:xfrm>
            <a:off x="262317" y="1667929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3DB70F-3D4E-F527-EDEF-B1F2BCB59FA1}"/>
              </a:ext>
            </a:extLst>
          </p:cNvPr>
          <p:cNvSpPr/>
          <p:nvPr/>
        </p:nvSpPr>
        <p:spPr>
          <a:xfrm>
            <a:off x="2481823" y="1612777"/>
            <a:ext cx="1033084" cy="276999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Accumulated Usage Quality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F17727-0DF6-09D5-A240-EE4AA31E5B91}"/>
              </a:ext>
            </a:extLst>
          </p:cNvPr>
          <p:cNvCxnSpPr>
            <a:cxnSpLocks/>
            <a:stCxn id="4" idx="1"/>
            <a:endCxn id="3" idx="3"/>
          </p:cNvCxnSpPr>
          <p:nvPr/>
        </p:nvCxnSpPr>
        <p:spPr>
          <a:xfrm flipH="1">
            <a:off x="1381307" y="1751277"/>
            <a:ext cx="11005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2D7C976-1F0B-BFDD-BDEE-2439D1F204C6}"/>
              </a:ext>
            </a:extLst>
          </p:cNvPr>
          <p:cNvSpPr txBox="1"/>
          <p:nvPr/>
        </p:nvSpPr>
        <p:spPr>
          <a:xfrm>
            <a:off x="1267964" y="1549898"/>
            <a:ext cx="12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inheres in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175091-0EC9-EEA4-DB1B-CC5720C2F972}"/>
              </a:ext>
            </a:extLst>
          </p:cNvPr>
          <p:cNvSpPr/>
          <p:nvPr/>
        </p:nvSpPr>
        <p:spPr>
          <a:xfrm>
            <a:off x="5321996" y="1612777"/>
            <a:ext cx="1429324" cy="276999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Total Accumulated Cycles Measurement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EC5BBC-77D6-F3F0-18A2-39423ABD30ED}"/>
              </a:ext>
            </a:extLst>
          </p:cNvPr>
          <p:cNvSpPr txBox="1"/>
          <p:nvPr/>
        </p:nvSpPr>
        <p:spPr>
          <a:xfrm>
            <a:off x="3969376" y="1539738"/>
            <a:ext cx="12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describes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A05931-81D7-E2A0-8E8B-F6339EE15181}"/>
              </a:ext>
            </a:extLst>
          </p:cNvPr>
          <p:cNvCxnSpPr>
            <a:stCxn id="8" idx="1"/>
            <a:endCxn id="4" idx="3"/>
          </p:cNvCxnSpPr>
          <p:nvPr/>
        </p:nvCxnSpPr>
        <p:spPr>
          <a:xfrm flipH="1">
            <a:off x="3514907" y="1751277"/>
            <a:ext cx="18070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9B5C7ED-C032-DBA2-2F79-E4E7EBE19DF7}"/>
              </a:ext>
            </a:extLst>
          </p:cNvPr>
          <p:cNvSpPr txBox="1"/>
          <p:nvPr/>
        </p:nvSpPr>
        <p:spPr>
          <a:xfrm>
            <a:off x="5633720" y="1889776"/>
            <a:ext cx="675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highlight>
                  <a:srgbClr val="FFFF00"/>
                </a:highlight>
              </a:rPr>
              <a:t>tacs</a:t>
            </a:r>
            <a:endParaRPr lang="en-US" sz="10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7F2C952-05C9-285B-BAA4-EC5F01377815}"/>
              </a:ext>
            </a:extLst>
          </p:cNvPr>
          <p:cNvSpPr/>
          <p:nvPr/>
        </p:nvSpPr>
        <p:spPr>
          <a:xfrm>
            <a:off x="8558409" y="1667928"/>
            <a:ext cx="1277604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Inspection Process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356D327-C4A5-EC8F-2CC4-A194A0E9945B}"/>
              </a:ext>
            </a:extLst>
          </p:cNvPr>
          <p:cNvCxnSpPr>
            <a:cxnSpLocks/>
            <a:stCxn id="16" idx="1"/>
            <a:endCxn id="8" idx="3"/>
          </p:cNvCxnSpPr>
          <p:nvPr/>
        </p:nvCxnSpPr>
        <p:spPr>
          <a:xfrm flipH="1">
            <a:off x="6751320" y="1751276"/>
            <a:ext cx="180708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BBD6C3B-7865-9D79-81F1-1959F456BEEF}"/>
              </a:ext>
            </a:extLst>
          </p:cNvPr>
          <p:cNvSpPr txBox="1"/>
          <p:nvPr/>
        </p:nvSpPr>
        <p:spPr>
          <a:xfrm>
            <a:off x="6930533" y="1539737"/>
            <a:ext cx="12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has output</a:t>
            </a:r>
          </a:p>
        </p:txBody>
      </p:sp>
    </p:spTree>
    <p:extLst>
      <p:ext uri="{BB962C8B-B14F-4D97-AF65-F5344CB8AC3E}">
        <p14:creationId xmlns:p14="http://schemas.microsoft.com/office/powerpoint/2010/main" val="2941932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B72E2-8862-CC51-F165-D1433A03E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4ACD2E-020C-FC22-D562-C64B595EC7B6}"/>
              </a:ext>
            </a:extLst>
          </p:cNvPr>
          <p:cNvSpPr txBox="1"/>
          <p:nvPr/>
        </p:nvSpPr>
        <p:spPr>
          <a:xfrm>
            <a:off x="1564187" y="-45175"/>
            <a:ext cx="10573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bronze_idx,assy,position,sub_position,adhesive,partial,wear,total,date,esn,tacs,</a:t>
            </a:r>
            <a:r>
              <a:rPr lang="en-US" sz="1200" dirty="0">
                <a:highlight>
                  <a:srgbClr val="FFFF00"/>
                </a:highlight>
              </a:rPr>
              <a:t>base</a:t>
            </a:r>
            <a:r>
              <a:rPr lang="en-US" sz="1200" dirty="0"/>
              <a:t>,origin_sheet_name,origin_fn,ingest_stage,ingest_dt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1B0571B-57B5-8211-EE62-DEAD6E1246CD}"/>
              </a:ext>
            </a:extLst>
          </p:cNvPr>
          <p:cNvSpPr/>
          <p:nvPr/>
        </p:nvSpPr>
        <p:spPr>
          <a:xfrm>
            <a:off x="360245" y="1673008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29CD83-74DB-647A-A9C1-A14FD6A961F6}"/>
              </a:ext>
            </a:extLst>
          </p:cNvPr>
          <p:cNvSpPr txBox="1"/>
          <p:nvPr/>
        </p:nvSpPr>
        <p:spPr>
          <a:xfrm>
            <a:off x="5529681" y="5794178"/>
            <a:ext cx="675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highlight>
                  <a:srgbClr val="FFFF00"/>
                </a:highlight>
              </a:rPr>
              <a:t>base</a:t>
            </a:r>
            <a:endParaRPr lang="en-US" sz="10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F1577D8-4E64-3F94-5E6B-EE9D4A0E2B11}"/>
              </a:ext>
            </a:extLst>
          </p:cNvPr>
          <p:cNvSpPr/>
          <p:nvPr/>
        </p:nvSpPr>
        <p:spPr>
          <a:xfrm>
            <a:off x="8558409" y="1667928"/>
            <a:ext cx="1277604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Inspection Process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F79250-B09F-2805-1EF7-BC874F75DF3B}"/>
              </a:ext>
            </a:extLst>
          </p:cNvPr>
          <p:cNvSpPr/>
          <p:nvPr/>
        </p:nvSpPr>
        <p:spPr>
          <a:xfrm>
            <a:off x="313708" y="4226442"/>
            <a:ext cx="1212064" cy="28828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Facility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69FA13-AA4C-F7F4-D4F3-5D151B7D8536}"/>
              </a:ext>
            </a:extLst>
          </p:cNvPr>
          <p:cNvSpPr/>
          <p:nvPr/>
        </p:nvSpPr>
        <p:spPr>
          <a:xfrm>
            <a:off x="5261469" y="5627483"/>
            <a:ext cx="1212064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Facility Identifier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61A69F-F1CD-4019-7B4A-8296AD58C6E7}"/>
              </a:ext>
            </a:extLst>
          </p:cNvPr>
          <p:cNvCxnSpPr>
            <a:cxnSpLocks/>
            <a:stCxn id="16" idx="2"/>
            <a:endCxn id="5" idx="3"/>
          </p:cNvCxnSpPr>
          <p:nvPr/>
        </p:nvCxnSpPr>
        <p:spPr>
          <a:xfrm flipH="1">
            <a:off x="1525772" y="1834623"/>
            <a:ext cx="7671439" cy="2535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271A0B5-A16C-3F87-35B5-2297B94604CB}"/>
              </a:ext>
            </a:extLst>
          </p:cNvPr>
          <p:cNvCxnSpPr>
            <a:cxnSpLocks/>
            <a:stCxn id="9" idx="1"/>
            <a:endCxn id="5" idx="2"/>
          </p:cNvCxnSpPr>
          <p:nvPr/>
        </p:nvCxnSpPr>
        <p:spPr>
          <a:xfrm flipH="1" flipV="1">
            <a:off x="919740" y="4514727"/>
            <a:ext cx="4341729" cy="1196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7F8EF2F-B7E2-D49D-0458-83D8C0CA5250}"/>
              </a:ext>
            </a:extLst>
          </p:cNvPr>
          <p:cNvSpPr txBox="1"/>
          <p:nvPr/>
        </p:nvSpPr>
        <p:spPr>
          <a:xfrm>
            <a:off x="4184535" y="5297915"/>
            <a:ext cx="12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designates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3F70AA-F9C1-379D-AD07-3F5502956051}"/>
              </a:ext>
            </a:extLst>
          </p:cNvPr>
          <p:cNvSpPr txBox="1"/>
          <p:nvPr/>
        </p:nvSpPr>
        <p:spPr>
          <a:xfrm>
            <a:off x="6317003" y="2296632"/>
            <a:ext cx="12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occurs in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A11E2F3-6A5C-83B3-4347-28555878B187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>
            <a:off x="919740" y="1839703"/>
            <a:ext cx="0" cy="23867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77F51F9-4BB3-FFAB-D5AD-C6AF558C33E5}"/>
              </a:ext>
            </a:extLst>
          </p:cNvPr>
          <p:cNvSpPr txBox="1"/>
          <p:nvPr/>
        </p:nvSpPr>
        <p:spPr>
          <a:xfrm>
            <a:off x="821812" y="2891273"/>
            <a:ext cx="933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located in at some time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F5A4368-6811-BAFE-9E2B-C8EF83F572CA}"/>
              </a:ext>
            </a:extLst>
          </p:cNvPr>
          <p:cNvCxnSpPr>
            <a:cxnSpLocks/>
            <a:stCxn id="3" idx="3"/>
            <a:endCxn id="16" idx="1"/>
          </p:cNvCxnSpPr>
          <p:nvPr/>
        </p:nvCxnSpPr>
        <p:spPr>
          <a:xfrm flipV="1">
            <a:off x="1479235" y="1751276"/>
            <a:ext cx="7079174" cy="5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C1E5795-6F4F-FD00-ECFE-7AC86D0E7360}"/>
              </a:ext>
            </a:extLst>
          </p:cNvPr>
          <p:cNvSpPr txBox="1"/>
          <p:nvPr/>
        </p:nvSpPr>
        <p:spPr>
          <a:xfrm>
            <a:off x="4721188" y="1505055"/>
            <a:ext cx="10805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participates in</a:t>
            </a:r>
          </a:p>
        </p:txBody>
      </p:sp>
    </p:spTree>
    <p:extLst>
      <p:ext uri="{BB962C8B-B14F-4D97-AF65-F5344CB8AC3E}">
        <p14:creationId xmlns:p14="http://schemas.microsoft.com/office/powerpoint/2010/main" val="2832906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5423</TotalTime>
  <Words>764</Words>
  <Application>Microsoft Office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Poonam Sutar</dc:creator>
  <cp:lastModifiedBy>Shatad Purohit</cp:lastModifiedBy>
  <cp:revision>11</cp:revision>
  <dcterms:created xsi:type="dcterms:W3CDTF">2025-09-01T05:50:38Z</dcterms:created>
  <dcterms:modified xsi:type="dcterms:W3CDTF">2025-12-05T17:31:56Z</dcterms:modified>
</cp:coreProperties>
</file>