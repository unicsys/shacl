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56" r:id="rId3"/>
    <p:sldId id="259" r:id="rId4"/>
    <p:sldId id="260" r:id="rId5"/>
    <p:sldId id="261" r:id="rId6"/>
    <p:sldId id="258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8" autoAdjust="0"/>
    <p:restoredTop sz="96449" autoAdjust="0"/>
  </p:normalViewPr>
  <p:slideViewPr>
    <p:cSldViewPr snapToGrid="0">
      <p:cViewPr>
        <p:scale>
          <a:sx n="105" d="100"/>
          <a:sy n="105" d="100"/>
        </p:scale>
        <p:origin x="20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772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025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767078E-7F54-B0CA-C099-8F3F765A5CA6}"/>
              </a:ext>
            </a:extLst>
          </p:cNvPr>
          <p:cNvSpPr txBox="1">
            <a:spLocks/>
          </p:cNvSpPr>
          <p:nvPr userDrawn="1"/>
        </p:nvSpPr>
        <p:spPr>
          <a:xfrm>
            <a:off x="72851" y="252064"/>
            <a:ext cx="7854159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Things That Exist</a:t>
            </a:r>
            <a:endParaRPr lang="en-US" sz="120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18199A8-FDD1-B939-C35B-43B700D41178}"/>
              </a:ext>
            </a:extLst>
          </p:cNvPr>
          <p:cNvSpPr txBox="1">
            <a:spLocks/>
          </p:cNvSpPr>
          <p:nvPr userDrawn="1"/>
        </p:nvSpPr>
        <p:spPr>
          <a:xfrm>
            <a:off x="7994688" y="249991"/>
            <a:ext cx="4124435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Things That Happen</a:t>
            </a:r>
            <a:endParaRPr lang="en-US" sz="12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F41B6E6-EA74-B8BD-81C7-6F88B67CE922}"/>
              </a:ext>
            </a:extLst>
          </p:cNvPr>
          <p:cNvSpPr txBox="1">
            <a:spLocks/>
          </p:cNvSpPr>
          <p:nvPr userDrawn="1"/>
        </p:nvSpPr>
        <p:spPr>
          <a:xfrm>
            <a:off x="4255741" y="555640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Information Things</a:t>
            </a:r>
            <a:br>
              <a:rPr lang="en-US" sz="4800" b="1" dirty="0"/>
            </a:br>
            <a:r>
              <a:rPr lang="en-US" sz="4000" dirty="0"/>
              <a:t>(Data that describes, prescribes, designates things)</a:t>
            </a:r>
            <a:endParaRPr lang="en-US" sz="105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0475E3D-A2F7-D47F-14E9-6E0955013BA2}"/>
              </a:ext>
            </a:extLst>
          </p:cNvPr>
          <p:cNvSpPr txBox="1">
            <a:spLocks/>
          </p:cNvSpPr>
          <p:nvPr userDrawn="1"/>
        </p:nvSpPr>
        <p:spPr>
          <a:xfrm>
            <a:off x="1815050" y="555640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Qualities, Functions, Roles</a:t>
            </a:r>
            <a:br>
              <a:rPr lang="en-US" b="1" dirty="0"/>
            </a:br>
            <a:r>
              <a:rPr lang="en-US" sz="4000" dirty="0"/>
              <a:t>(Entities tied to things)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3D35D08-40FA-CAD1-B237-F68E41DA9434}"/>
              </a:ext>
            </a:extLst>
          </p:cNvPr>
          <p:cNvSpPr txBox="1">
            <a:spLocks/>
          </p:cNvSpPr>
          <p:nvPr userDrawn="1"/>
        </p:nvSpPr>
        <p:spPr>
          <a:xfrm>
            <a:off x="72851" y="555640"/>
            <a:ext cx="1674594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Material Things </a:t>
            </a:r>
            <a:br>
              <a:rPr lang="en-US" sz="4800" b="1" dirty="0"/>
            </a:br>
            <a:r>
              <a:rPr lang="en-US" sz="4000" dirty="0"/>
              <a:t>(e.g., aircraft engine)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0BA4242-8F1F-EDF1-F9D5-0ACB34179287}"/>
              </a:ext>
            </a:extLst>
          </p:cNvPr>
          <p:cNvSpPr txBox="1">
            <a:spLocks/>
          </p:cNvSpPr>
          <p:nvPr userDrawn="1"/>
        </p:nvSpPr>
        <p:spPr>
          <a:xfrm>
            <a:off x="7994698" y="555640"/>
            <a:ext cx="2375997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Processes</a:t>
            </a:r>
            <a:br>
              <a:rPr lang="en-US" b="1" dirty="0"/>
            </a:br>
            <a:r>
              <a:rPr lang="en-US" sz="4000" dirty="0"/>
              <a:t>(e.g., inspection)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D41626E-1A6F-E92A-AF87-018206A86B04}"/>
              </a:ext>
            </a:extLst>
          </p:cNvPr>
          <p:cNvSpPr txBox="1">
            <a:spLocks/>
          </p:cNvSpPr>
          <p:nvPr userDrawn="1"/>
        </p:nvSpPr>
        <p:spPr>
          <a:xfrm>
            <a:off x="10438301" y="555640"/>
            <a:ext cx="1680822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Time Periods</a:t>
            </a:r>
            <a:br>
              <a:rPr lang="en-US" sz="4800" b="1" dirty="0"/>
            </a:br>
            <a:r>
              <a:rPr lang="en-US" sz="4000" dirty="0"/>
              <a:t>(e.g., work shift)</a:t>
            </a:r>
            <a:endParaRPr lang="en-US" sz="3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CFB83-A5D1-502F-7F9D-765A2B50DB94}"/>
              </a:ext>
            </a:extLst>
          </p:cNvPr>
          <p:cNvSpPr/>
          <p:nvPr userDrawn="1"/>
        </p:nvSpPr>
        <p:spPr>
          <a:xfrm>
            <a:off x="72851" y="872458"/>
            <a:ext cx="1674593" cy="591648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C14BEC-D076-F1E6-1FA6-B7CEDEADD19A}"/>
              </a:ext>
            </a:extLst>
          </p:cNvPr>
          <p:cNvSpPr/>
          <p:nvPr userDrawn="1"/>
        </p:nvSpPr>
        <p:spPr>
          <a:xfrm>
            <a:off x="1815049" y="872458"/>
            <a:ext cx="2373084" cy="591648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3CDE76-3F64-5982-2AF9-E95FEBE08097}"/>
              </a:ext>
            </a:extLst>
          </p:cNvPr>
          <p:cNvSpPr/>
          <p:nvPr userDrawn="1"/>
        </p:nvSpPr>
        <p:spPr>
          <a:xfrm>
            <a:off x="4255736" y="872459"/>
            <a:ext cx="3671351" cy="5916484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260206-6E55-004C-7239-468B9E671CDE}"/>
              </a:ext>
            </a:extLst>
          </p:cNvPr>
          <p:cNvSpPr/>
          <p:nvPr userDrawn="1"/>
        </p:nvSpPr>
        <p:spPr>
          <a:xfrm>
            <a:off x="7994688" y="872458"/>
            <a:ext cx="2375997" cy="591648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A1B0C-0598-4458-C520-D0518529C29F}"/>
              </a:ext>
            </a:extLst>
          </p:cNvPr>
          <p:cNvSpPr/>
          <p:nvPr userDrawn="1"/>
        </p:nvSpPr>
        <p:spPr>
          <a:xfrm>
            <a:off x="10438327" y="872459"/>
            <a:ext cx="1680822" cy="59164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C10CEB38-906F-E5DC-3E5A-DBAC76E3562E}"/>
              </a:ext>
            </a:extLst>
          </p:cNvPr>
          <p:cNvSpPr txBox="1">
            <a:spLocks/>
          </p:cNvSpPr>
          <p:nvPr userDrawn="1"/>
        </p:nvSpPr>
        <p:spPr>
          <a:xfrm>
            <a:off x="1815009" y="92378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</a:t>
            </a:r>
            <a:br>
              <a:rPr lang="en-US" dirty="0"/>
            </a:br>
            <a:r>
              <a:rPr lang="en-US" sz="4000" dirty="0"/>
              <a:t>(e.g., mass, temperature)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76152FB-2F0B-63F2-62A2-E230433F98E6}"/>
              </a:ext>
            </a:extLst>
          </p:cNvPr>
          <p:cNvSpPr txBox="1">
            <a:spLocks/>
          </p:cNvSpPr>
          <p:nvPr userDrawn="1"/>
        </p:nvSpPr>
        <p:spPr>
          <a:xfrm>
            <a:off x="1815009" y="2913637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Functions </a:t>
            </a:r>
            <a:br>
              <a:rPr lang="en-US" sz="1000" dirty="0"/>
            </a:br>
            <a:r>
              <a:rPr lang="en-US" sz="1000" dirty="0"/>
              <a:t>(e.g., generating thrust function) 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6F34719-84BB-7E51-26ED-EB115521AE31}"/>
              </a:ext>
            </a:extLst>
          </p:cNvPr>
          <p:cNvSpPr txBox="1">
            <a:spLocks/>
          </p:cNvSpPr>
          <p:nvPr userDrawn="1"/>
        </p:nvSpPr>
        <p:spPr>
          <a:xfrm>
            <a:off x="1815008" y="489591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Roles</a:t>
            </a:r>
            <a:br>
              <a:rPr lang="en-US" dirty="0"/>
            </a:br>
            <a:r>
              <a:rPr lang="en-US" sz="4000" dirty="0"/>
              <a:t>(e.g., supplier role, primary pump role)</a:t>
            </a:r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A04F06F-AFB2-3982-8F42-0843765EEF6D}"/>
              </a:ext>
            </a:extLst>
          </p:cNvPr>
          <p:cNvSpPr txBox="1">
            <a:spLocks/>
          </p:cNvSpPr>
          <p:nvPr userDrawn="1"/>
        </p:nvSpPr>
        <p:spPr>
          <a:xfrm>
            <a:off x="4255560" y="4895917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Identifiers</a:t>
            </a:r>
            <a:br>
              <a:rPr lang="en-US" dirty="0"/>
            </a:br>
            <a:r>
              <a:rPr lang="en-US" sz="4000" dirty="0"/>
              <a:t>(Data that designates things - e.g., names, serial numbers)</a:t>
            </a:r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16C9E9D8-B51A-2C74-2822-DADE6E13515D}"/>
              </a:ext>
            </a:extLst>
          </p:cNvPr>
          <p:cNvSpPr txBox="1">
            <a:spLocks/>
          </p:cNvSpPr>
          <p:nvPr userDrawn="1"/>
        </p:nvSpPr>
        <p:spPr>
          <a:xfrm>
            <a:off x="4255657" y="922452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Descriptive Data</a:t>
            </a:r>
            <a:br>
              <a:rPr lang="en-US" dirty="0"/>
            </a:br>
            <a:r>
              <a:rPr lang="en-US" sz="4000" dirty="0"/>
              <a:t>(Data that describes things - e.g., measurements, reports)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8312035-13B7-987E-8775-062F1BB33014}"/>
              </a:ext>
            </a:extLst>
          </p:cNvPr>
          <p:cNvSpPr txBox="1">
            <a:spLocks/>
          </p:cNvSpPr>
          <p:nvPr userDrawn="1"/>
        </p:nvSpPr>
        <p:spPr>
          <a:xfrm>
            <a:off x="4255560" y="2912048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Prescriptive Data</a:t>
            </a:r>
            <a:br>
              <a:rPr lang="en-US" sz="1200" b="1" dirty="0"/>
            </a:br>
            <a:r>
              <a:rPr lang="en-US" sz="1000" dirty="0"/>
              <a:t>(Data that prescribes things - e.g., designs, requirements, plans)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8ED39-4C54-72F7-F9EE-88703E9EFD3F}"/>
              </a:ext>
            </a:extLst>
          </p:cNvPr>
          <p:cNvSpPr txBox="1"/>
          <p:nvPr userDrawn="1"/>
        </p:nvSpPr>
        <p:spPr>
          <a:xfrm>
            <a:off x="0" y="0"/>
            <a:ext cx="16745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Ontology Modeling Scope:</a:t>
            </a:r>
          </a:p>
        </p:txBody>
      </p:sp>
    </p:spTree>
    <p:extLst>
      <p:ext uri="{BB962C8B-B14F-4D97-AF65-F5344CB8AC3E}">
        <p14:creationId xmlns:p14="http://schemas.microsoft.com/office/powerpoint/2010/main" val="138533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62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09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89243F-56DB-CFED-5F37-40B8D92B02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89EC97-4F83-C26C-FC45-4CFD818CE69C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8A69FC-CB5A-DA1B-69A9-2539552F4274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4CD8EC-3068-1703-BF87-3B42088C6106}"/>
              </a:ext>
            </a:extLst>
          </p:cNvPr>
          <p:cNvSpPr/>
          <p:nvPr/>
        </p:nvSpPr>
        <p:spPr>
          <a:xfrm>
            <a:off x="6542762" y="6364500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A94268-F728-7764-1A27-5D27C22297BB}"/>
              </a:ext>
            </a:extLst>
          </p:cNvPr>
          <p:cNvSpPr/>
          <p:nvPr/>
        </p:nvSpPr>
        <p:spPr>
          <a:xfrm>
            <a:off x="2686833" y="1611682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361947-C4F5-C456-1350-A5BF884AB08E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CB2F40-2E4A-B91C-C796-36AF7A775E36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411482-7B59-4097-E97A-DC99124D41C8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2D3A37-6155-7AD8-03D2-C277FD4E79F5}"/>
              </a:ext>
            </a:extLst>
          </p:cNvPr>
          <p:cNvSpPr/>
          <p:nvPr/>
        </p:nvSpPr>
        <p:spPr>
          <a:xfrm>
            <a:off x="8555274" y="4933486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B2E805-07BC-DE30-33AF-D9678E91C34F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E0A3AB-0625-E221-FE8B-386ED5C4D454}"/>
              </a:ext>
            </a:extLst>
          </p:cNvPr>
          <p:cNvSpPr/>
          <p:nvPr/>
        </p:nvSpPr>
        <p:spPr>
          <a:xfrm>
            <a:off x="250520" y="5016833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</p:spTree>
    <p:extLst>
      <p:ext uri="{BB962C8B-B14F-4D97-AF65-F5344CB8AC3E}">
        <p14:creationId xmlns:p14="http://schemas.microsoft.com/office/powerpoint/2010/main" val="284065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8911A-DB8A-C940-E569-B7F7D2DD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8EEEB-41BF-150E-F0D5-EEBE03740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E4D6D1-10BB-A7D7-DBD0-FC3C07B3388C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26BE12-8687-1CE5-6786-ED70D3DACD4E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D251B1-1CC0-4550-AB48-EA0F3CF79497}"/>
              </a:ext>
            </a:extLst>
          </p:cNvPr>
          <p:cNvSpPr/>
          <p:nvPr/>
        </p:nvSpPr>
        <p:spPr>
          <a:xfrm>
            <a:off x="6542762" y="6364500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6FAAB2-FB06-C837-AD7E-A9697528F115}"/>
              </a:ext>
            </a:extLst>
          </p:cNvPr>
          <p:cNvSpPr/>
          <p:nvPr/>
        </p:nvSpPr>
        <p:spPr>
          <a:xfrm>
            <a:off x="2430050" y="2248262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BBC29D-EEDE-89B5-C507-E0F01B1E7CA5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47551A-4D0B-525B-B432-2C95DC18FBEF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62466C-D97B-3AEB-EDAF-163F335FFA92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DA4712-D5CB-F8A0-B442-A59D97B3891F}"/>
              </a:ext>
            </a:extLst>
          </p:cNvPr>
          <p:cNvSpPr/>
          <p:nvPr/>
        </p:nvSpPr>
        <p:spPr>
          <a:xfrm>
            <a:off x="8555274" y="4933486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641B6C-7462-C63A-E0F2-369A5B353CBE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2FD141-CB9B-CC0E-5CE6-FC901D0419C5}"/>
              </a:ext>
            </a:extLst>
          </p:cNvPr>
          <p:cNvSpPr/>
          <p:nvPr/>
        </p:nvSpPr>
        <p:spPr>
          <a:xfrm>
            <a:off x="250520" y="5016833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322C770-B87C-287C-BF02-27F5410007D0}"/>
              </a:ext>
            </a:extLst>
          </p:cNvPr>
          <p:cNvCxnSpPr>
            <a:cxnSpLocks/>
          </p:cNvCxnSpPr>
          <p:nvPr/>
        </p:nvCxnSpPr>
        <p:spPr>
          <a:xfrm>
            <a:off x="2054268" y="320863"/>
            <a:ext cx="3526077" cy="5134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86EB90-027F-93DF-1E8E-CB5BF6AC7B83}"/>
              </a:ext>
            </a:extLst>
          </p:cNvPr>
          <p:cNvCxnSpPr>
            <a:cxnSpLocks/>
          </p:cNvCxnSpPr>
          <p:nvPr/>
        </p:nvCxnSpPr>
        <p:spPr>
          <a:xfrm>
            <a:off x="3363238" y="160432"/>
            <a:ext cx="2989545" cy="5796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3D9D5E-87BF-2117-7B11-0C9451C8F1BE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6564682" y="250521"/>
            <a:ext cx="529747" cy="12713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7CDADF-44E2-FF53-10A0-35ADECE34DD3}"/>
              </a:ext>
            </a:extLst>
          </p:cNvPr>
          <p:cNvCxnSpPr>
            <a:cxnSpLocks/>
          </p:cNvCxnSpPr>
          <p:nvPr/>
        </p:nvCxnSpPr>
        <p:spPr>
          <a:xfrm>
            <a:off x="4653941" y="160432"/>
            <a:ext cx="1836629" cy="35789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95A7A9-74C4-1CDA-4DCC-3E06C11A473B}"/>
              </a:ext>
            </a:extLst>
          </p:cNvPr>
          <p:cNvCxnSpPr>
            <a:cxnSpLocks/>
          </p:cNvCxnSpPr>
          <p:nvPr/>
        </p:nvCxnSpPr>
        <p:spPr>
          <a:xfrm flipH="1">
            <a:off x="7120524" y="160432"/>
            <a:ext cx="1290703" cy="61276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420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545BC-082C-1CF7-5EB3-8C5BEC53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E4FFDC-C575-548E-CCE8-2FC95B1FF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3056F1-BD28-5D7F-F56B-6932F971271E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23D134-1246-48CA-AD04-1C8EA1EEDDA2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066191-9F39-FCCA-7761-57A1552EFBC0}"/>
              </a:ext>
            </a:extLst>
          </p:cNvPr>
          <p:cNvSpPr/>
          <p:nvPr/>
        </p:nvSpPr>
        <p:spPr>
          <a:xfrm>
            <a:off x="6736916" y="5455085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236F76-FBBB-A48E-24F5-9B452CD8A777}"/>
              </a:ext>
            </a:extLst>
          </p:cNvPr>
          <p:cNvSpPr/>
          <p:nvPr/>
        </p:nvSpPr>
        <p:spPr>
          <a:xfrm>
            <a:off x="2662824" y="1636734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D37F40-EB9D-BC05-1667-0CA7B89082D4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7637EA-8735-B06B-73A5-3F12A2B5E4B6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EDE33C-C133-5825-75AC-C4EDCA721FC5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66D153-A960-367D-FBDF-2523235EC92F}"/>
              </a:ext>
            </a:extLst>
          </p:cNvPr>
          <p:cNvSpPr/>
          <p:nvPr/>
        </p:nvSpPr>
        <p:spPr>
          <a:xfrm>
            <a:off x="8555274" y="5956765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801965-C856-BCB2-B4C7-8EA437FED9BA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39626B-3102-257A-C5A3-FF185E6DFCAF}"/>
              </a:ext>
            </a:extLst>
          </p:cNvPr>
          <p:cNvSpPr/>
          <p:nvPr/>
        </p:nvSpPr>
        <p:spPr>
          <a:xfrm>
            <a:off x="250520" y="3362955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9118D0C-A06B-DB6B-C06E-62999D741205}"/>
              </a:ext>
            </a:extLst>
          </p:cNvPr>
          <p:cNvCxnSpPr>
            <a:cxnSpLocks/>
            <a:stCxn id="6" idx="1"/>
            <a:endCxn id="14" idx="3"/>
          </p:cNvCxnSpPr>
          <p:nvPr/>
        </p:nvCxnSpPr>
        <p:spPr>
          <a:xfrm flipH="1" flipV="1">
            <a:off x="1369510" y="4521896"/>
            <a:ext cx="3546956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D7C039-C6F9-87F6-3314-DA6B8516D0CB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810015" y="3529650"/>
            <a:ext cx="0" cy="908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B5950E3-DA1C-E615-2ADC-C821F5ED4820}"/>
              </a:ext>
            </a:extLst>
          </p:cNvPr>
          <p:cNvSpPr/>
          <p:nvPr/>
        </p:nvSpPr>
        <p:spPr>
          <a:xfrm>
            <a:off x="2125249" y="2357864"/>
            <a:ext cx="171397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FD6FF6-AD21-75CE-92FF-7EB5656E3D4C}"/>
              </a:ext>
            </a:extLst>
          </p:cNvPr>
          <p:cNvCxnSpPr>
            <a:cxnSpLocks/>
            <a:stCxn id="15" idx="0"/>
            <a:endCxn id="17" idx="2"/>
          </p:cNvCxnSpPr>
          <p:nvPr/>
        </p:nvCxnSpPr>
        <p:spPr>
          <a:xfrm flipV="1">
            <a:off x="810015" y="2537404"/>
            <a:ext cx="2172223" cy="825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6D9E17-816A-11E1-2F74-0488D20D97AE}"/>
              </a:ext>
            </a:extLst>
          </p:cNvPr>
          <p:cNvCxnSpPr>
            <a:cxnSpLocks/>
            <a:stCxn id="10" idx="1"/>
            <a:endCxn id="17" idx="3"/>
          </p:cNvCxnSpPr>
          <p:nvPr/>
        </p:nvCxnSpPr>
        <p:spPr>
          <a:xfrm flipH="1">
            <a:off x="3839227" y="1611682"/>
            <a:ext cx="1937359" cy="835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138837-9E87-2ABF-B35D-1712756DE6A1}"/>
              </a:ext>
            </a:extLst>
          </p:cNvPr>
          <p:cNvCxnSpPr>
            <a:cxnSpLocks/>
            <a:stCxn id="17" idx="0"/>
            <a:endCxn id="9" idx="2"/>
          </p:cNvCxnSpPr>
          <p:nvPr/>
        </p:nvCxnSpPr>
        <p:spPr>
          <a:xfrm flipV="1">
            <a:off x="2982238" y="1816274"/>
            <a:ext cx="0" cy="54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2734DB8-B474-E902-95DF-E525632F3321}"/>
              </a:ext>
            </a:extLst>
          </p:cNvPr>
          <p:cNvSpPr txBox="1"/>
          <p:nvPr/>
        </p:nvSpPr>
        <p:spPr>
          <a:xfrm>
            <a:off x="4397679" y="5246318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BDA54A-CE5C-19FF-E4D7-8A3467D5F02E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6648711" y="6040113"/>
            <a:ext cx="1906563" cy="10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558342F-227E-CA5C-1F6E-AF9B8B3F76E5}"/>
              </a:ext>
            </a:extLst>
          </p:cNvPr>
          <p:cNvSpPr txBox="1"/>
          <p:nvPr/>
        </p:nvSpPr>
        <p:spPr>
          <a:xfrm>
            <a:off x="6648711" y="583365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2D7B72-BE56-2417-0C62-9C4D257AC4CB}"/>
              </a:ext>
            </a:extLst>
          </p:cNvPr>
          <p:cNvSpPr txBox="1"/>
          <p:nvPr/>
        </p:nvSpPr>
        <p:spPr>
          <a:xfrm>
            <a:off x="763566" y="3944493"/>
            <a:ext cx="820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has component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73B9E0-74C1-208C-1377-08FA06F75AAE}"/>
              </a:ext>
            </a:extLst>
          </p:cNvPr>
          <p:cNvSpPr txBox="1"/>
          <p:nvPr/>
        </p:nvSpPr>
        <p:spPr>
          <a:xfrm>
            <a:off x="2949881" y="198393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subclass of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6AAAE5-0293-69C4-6A83-D7831DB34372}"/>
              </a:ext>
            </a:extLst>
          </p:cNvPr>
          <p:cNvSpPr txBox="1"/>
          <p:nvPr/>
        </p:nvSpPr>
        <p:spPr>
          <a:xfrm>
            <a:off x="4937865" y="1468277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DC8EFF5-E7CD-20CF-46E6-157FBCFD4E55}"/>
              </a:ext>
            </a:extLst>
          </p:cNvPr>
          <p:cNvCxnSpPr>
            <a:cxnSpLocks/>
            <a:stCxn id="8" idx="0"/>
            <a:endCxn id="17" idx="2"/>
          </p:cNvCxnSpPr>
          <p:nvPr/>
        </p:nvCxnSpPr>
        <p:spPr>
          <a:xfrm flipH="1" flipV="1">
            <a:off x="2982238" y="2537404"/>
            <a:ext cx="4306345" cy="2917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4917E4-8FED-D185-9A55-CB14D9597868}"/>
              </a:ext>
            </a:extLst>
          </p:cNvPr>
          <p:cNvSpPr txBox="1"/>
          <p:nvPr/>
        </p:nvSpPr>
        <p:spPr>
          <a:xfrm>
            <a:off x="7051371" y="5189209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676331-817E-CA69-AA82-BE68C96F48B2}"/>
              </a:ext>
            </a:extLst>
          </p:cNvPr>
          <p:cNvSpPr txBox="1"/>
          <p:nvPr/>
        </p:nvSpPr>
        <p:spPr>
          <a:xfrm>
            <a:off x="876824" y="289259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bearer of</a:t>
            </a:r>
          </a:p>
        </p:txBody>
      </p:sp>
    </p:spTree>
    <p:extLst>
      <p:ext uri="{BB962C8B-B14F-4D97-AF65-F5344CB8AC3E}">
        <p14:creationId xmlns:p14="http://schemas.microsoft.com/office/powerpoint/2010/main" val="505431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2849C5-5944-32C7-2409-1AFBC2E301DC}"/>
              </a:ext>
            </a:extLst>
          </p:cNvPr>
          <p:cNvSpPr/>
          <p:nvPr/>
        </p:nvSpPr>
        <p:spPr>
          <a:xfrm>
            <a:off x="495299" y="1143000"/>
            <a:ext cx="1087315" cy="20574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10815C-02C1-725C-2658-56EB61B8444B}"/>
              </a:ext>
            </a:extLst>
          </p:cNvPr>
          <p:cNvSpPr/>
          <p:nvPr/>
        </p:nvSpPr>
        <p:spPr>
          <a:xfrm>
            <a:off x="5298830" y="5647593"/>
            <a:ext cx="1594339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8EA130-A1EF-D951-2031-3BBBC30B3945}"/>
              </a:ext>
            </a:extLst>
          </p:cNvPr>
          <p:cNvSpPr/>
          <p:nvPr/>
        </p:nvSpPr>
        <p:spPr>
          <a:xfrm>
            <a:off x="5618285" y="1799493"/>
            <a:ext cx="1274884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Area Measurement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065789-621D-1C51-5699-AFDD64317E88}"/>
              </a:ext>
            </a:extLst>
          </p:cNvPr>
          <p:cNvSpPr/>
          <p:nvPr/>
        </p:nvSpPr>
        <p:spPr>
          <a:xfrm>
            <a:off x="307730" y="2347547"/>
            <a:ext cx="1274884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08641B-0308-0D14-12A3-C5B807C20A74}"/>
              </a:ext>
            </a:extLst>
          </p:cNvPr>
          <p:cNvSpPr/>
          <p:nvPr/>
        </p:nvSpPr>
        <p:spPr>
          <a:xfrm>
            <a:off x="2236174" y="1880048"/>
            <a:ext cx="1787772" cy="1905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Loss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9E84EC-21C9-FFF9-712B-154E983EB748}"/>
              </a:ext>
            </a:extLst>
          </p:cNvPr>
          <p:cNvSpPr/>
          <p:nvPr/>
        </p:nvSpPr>
        <p:spPr>
          <a:xfrm>
            <a:off x="2705098" y="1333503"/>
            <a:ext cx="624252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09104D-1556-EED0-D69C-5A6BFA51C5C9}"/>
              </a:ext>
            </a:extLst>
          </p:cNvPr>
          <p:cNvCxnSpPr>
            <a:cxnSpLocks/>
            <a:stCxn id="3" idx="1"/>
            <a:endCxn id="2" idx="2"/>
          </p:cNvCxnSpPr>
          <p:nvPr/>
        </p:nvCxnSpPr>
        <p:spPr>
          <a:xfrm flipH="1" flipV="1">
            <a:off x="1038957" y="1348740"/>
            <a:ext cx="4259873" cy="4394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2903B5-4102-368A-917B-39DA5211D15B}"/>
              </a:ext>
            </a:extLst>
          </p:cNvPr>
          <p:cNvSpPr txBox="1"/>
          <p:nvPr/>
        </p:nvSpPr>
        <p:spPr>
          <a:xfrm>
            <a:off x="4545622" y="5275345"/>
            <a:ext cx="91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designates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453800-6FAF-C62D-2580-3A421C2983D2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945172" y="1348740"/>
            <a:ext cx="93785" cy="998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5A3FCE0-52EB-940B-9062-23859CB75834}"/>
              </a:ext>
            </a:extLst>
          </p:cNvPr>
          <p:cNvSpPr txBox="1"/>
          <p:nvPr/>
        </p:nvSpPr>
        <p:spPr>
          <a:xfrm>
            <a:off x="307730" y="1880049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has component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D6EC1D-54BD-8D2C-242A-D57140E7D669}"/>
              </a:ext>
            </a:extLst>
          </p:cNvPr>
          <p:cNvSpPr txBox="1"/>
          <p:nvPr/>
        </p:nvSpPr>
        <p:spPr>
          <a:xfrm>
            <a:off x="2357804" y="1551049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Subclass of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3EEAE1-EFD1-A258-5741-A1F799CBEF5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1582614" y="1975298"/>
            <a:ext cx="653560" cy="467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72E757-D429-495E-07D6-7449CE275596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H="1" flipV="1">
            <a:off x="3017224" y="1524002"/>
            <a:ext cx="112836" cy="356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5CECFFF-402D-CCAC-B715-E8385EC16C96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>
            <a:off x="4023946" y="1894743"/>
            <a:ext cx="1594339" cy="80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0DFA18F-B2A9-59D9-9418-44EED696607C}"/>
              </a:ext>
            </a:extLst>
          </p:cNvPr>
          <p:cNvSpPr txBox="1"/>
          <p:nvPr/>
        </p:nvSpPr>
        <p:spPr>
          <a:xfrm>
            <a:off x="4314089" y="1689548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describes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CDE1AC-6F81-020F-EFE8-7E7DC286CB5A}"/>
              </a:ext>
            </a:extLst>
          </p:cNvPr>
          <p:cNvSpPr txBox="1"/>
          <p:nvPr/>
        </p:nvSpPr>
        <p:spPr>
          <a:xfrm>
            <a:off x="1901335" y="2070548"/>
            <a:ext cx="825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bearer of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C72373-4DFB-133F-39EB-1CF7D29CDE05}"/>
              </a:ext>
            </a:extLst>
          </p:cNvPr>
          <p:cNvSpPr txBox="1"/>
          <p:nvPr/>
        </p:nvSpPr>
        <p:spPr>
          <a:xfrm>
            <a:off x="1479303" y="-17584"/>
            <a:ext cx="4259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What part serial numbers were on the engine at a given time?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07B8AA-5733-BA24-5FB3-202C940C0AAC}"/>
              </a:ext>
            </a:extLst>
          </p:cNvPr>
          <p:cNvSpPr/>
          <p:nvPr/>
        </p:nvSpPr>
        <p:spPr>
          <a:xfrm>
            <a:off x="4106007" y="0"/>
            <a:ext cx="457199" cy="259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7DA23A-47AF-F9D7-19E6-43E42E3BD1C4}"/>
              </a:ext>
            </a:extLst>
          </p:cNvPr>
          <p:cNvCxnSpPr>
            <a:cxnSpLocks/>
            <a:stCxn id="36" idx="2"/>
            <a:endCxn id="2" idx="3"/>
          </p:cNvCxnSpPr>
          <p:nvPr/>
        </p:nvCxnSpPr>
        <p:spPr>
          <a:xfrm flipH="1">
            <a:off x="1582614" y="259415"/>
            <a:ext cx="2751993" cy="9864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80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D6A764-4FB8-2881-B4CE-A45A155C52BE}"/>
              </a:ext>
            </a:extLst>
          </p:cNvPr>
          <p:cNvSpPr txBox="1"/>
          <p:nvPr/>
        </p:nvSpPr>
        <p:spPr>
          <a:xfrm>
            <a:off x="1508439" y="0"/>
            <a:ext cx="10121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what component were replaced from CCA designs or specific CCA serial numbers (as built digital twins) over specific time periods.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ED4DAF-996F-72D2-E5B8-FF1389E07C2C}"/>
              </a:ext>
            </a:extLst>
          </p:cNvPr>
          <p:cNvSpPr/>
          <p:nvPr/>
        </p:nvSpPr>
        <p:spPr>
          <a:xfrm>
            <a:off x="429937" y="3742475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A1BD92-3838-3B0A-FD79-A0DADBB6D450}"/>
              </a:ext>
            </a:extLst>
          </p:cNvPr>
          <p:cNvSpPr/>
          <p:nvPr/>
        </p:nvSpPr>
        <p:spPr>
          <a:xfrm>
            <a:off x="429937" y="4722491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71094-4D9F-CA0D-D87A-3DC2FA94C549}"/>
              </a:ext>
            </a:extLst>
          </p:cNvPr>
          <p:cNvSpPr/>
          <p:nvPr/>
        </p:nvSpPr>
        <p:spPr>
          <a:xfrm>
            <a:off x="4804834" y="5444125"/>
            <a:ext cx="1472098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CCA Serial Number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E2482B-C0F8-7218-1D83-DCAF1533EC14}"/>
              </a:ext>
            </a:extLst>
          </p:cNvPr>
          <p:cNvSpPr/>
          <p:nvPr/>
        </p:nvSpPr>
        <p:spPr>
          <a:xfrm>
            <a:off x="4770967" y="5892858"/>
            <a:ext cx="1472098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Component Reference Designator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DAAD48-06E2-BB65-0383-3A138DF8B02D}"/>
              </a:ext>
            </a:extLst>
          </p:cNvPr>
          <p:cNvSpPr/>
          <p:nvPr/>
        </p:nvSpPr>
        <p:spPr>
          <a:xfrm>
            <a:off x="6830736" y="3649340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Component Design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AC6A09-0F07-1460-6002-FD2BD0A1F683}"/>
              </a:ext>
            </a:extLst>
          </p:cNvPr>
          <p:cNvSpPr/>
          <p:nvPr/>
        </p:nvSpPr>
        <p:spPr>
          <a:xfrm>
            <a:off x="6504770" y="5598671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Component Part Number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DCBA954-321F-4438-1046-0DD9690A5942}"/>
              </a:ext>
            </a:extLst>
          </p:cNvPr>
          <p:cNvSpPr/>
          <p:nvPr/>
        </p:nvSpPr>
        <p:spPr>
          <a:xfrm>
            <a:off x="8697399" y="2466501"/>
            <a:ext cx="1102768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Manufacturing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B46E125-F093-9EB7-89D1-6A3FF57EF72D}"/>
              </a:ext>
            </a:extLst>
          </p:cNvPr>
          <p:cNvSpPr/>
          <p:nvPr/>
        </p:nvSpPr>
        <p:spPr>
          <a:xfrm>
            <a:off x="4847748" y="4193264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ECAD Design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12201C-C477-9E9C-36D6-EF1A388C71B7}"/>
              </a:ext>
            </a:extLst>
          </p:cNvPr>
          <p:cNvSpPr/>
          <p:nvPr/>
        </p:nvSpPr>
        <p:spPr>
          <a:xfrm>
            <a:off x="8697399" y="3274453"/>
            <a:ext cx="1102768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EE01BB-B707-C860-BA54-76EFA4AD6826}"/>
              </a:ext>
            </a:extLst>
          </p:cNvPr>
          <p:cNvSpPr/>
          <p:nvPr/>
        </p:nvSpPr>
        <p:spPr>
          <a:xfrm>
            <a:off x="10618043" y="3274549"/>
            <a:ext cx="1102768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Time Interval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E645AB-FD8D-2103-C68F-7E5F3C3005DB}"/>
              </a:ext>
            </a:extLst>
          </p:cNvPr>
          <p:cNvSpPr/>
          <p:nvPr/>
        </p:nvSpPr>
        <p:spPr>
          <a:xfrm>
            <a:off x="6645058" y="6156798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Design Revision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070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3302</TotalTime>
  <Words>173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Poonam Sutar</dc:creator>
  <cp:lastModifiedBy>Poonam Sutar</cp:lastModifiedBy>
  <cp:revision>8</cp:revision>
  <dcterms:created xsi:type="dcterms:W3CDTF">2025-09-01T05:50:38Z</dcterms:created>
  <dcterms:modified xsi:type="dcterms:W3CDTF">2025-09-16T14:43:30Z</dcterms:modified>
</cp:coreProperties>
</file>