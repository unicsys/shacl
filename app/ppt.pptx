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2" r:id="rId4"/>
    <p:sldId id="257" r:id="rId5"/>
    <p:sldId id="258" r:id="rId6"/>
    <p:sldId id="263" r:id="rId7"/>
    <p:sldId id="264" r:id="rId8"/>
    <p:sldId id="265" r:id="rId9"/>
    <p:sldId id="266" r:id="rId10"/>
    <p:sldId id="267" r:id="rId11"/>
    <p:sldId id="259" r:id="rId12"/>
    <p:sldId id="261" r:id="rId13"/>
    <p:sldId id="268" r:id="rId14"/>
    <p:sldId id="269" r:id="rId15"/>
    <p:sldId id="274"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85" d="100"/>
          <a:sy n="85" d="100"/>
        </p:scale>
        <p:origin x="64" y="2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444CA-EF5F-B4EE-3ADF-E2BCB571D6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F000C1-C4AB-52C1-C6BB-CA32118D9B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F9C0A4-7538-B473-775A-ADD89872081B}"/>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5" name="Footer Placeholder 4">
            <a:extLst>
              <a:ext uri="{FF2B5EF4-FFF2-40B4-BE49-F238E27FC236}">
                <a16:creationId xmlns:a16="http://schemas.microsoft.com/office/drawing/2014/main" id="{D7098181-701C-7FBB-C2A2-6D49C863F4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205DD-1B06-9DB5-9C49-C85D3E3EE6DB}"/>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2665669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92ECA-0B8C-3613-FF95-11707FE5D4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D62B09-8EB4-3C79-9396-1DB624FBAC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3422A7-E05F-8538-75B3-C8DD4896E5C5}"/>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5" name="Footer Placeholder 4">
            <a:extLst>
              <a:ext uri="{FF2B5EF4-FFF2-40B4-BE49-F238E27FC236}">
                <a16:creationId xmlns:a16="http://schemas.microsoft.com/office/drawing/2014/main" id="{8960A8C0-1B62-C9A3-63E6-7FC8ACE5A3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E610C1-46CD-D184-99F2-0063531DFB40}"/>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102531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84449-7F6E-F3FE-B07F-C01B26BAF5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050A7B-49D4-61CE-7D1F-DB5F0CE892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CA4806-B4EB-EC71-0BC5-F8A099D9E06E}"/>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5" name="Footer Placeholder 4">
            <a:extLst>
              <a:ext uri="{FF2B5EF4-FFF2-40B4-BE49-F238E27FC236}">
                <a16:creationId xmlns:a16="http://schemas.microsoft.com/office/drawing/2014/main" id="{264F12D5-0D9A-6535-7B42-FB43E8A8AF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CFA363-C4D7-2803-94BB-0473F15A78E9}"/>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2789127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36E5E-43C3-7DD9-CD26-708818608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4A46F6-F299-6DC3-2411-B1F5DD4B33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AF148A-E978-35D5-5430-C9E26385F4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DB217C-BBC4-7D0D-A152-110E1790FBA2}"/>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6" name="Footer Placeholder 5">
            <a:extLst>
              <a:ext uri="{FF2B5EF4-FFF2-40B4-BE49-F238E27FC236}">
                <a16:creationId xmlns:a16="http://schemas.microsoft.com/office/drawing/2014/main" id="{42B39E8A-9C2D-17E2-835F-ED167EDB7B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E7D90-D708-76C2-3FE8-A7FC32761172}"/>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4990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F1A6B-7829-83A4-698A-4D03008C7E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CEA44D-DAF5-400C-EBBD-EE71362986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055D7B-6D95-3619-651D-7A326AA992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B179B0-F76D-CD1A-076E-9D15D8E338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3035D9-BA52-CCB6-7A17-1F727284C4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DE5418-274B-5A43-2EC9-41E7667E572F}"/>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8" name="Footer Placeholder 7">
            <a:extLst>
              <a:ext uri="{FF2B5EF4-FFF2-40B4-BE49-F238E27FC236}">
                <a16:creationId xmlns:a16="http://schemas.microsoft.com/office/drawing/2014/main" id="{D6BCD8DE-2FA9-918D-ED11-1E673855B5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997B3C6-8994-4F57-17FE-13F8A8090616}"/>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1398989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4FC97-461E-B89B-91E1-38FEC43A5E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952122-7956-6F30-B01E-8D4607BD8DEF}"/>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4" name="Footer Placeholder 3">
            <a:extLst>
              <a:ext uri="{FF2B5EF4-FFF2-40B4-BE49-F238E27FC236}">
                <a16:creationId xmlns:a16="http://schemas.microsoft.com/office/drawing/2014/main" id="{011B7940-90DC-9B9A-E984-E4E9C4D12E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63D391-A647-0FD1-6771-7FBB64075E68}"/>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2140639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E20212-3883-AE8E-FA08-887F4C7E92BF}"/>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3" name="Footer Placeholder 2">
            <a:extLst>
              <a:ext uri="{FF2B5EF4-FFF2-40B4-BE49-F238E27FC236}">
                <a16:creationId xmlns:a16="http://schemas.microsoft.com/office/drawing/2014/main" id="{858F7153-C9DA-11C7-018C-4A1F680CDE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7D639D-D04B-7C57-CCD5-B4A4B17B26A8}"/>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1878081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6B404-8D70-58CE-8051-5C39CAF3FF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61D176-A542-97A6-7C15-ACAB1BDE43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68D1F1-C5F1-7B48-2D54-2789E18305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3ECDC-97C6-CF46-E47E-A302952E27B2}"/>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6" name="Footer Placeholder 5">
            <a:extLst>
              <a:ext uri="{FF2B5EF4-FFF2-40B4-BE49-F238E27FC236}">
                <a16:creationId xmlns:a16="http://schemas.microsoft.com/office/drawing/2014/main" id="{C16B341C-FF3C-90F2-C8C9-5F76406D61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5BC8E7-EB03-2D4D-8781-EDCB81DDFD35}"/>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183923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12C64-260D-41A4-90A7-FFA8AFD35D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F8B29F-9915-6442-F6F3-B4D044BBD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01F39F-E31E-93AF-E843-FDBBA6E3D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3B0943-A6E8-1544-2D2B-AB5EC82703F2}"/>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6" name="Footer Placeholder 5">
            <a:extLst>
              <a:ext uri="{FF2B5EF4-FFF2-40B4-BE49-F238E27FC236}">
                <a16:creationId xmlns:a16="http://schemas.microsoft.com/office/drawing/2014/main" id="{A6A213BD-D436-C7C3-C8EE-E3A4A9A132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284D69-CB8C-534B-C095-A35743E5E5B0}"/>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469364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2B4C-1098-2802-0442-D0E51E67E5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A23F34D-870E-8DC1-598B-1762F8A0DB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EE0A7-BBAF-2233-467B-625B8CFB9A29}"/>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5" name="Footer Placeholder 4">
            <a:extLst>
              <a:ext uri="{FF2B5EF4-FFF2-40B4-BE49-F238E27FC236}">
                <a16:creationId xmlns:a16="http://schemas.microsoft.com/office/drawing/2014/main" id="{90D430A8-7160-0665-C208-0546D24358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8E552C-AC89-8B5D-4A60-D3E165E044B4}"/>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46507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2E1139-3DC8-BC3B-C3EE-117D75AEFF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8C2D33-561A-36F9-3B70-65A17D2FD3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AF82FA-EF0C-0083-5680-69BB521EE161}"/>
              </a:ext>
            </a:extLst>
          </p:cNvPr>
          <p:cNvSpPr>
            <a:spLocks noGrp="1"/>
          </p:cNvSpPr>
          <p:nvPr>
            <p:ph type="dt" sz="half" idx="10"/>
          </p:nvPr>
        </p:nvSpPr>
        <p:spPr/>
        <p:txBody>
          <a:bodyPr/>
          <a:lstStyle/>
          <a:p>
            <a:fld id="{3C1721C5-0DDF-4916-A157-FED36584DC2A}" type="datetimeFigureOut">
              <a:rPr lang="en-US" smtClean="0"/>
              <a:t>8/25/2025</a:t>
            </a:fld>
            <a:endParaRPr lang="en-US"/>
          </a:p>
        </p:txBody>
      </p:sp>
      <p:sp>
        <p:nvSpPr>
          <p:cNvPr id="5" name="Footer Placeholder 4">
            <a:extLst>
              <a:ext uri="{FF2B5EF4-FFF2-40B4-BE49-F238E27FC236}">
                <a16:creationId xmlns:a16="http://schemas.microsoft.com/office/drawing/2014/main" id="{8E98FB5E-06FB-5468-5FC2-0401CB9C1A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4D6B2-B478-5C80-DEC8-16DEF5CB58AC}"/>
              </a:ext>
            </a:extLst>
          </p:cNvPr>
          <p:cNvSpPr>
            <a:spLocks noGrp="1"/>
          </p:cNvSpPr>
          <p:nvPr>
            <p:ph type="sldNum" sz="quarter" idx="12"/>
          </p:nvPr>
        </p:nvSpPr>
        <p:spPr/>
        <p:txBody>
          <a:bodyPr/>
          <a:lstStyle/>
          <a:p>
            <a:fld id="{4BCFAAA7-BB36-42A1-BD43-0012117BBDBD}" type="slidenum">
              <a:rPr lang="en-US" smtClean="0"/>
              <a:t>‹#›</a:t>
            </a:fld>
            <a:endParaRPr lang="en-US"/>
          </a:p>
        </p:txBody>
      </p:sp>
    </p:spTree>
    <p:extLst>
      <p:ext uri="{BB962C8B-B14F-4D97-AF65-F5344CB8AC3E}">
        <p14:creationId xmlns:p14="http://schemas.microsoft.com/office/powerpoint/2010/main" val="32683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6A9DDD-2FF7-3346-EEBE-A6F43A0D3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0A5132-5EE0-8984-894A-F3D348B9A7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082E96-F410-129A-87AA-6901CB18AB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1721C5-0DDF-4916-A157-FED36584DC2A}" type="datetimeFigureOut">
              <a:rPr lang="en-US" smtClean="0"/>
              <a:t>8/25/2025</a:t>
            </a:fld>
            <a:endParaRPr lang="en-US"/>
          </a:p>
        </p:txBody>
      </p:sp>
      <p:sp>
        <p:nvSpPr>
          <p:cNvPr id="5" name="Footer Placeholder 4">
            <a:extLst>
              <a:ext uri="{FF2B5EF4-FFF2-40B4-BE49-F238E27FC236}">
                <a16:creationId xmlns:a16="http://schemas.microsoft.com/office/drawing/2014/main" id="{CD487D8D-B4C1-2F3D-770B-1691823E0C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F5D6BDB-2A24-7A88-5E52-9672682096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CFAAA7-BB36-42A1-BD43-0012117BBDBD}" type="slidenum">
              <a:rPr lang="en-US" smtClean="0"/>
              <a:t>‹#›</a:t>
            </a:fld>
            <a:endParaRPr lang="en-US"/>
          </a:p>
        </p:txBody>
      </p:sp>
    </p:spTree>
    <p:extLst>
      <p:ext uri="{BB962C8B-B14F-4D97-AF65-F5344CB8AC3E}">
        <p14:creationId xmlns:p14="http://schemas.microsoft.com/office/powerpoint/2010/main" val="268123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w3.org/TR/xml/" TargetMode="External"/><Relationship Id="rId2" Type="http://schemas.openxmlformats.org/officeDocument/2006/relationships/hyperlink" Target="https://www.json.or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4C113-00FC-84C5-6A3F-6CC554954CC5}"/>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99652EE4-1640-D68F-2C38-8894C8BEACB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1794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8816A-C539-737D-9828-97F0E4FDEF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C646EF-B2C1-CEC6-20BF-C73FC1BA5264}"/>
              </a:ext>
            </a:extLst>
          </p:cNvPr>
          <p:cNvSpPr>
            <a:spLocks noGrp="1"/>
          </p:cNvSpPr>
          <p:nvPr>
            <p:ph idx="1"/>
          </p:nvPr>
        </p:nvSpPr>
        <p:spPr/>
        <p:txBody>
          <a:bodyPr>
            <a:normAutofit fontScale="85000" lnSpcReduction="20000"/>
          </a:bodyPr>
          <a:lstStyle/>
          <a:p>
            <a:r>
              <a:rPr lang="en-US" dirty="0"/>
              <a:t>Raptor Clone Digital Twin Demo</a:t>
            </a:r>
          </a:p>
          <a:p>
            <a:r>
              <a:rPr lang="en-US" dirty="0"/>
              <a:t> </a:t>
            </a:r>
          </a:p>
          <a:p>
            <a:r>
              <a:rPr lang="en-US" dirty="0"/>
              <a:t>SOW - The purpose of this effort - known as team Raptor clone - is to create a scalable digital thread and digital twin for a selected engine part. This thread/twin capability can be scaled to other components, and other programs. This is expected to drive value to the program in terms of execution, understanding, and support to the customer, and to the customer in terms of fleet understanding and autonomous decision-making as desired. </a:t>
            </a:r>
          </a:p>
          <a:p>
            <a:r>
              <a:rPr lang="en-US" dirty="0"/>
              <a:t> </a:t>
            </a:r>
          </a:p>
          <a:p>
            <a:r>
              <a:rPr lang="en-US" dirty="0"/>
              <a:t>My Specific SOW - Deliverable: Aug 31, 2025: Review target information format and create an ontology / knowledge graph (KG) for the individual part. Desire is for ontology to also scale across multiple parts or systems in the future. Provide a solution to the team that is capable of answering decision support questions once the Knowledge graph is populated. </a:t>
            </a:r>
          </a:p>
          <a:p>
            <a:endParaRPr lang="en-US" dirty="0"/>
          </a:p>
        </p:txBody>
      </p:sp>
    </p:spTree>
    <p:extLst>
      <p:ext uri="{BB962C8B-B14F-4D97-AF65-F5344CB8AC3E}">
        <p14:creationId xmlns:p14="http://schemas.microsoft.com/office/powerpoint/2010/main" val="229882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A18AB-BE22-28A7-7127-C611E79695E6}"/>
              </a:ext>
            </a:extLst>
          </p:cNvPr>
          <p:cNvSpPr>
            <a:spLocks noGrp="1"/>
          </p:cNvSpPr>
          <p:nvPr>
            <p:ph type="title"/>
          </p:nvPr>
        </p:nvSpPr>
        <p:spPr/>
        <p:txBody>
          <a:bodyPr/>
          <a:lstStyle/>
          <a:p>
            <a:r>
              <a:rPr lang="en-US" dirty="0"/>
              <a:t>DSQs</a:t>
            </a:r>
          </a:p>
        </p:txBody>
      </p:sp>
      <p:sp>
        <p:nvSpPr>
          <p:cNvPr id="3" name="Content Placeholder 2">
            <a:extLst>
              <a:ext uri="{FF2B5EF4-FFF2-40B4-BE49-F238E27FC236}">
                <a16:creationId xmlns:a16="http://schemas.microsoft.com/office/drawing/2014/main" id="{AF001F3A-E1DB-0F2D-B4B7-1C984CFE8132}"/>
              </a:ext>
            </a:extLst>
          </p:cNvPr>
          <p:cNvSpPr>
            <a:spLocks noGrp="1"/>
          </p:cNvSpPr>
          <p:nvPr>
            <p:ph idx="1"/>
          </p:nvPr>
        </p:nvSpPr>
        <p:spPr/>
        <p:txBody>
          <a:bodyPr/>
          <a:lstStyle/>
          <a:p>
            <a:r>
              <a:rPr lang="en-US" dirty="0"/>
              <a:t>Scope and Purpose</a:t>
            </a:r>
          </a:p>
        </p:txBody>
      </p:sp>
    </p:spTree>
    <p:extLst>
      <p:ext uri="{BB962C8B-B14F-4D97-AF65-F5344CB8AC3E}">
        <p14:creationId xmlns:p14="http://schemas.microsoft.com/office/powerpoint/2010/main" val="2918381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AE3FC-2A9B-2A81-B6AB-37D8E88FB7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F03ADC-3814-4676-F5F7-042A5ACBC4CA}"/>
              </a:ext>
            </a:extLst>
          </p:cNvPr>
          <p:cNvSpPr>
            <a:spLocks noGrp="1"/>
          </p:cNvSpPr>
          <p:nvPr>
            <p:ph idx="1"/>
          </p:nvPr>
        </p:nvSpPr>
        <p:spPr/>
        <p:txBody>
          <a:bodyPr/>
          <a:lstStyle/>
          <a:p>
            <a:r>
              <a:rPr lang="en-US" dirty="0"/>
              <a:t>Physical Entities (what exists): - </a:t>
            </a:r>
            <a:r>
              <a:rPr lang="en-US" dirty="0" err="1"/>
              <a:t>EngineModule</a:t>
            </a:r>
            <a:r>
              <a:rPr lang="en-US" dirty="0"/>
              <a:t> (has SerialNo, </a:t>
            </a:r>
            <a:r>
              <a:rPr lang="en-US" dirty="0" err="1"/>
              <a:t>PartNo</a:t>
            </a:r>
            <a:r>
              <a:rPr lang="en-US" dirty="0"/>
              <a:t>) - </a:t>
            </a:r>
            <a:r>
              <a:rPr lang="en-US" dirty="0" err="1"/>
              <a:t>EngineSubModule</a:t>
            </a:r>
            <a:r>
              <a:rPr lang="en-US" dirty="0"/>
              <a:t> (has SerialNo, </a:t>
            </a:r>
            <a:r>
              <a:rPr lang="en-US" dirty="0" err="1"/>
              <a:t>PartNo</a:t>
            </a:r>
            <a:r>
              <a:rPr lang="en-US" dirty="0"/>
              <a:t>, NHA) </a:t>
            </a:r>
          </a:p>
          <a:p>
            <a:r>
              <a:rPr lang="en-US" dirty="0"/>
              <a:t>Functional Classifications (what role): - </a:t>
            </a:r>
            <a:r>
              <a:rPr lang="en-US" dirty="0" err="1"/>
              <a:t>ConfigurationItem</a:t>
            </a:r>
            <a:r>
              <a:rPr lang="en-US" dirty="0"/>
              <a:t> (</a:t>
            </a:r>
            <a:r>
              <a:rPr lang="en-US" dirty="0" err="1"/>
              <a:t>ConfigItem</a:t>
            </a:r>
            <a:r>
              <a:rPr lang="en-US" dirty="0"/>
              <a:t> field) - </a:t>
            </a:r>
            <a:r>
              <a:rPr lang="en-US" dirty="0" err="1"/>
              <a:t>PartNumber</a:t>
            </a:r>
            <a:r>
              <a:rPr lang="en-US" dirty="0"/>
              <a:t> (specific design) </a:t>
            </a:r>
          </a:p>
          <a:p>
            <a:r>
              <a:rPr lang="en-US" dirty="0"/>
              <a:t>Spatial Designations (where installed): - Position (installation slot/location) </a:t>
            </a:r>
          </a:p>
          <a:p>
            <a:r>
              <a:rPr lang="en-US" dirty="0"/>
              <a:t>Temporal Relationships (when): - Installation/Removal events - Configuration states over time</a:t>
            </a:r>
          </a:p>
        </p:txBody>
      </p:sp>
    </p:spTree>
    <p:extLst>
      <p:ext uri="{BB962C8B-B14F-4D97-AF65-F5344CB8AC3E}">
        <p14:creationId xmlns:p14="http://schemas.microsoft.com/office/powerpoint/2010/main" val="811730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12857-1232-6B13-F447-AA06C33D9A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DC9551C-F951-C4B6-FBC6-D49A2812F383}"/>
              </a:ext>
            </a:extLst>
          </p:cNvPr>
          <p:cNvSpPr>
            <a:spLocks noGrp="1"/>
          </p:cNvSpPr>
          <p:nvPr>
            <p:ph idx="1"/>
          </p:nvPr>
        </p:nvSpPr>
        <p:spPr/>
        <p:txBody>
          <a:bodyPr/>
          <a:lstStyle/>
          <a:p>
            <a:r>
              <a:rPr lang="en-US" dirty="0"/>
              <a:t>This separation is crucial because your decision support questions require tracking:</a:t>
            </a:r>
          </a:p>
          <a:p>
            <a:r>
              <a:rPr lang="en-US" b="1" dirty="0"/>
              <a:t>What</a:t>
            </a:r>
            <a:r>
              <a:rPr lang="en-US" dirty="0"/>
              <a:t> was installed (SerialNo)</a:t>
            </a:r>
          </a:p>
          <a:p>
            <a:r>
              <a:rPr lang="en-US" b="1" dirty="0"/>
              <a:t>Where</a:t>
            </a:r>
            <a:r>
              <a:rPr lang="en-US" dirty="0"/>
              <a:t> it was installed (Position)</a:t>
            </a:r>
          </a:p>
          <a:p>
            <a:r>
              <a:rPr lang="en-US" b="1" dirty="0"/>
              <a:t>When</a:t>
            </a:r>
            <a:r>
              <a:rPr lang="en-US" dirty="0"/>
              <a:t> it was installed (</a:t>
            </a:r>
            <a:r>
              <a:rPr lang="en-US" dirty="0" err="1"/>
              <a:t>Installation_Date</a:t>
            </a:r>
            <a:r>
              <a:rPr lang="en-US" dirty="0"/>
              <a:t>)</a:t>
            </a:r>
          </a:p>
          <a:p>
            <a:r>
              <a:rPr lang="en-US" b="1" dirty="0"/>
              <a:t>What type</a:t>
            </a:r>
            <a:r>
              <a:rPr lang="en-US" dirty="0"/>
              <a:t> it was (</a:t>
            </a:r>
            <a:r>
              <a:rPr lang="en-US" dirty="0" err="1"/>
              <a:t>ConfigItem</a:t>
            </a:r>
            <a:r>
              <a:rPr lang="en-US" dirty="0"/>
              <a:t>)</a:t>
            </a:r>
          </a:p>
          <a:p>
            <a:endParaRPr lang="en-US" dirty="0"/>
          </a:p>
        </p:txBody>
      </p:sp>
    </p:spTree>
    <p:extLst>
      <p:ext uri="{BB962C8B-B14F-4D97-AF65-F5344CB8AC3E}">
        <p14:creationId xmlns:p14="http://schemas.microsoft.com/office/powerpoint/2010/main" val="177986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7E7E9-F626-8F00-7DC9-9DA911CB793D}"/>
              </a:ext>
            </a:extLst>
          </p:cNvPr>
          <p:cNvSpPr>
            <a:spLocks noGrp="1"/>
          </p:cNvSpPr>
          <p:nvPr>
            <p:ph type="title"/>
          </p:nvPr>
        </p:nvSpPr>
        <p:spPr/>
        <p:txBody>
          <a:bodyPr/>
          <a:lstStyle/>
          <a:p>
            <a:r>
              <a:rPr lang="en-US" dirty="0"/>
              <a:t>BOM natural graph</a:t>
            </a:r>
          </a:p>
        </p:txBody>
      </p:sp>
      <p:sp>
        <p:nvSpPr>
          <p:cNvPr id="3" name="Content Placeholder 2">
            <a:extLst>
              <a:ext uri="{FF2B5EF4-FFF2-40B4-BE49-F238E27FC236}">
                <a16:creationId xmlns:a16="http://schemas.microsoft.com/office/drawing/2014/main" id="{1AD0455B-1440-571C-E0AF-013708DE7AE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49413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04BE1-5E21-C9B0-9747-87F29A4FAEBA}"/>
              </a:ext>
            </a:extLst>
          </p:cNvPr>
          <p:cNvSpPr>
            <a:spLocks noGrp="1"/>
          </p:cNvSpPr>
          <p:nvPr>
            <p:ph type="title"/>
          </p:nvPr>
        </p:nvSpPr>
        <p:spPr/>
        <p:txBody>
          <a:bodyPr/>
          <a:lstStyle/>
          <a:p>
            <a:r>
              <a:rPr lang="en-US" dirty="0"/>
              <a:t>CAD – STEP , QIF, natural graph fit</a:t>
            </a:r>
          </a:p>
        </p:txBody>
      </p:sp>
      <p:sp>
        <p:nvSpPr>
          <p:cNvPr id="3" name="Content Placeholder 2">
            <a:extLst>
              <a:ext uri="{FF2B5EF4-FFF2-40B4-BE49-F238E27FC236}">
                <a16:creationId xmlns:a16="http://schemas.microsoft.com/office/drawing/2014/main" id="{DF85CB63-871A-C5ED-7A14-F5EBD473FB5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07707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778D7-4817-7D18-D8AA-290EAABC0978}"/>
              </a:ext>
            </a:extLst>
          </p:cNvPr>
          <p:cNvSpPr>
            <a:spLocks noGrp="1"/>
          </p:cNvSpPr>
          <p:nvPr>
            <p:ph type="title"/>
          </p:nvPr>
        </p:nvSpPr>
        <p:spPr/>
        <p:txBody>
          <a:bodyPr/>
          <a:lstStyle/>
          <a:p>
            <a:r>
              <a:rPr lang="en-US" dirty="0"/>
              <a:t>XML, JSON – natural graph fit</a:t>
            </a:r>
          </a:p>
        </p:txBody>
      </p:sp>
      <p:sp>
        <p:nvSpPr>
          <p:cNvPr id="3" name="Content Placeholder 2">
            <a:extLst>
              <a:ext uri="{FF2B5EF4-FFF2-40B4-BE49-F238E27FC236}">
                <a16:creationId xmlns:a16="http://schemas.microsoft.com/office/drawing/2014/main" id="{407E148C-E2FC-19FA-B187-7E1B20A3FBA2}"/>
              </a:ext>
            </a:extLst>
          </p:cNvPr>
          <p:cNvSpPr>
            <a:spLocks noGrp="1"/>
          </p:cNvSpPr>
          <p:nvPr>
            <p:ph idx="1"/>
          </p:nvPr>
        </p:nvSpPr>
        <p:spPr/>
        <p:txBody>
          <a:bodyPr/>
          <a:lstStyle/>
          <a:p>
            <a:r>
              <a:rPr lang="en-US" b="1" dirty="0"/>
              <a:t>Hierarchical files</a:t>
            </a:r>
            <a:r>
              <a:rPr lang="en-US" dirty="0"/>
              <a:t>: </a:t>
            </a:r>
            <a:r>
              <a:rPr lang="en-US" dirty="0">
                <a:hlinkClick r:id="rId2"/>
              </a:rPr>
              <a:t>JSON</a:t>
            </a:r>
            <a:r>
              <a:rPr lang="en-US" dirty="0"/>
              <a:t>, </a:t>
            </a:r>
            <a:r>
              <a:rPr lang="en-US" dirty="0">
                <a:hlinkClick r:id="rId3"/>
              </a:rPr>
              <a:t>XML</a:t>
            </a:r>
            <a:r>
              <a:rPr lang="en-US" dirty="0"/>
              <a:t>.</a:t>
            </a:r>
          </a:p>
        </p:txBody>
      </p:sp>
    </p:spTree>
    <p:extLst>
      <p:ext uri="{BB962C8B-B14F-4D97-AF65-F5344CB8AC3E}">
        <p14:creationId xmlns:p14="http://schemas.microsoft.com/office/powerpoint/2010/main" val="3578856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6C809-1017-9B88-6C8B-1B6BF0BD7FE4}"/>
              </a:ext>
            </a:extLst>
          </p:cNvPr>
          <p:cNvSpPr>
            <a:spLocks noGrp="1"/>
          </p:cNvSpPr>
          <p:nvPr>
            <p:ph type="title"/>
          </p:nvPr>
        </p:nvSpPr>
        <p:spPr/>
        <p:txBody>
          <a:bodyPr/>
          <a:lstStyle/>
          <a:p>
            <a:r>
              <a:rPr lang="en-US" dirty="0"/>
              <a:t>x% data semi structured </a:t>
            </a:r>
            <a:r>
              <a:rPr lang="en-US" dirty="0" err="1"/>
              <a:t>json</a:t>
            </a:r>
            <a:r>
              <a:rPr lang="en-US" dirty="0"/>
              <a:t>, xml</a:t>
            </a:r>
          </a:p>
        </p:txBody>
      </p:sp>
      <p:sp>
        <p:nvSpPr>
          <p:cNvPr id="3" name="Content Placeholder 2">
            <a:extLst>
              <a:ext uri="{FF2B5EF4-FFF2-40B4-BE49-F238E27FC236}">
                <a16:creationId xmlns:a16="http://schemas.microsoft.com/office/drawing/2014/main" id="{A581EC49-B087-D984-B927-D0EC1AD5758C}"/>
              </a:ext>
            </a:extLst>
          </p:cNvPr>
          <p:cNvSpPr>
            <a:spLocks noGrp="1"/>
          </p:cNvSpPr>
          <p:nvPr>
            <p:ph idx="1"/>
          </p:nvPr>
        </p:nvSpPr>
        <p:spPr/>
        <p:txBody>
          <a:bodyPr/>
          <a:lstStyle/>
          <a:p>
            <a:r>
              <a:rPr lang="en-US" dirty="0"/>
              <a:t>Easy to have in graph</a:t>
            </a:r>
          </a:p>
          <a:p>
            <a:r>
              <a:rPr lang="en-US" dirty="0"/>
              <a:t>In tables need to flatten not optimal</a:t>
            </a:r>
          </a:p>
          <a:p>
            <a:r>
              <a:rPr lang="en-US" dirty="0"/>
              <a:t>Easy to search and connect to others in graph</a:t>
            </a:r>
          </a:p>
        </p:txBody>
      </p:sp>
    </p:spTree>
    <p:extLst>
      <p:ext uri="{BB962C8B-B14F-4D97-AF65-F5344CB8AC3E}">
        <p14:creationId xmlns:p14="http://schemas.microsoft.com/office/powerpoint/2010/main" val="1108588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B660B-8F4F-88D0-D783-2451176997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51B28C-A9A4-343D-67A5-BDBA2EB0B54A}"/>
              </a:ext>
            </a:extLst>
          </p:cNvPr>
          <p:cNvSpPr>
            <a:spLocks noGrp="1"/>
          </p:cNvSpPr>
          <p:nvPr>
            <p:ph idx="1"/>
          </p:nvPr>
        </p:nvSpPr>
        <p:spPr/>
        <p:txBody>
          <a:bodyPr>
            <a:normAutofit fontScale="25000" lnSpcReduction="20000"/>
          </a:bodyPr>
          <a:lstStyle/>
          <a:p>
            <a:r>
              <a:rPr lang="en-US" dirty="0"/>
              <a:t>The decision to convert semi-structured data like XML, JSON, and text files into a relational table or a semantic knowledge graph is not a one-size-fits-all solution. The optimal choice depends heavily on the nature of your data, your primary goals, and the applications you intend to build. Both approaches have distinct advantages and disadvantages. </a:t>
            </a:r>
          </a:p>
          <a:p>
            <a:endParaRPr lang="en-US" dirty="0"/>
          </a:p>
          <a:p>
            <a:r>
              <a:rPr lang="en-US" dirty="0"/>
              <a:t> ### Converting to a Relational Table: The Structured Approach </a:t>
            </a:r>
          </a:p>
          <a:p>
            <a:endParaRPr lang="en-US" dirty="0"/>
          </a:p>
          <a:p>
            <a:r>
              <a:rPr lang="en-US" dirty="0"/>
              <a:t> Relational databases store data in tables with rows and columns, enforcing a predefined schema. This model is ideal for data that is consistent and can be neatly organized. </a:t>
            </a:r>
          </a:p>
          <a:p>
            <a:endParaRPr lang="en-US" dirty="0"/>
          </a:p>
          <a:p>
            <a:r>
              <a:rPr lang="en-US" dirty="0"/>
              <a:t> **When is it a good idea?** </a:t>
            </a:r>
          </a:p>
          <a:p>
            <a:endParaRPr lang="en-US" dirty="0"/>
          </a:p>
          <a:p>
            <a:r>
              <a:rPr lang="en-US" dirty="0"/>
              <a:t> *   **Transactional Integrity:** If your application requires high levels of data consistency and integrity, such as in financial systems or inventory management, the ACID (Atomicity, Consistency, Isolation, Durability) properties of relational databases are crucial. </a:t>
            </a:r>
          </a:p>
          <a:p>
            <a:r>
              <a:rPr lang="en-US" dirty="0"/>
              <a:t> *   **Structured, Predictable Data:** When your XML, JSON, or text files have a consistent and predictable structure that can be easily mapped to tables, a relational database is a natural fit. </a:t>
            </a:r>
          </a:p>
          <a:p>
            <a:r>
              <a:rPr lang="en-US" dirty="0"/>
              <a:t> *   **Well-Defined Queries:** For applications with predefined, routine queries, such as generating standardized reports, SQL provides a powerful and efficient language for data retrieval. </a:t>
            </a:r>
          </a:p>
          <a:p>
            <a:r>
              <a:rPr lang="en-US" dirty="0"/>
              <a:t> *   **Legacy System Integration:** If you need to integrate with existing applications that already rely on a relational database, converting your data to this format is often the most straightforward path. </a:t>
            </a:r>
          </a:p>
          <a:p>
            <a:endParaRPr lang="en-US" dirty="0"/>
          </a:p>
          <a:p>
            <a:r>
              <a:rPr lang="en-US" dirty="0"/>
              <a:t> **What are the drawbacks?** </a:t>
            </a:r>
          </a:p>
          <a:p>
            <a:endParaRPr lang="en-US" dirty="0"/>
          </a:p>
          <a:p>
            <a:r>
              <a:rPr lang="en-US" dirty="0"/>
              <a:t> *   **Rigid Schema:** Relational databases have a rigid schema, meaning the data structure must be defined in advance. Adapting to changes in the source data, such as new fields in a JSON file, can be difficult and time-consuming. </a:t>
            </a:r>
          </a:p>
          <a:p>
            <a:r>
              <a:rPr lang="en-US" dirty="0"/>
              <a:t> *   **Complex Hierarchies:** Forcing deeply nested or complex hierarchical data from XML or JSON into a flat, tabular structure can lead to a proliferation of tables and complex joins. This process, often called "shredding," can make the data difficult to understand and query. </a:t>
            </a:r>
          </a:p>
          <a:p>
            <a:r>
              <a:rPr lang="en-US" dirty="0"/>
              <a:t> *   **Loss of Context:** The relationships and context inherent in a hierarchical or graph-like structure can be lost when the data is broken down into separate tables. </a:t>
            </a:r>
          </a:p>
          <a:p>
            <a:endParaRPr lang="en-US" dirty="0"/>
          </a:p>
          <a:p>
            <a:r>
              <a:rPr lang="en-US" dirty="0"/>
              <a:t> ### Converting to a Semantic Knowledge Graph: The Connected Approach </a:t>
            </a:r>
          </a:p>
          <a:p>
            <a:endParaRPr lang="en-US" dirty="0"/>
          </a:p>
          <a:p>
            <a:r>
              <a:rPr lang="en-US" dirty="0"/>
              <a:t> A semantic knowledge graph represents data as a network of entities (nodes) and the relationships between them (edges). This model excels at capturing the rich context and complex interconnections within your data. </a:t>
            </a:r>
          </a:p>
          <a:p>
            <a:endParaRPr lang="en-US" dirty="0"/>
          </a:p>
          <a:p>
            <a:r>
              <a:rPr lang="en-US" dirty="0"/>
              <a:t> **When is it a good idea?** </a:t>
            </a:r>
          </a:p>
          <a:p>
            <a:endParaRPr lang="en-US" dirty="0"/>
          </a:p>
          <a:p>
            <a:r>
              <a:rPr lang="en-US" dirty="0"/>
              <a:t> *   **Complex and Evolving Data:** Knowledge graphs are schema-free, making them highly flexible and adaptable to new or changing data without requiring a redesign of the entire model. </a:t>
            </a:r>
          </a:p>
          <a:p>
            <a:r>
              <a:rPr lang="en-US" dirty="0"/>
              <a:t> *   **Discovering Relationships and Insights:** The primary strength of a knowledge graph is its ability to uncover hidden patterns and complex relationships that are difficult to identify with relational models. This is ideal for applications like recommendation engines, fraud detection, and advanced search. </a:t>
            </a:r>
          </a:p>
          <a:p>
            <a:r>
              <a:rPr lang="en-US" dirty="0"/>
              <a:t> *   **Data Integration:** Knowledge graphs are excellent for integrating and harmonizing data from diverse and heterogeneous sources. They can create a unified view of structured, semi-structured, and even unstructured data. </a:t>
            </a:r>
          </a:p>
          <a:p>
            <a:r>
              <a:rPr lang="en-US" dirty="0"/>
              <a:t> *   **AI and Machine Learning:** The structure of a knowledge graph is well-suited for artificial intelligence and machine learning applications, as it provides rich, contextualized data for analysis and reasoning. </a:t>
            </a:r>
          </a:p>
          <a:p>
            <a:endParaRPr lang="en-US" dirty="0"/>
          </a:p>
          <a:p>
            <a:r>
              <a:rPr lang="en-US" dirty="0"/>
              <a:t> **What are the drawbacks?** </a:t>
            </a:r>
          </a:p>
          <a:p>
            <a:endParaRPr lang="en-US" dirty="0"/>
          </a:p>
          <a:p>
            <a:r>
              <a:rPr lang="en-US" dirty="0"/>
              <a:t> *   **Less Ideal for Transactional Systems:** While graph databases have improved, traditional relational databases are often still favored for high-volume, transactional operations. </a:t>
            </a:r>
          </a:p>
          <a:p>
            <a:r>
              <a:rPr lang="en-US" dirty="0"/>
              <a:t> *   **Querying Can Be Different:** Querying a knowledge graph typically involves graph-specific languages like SPARQL or Cypher, which may have a steeper learning curve for teams accustomed to SQL. </a:t>
            </a:r>
          </a:p>
          <a:p>
            <a:r>
              <a:rPr lang="en-US" dirty="0"/>
              <a:t> *   **Overkill for Simple Data:** For straightforward, tabular data with simple relationships, a knowledge graph might be an unnecessarily complex solution. </a:t>
            </a:r>
          </a:p>
          <a:p>
            <a:endParaRPr lang="en-US" dirty="0"/>
          </a:p>
          <a:p>
            <a:r>
              <a:rPr lang="en-US" dirty="0"/>
              <a:t> ### The Verdict: Relational Table vs. Knowledge Graph </a:t>
            </a:r>
          </a:p>
          <a:p>
            <a:endParaRPr lang="en-US" dirty="0"/>
          </a:p>
          <a:p>
            <a:r>
              <a:rPr lang="en-US" dirty="0"/>
              <a:t>| **Consideration** | **Relational Table is Likely a Better Fit** | **Semantic Knowledge Graph is Likely a Better Fit** |</a:t>
            </a:r>
          </a:p>
          <a:p>
            <a:r>
              <a:rPr lang="en-US" dirty="0"/>
              <a:t>| :--- | :--- | :--- |</a:t>
            </a:r>
          </a:p>
          <a:p>
            <a:r>
              <a:rPr lang="en-US" dirty="0"/>
              <a:t>| **Data Structure** | Consistent, predictable, and relatively flat. | Complex, hierarchical, and likely to change over time. |</a:t>
            </a:r>
          </a:p>
          <a:p>
            <a:r>
              <a:rPr lang="en-US" dirty="0"/>
              <a:t>| **Primary Goal** | Storing and retrieving data with high integrity for operational systems. | Discovering insights, understanding complex relationships, and integrating diverse data. |</a:t>
            </a:r>
          </a:p>
          <a:p>
            <a:r>
              <a:rPr lang="en-US" dirty="0"/>
              <a:t>| **Query Types** | Predefined and structured queries (e.g., standard reports). | Exploratory and complex queries that traverse many relationships. |</a:t>
            </a:r>
          </a:p>
          <a:p>
            <a:r>
              <a:rPr lang="en-US" dirty="0"/>
              <a:t>| **Flexibility** | A rigid, predefined schema is acceptable. | The ability to easily add new types of data and relationships is critical. |</a:t>
            </a:r>
          </a:p>
          <a:p>
            <a:r>
              <a:rPr lang="en-US" dirty="0"/>
              <a:t>| **Use Cases** | Financial applications, inventory management, e-commerce order processing. | Recommendation engines, fraud detection, enterprise search, and AI applications. |</a:t>
            </a:r>
          </a:p>
          <a:p>
            <a:endParaRPr lang="en-US" dirty="0"/>
          </a:p>
          <a:p>
            <a:r>
              <a:rPr lang="en-US" dirty="0"/>
              <a:t> It's also important to note that this doesn't have to be an either/or decision. A hybrid approach is often the most effective solution. For example, an e-commerce platform could use a relational database for managing customer orders and inventory while leveraging a knowledge graph to power a sophisticated product recommendation engine based on customer behavior and product relationships.</a:t>
            </a:r>
          </a:p>
        </p:txBody>
      </p:sp>
    </p:spTree>
    <p:extLst>
      <p:ext uri="{BB962C8B-B14F-4D97-AF65-F5344CB8AC3E}">
        <p14:creationId xmlns:p14="http://schemas.microsoft.com/office/powerpoint/2010/main" val="3877258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1EADB-C387-7EC0-8437-6C49C23465E1}"/>
              </a:ext>
            </a:extLst>
          </p:cNvPr>
          <p:cNvSpPr>
            <a:spLocks noGrp="1"/>
          </p:cNvSpPr>
          <p:nvPr>
            <p:ph type="title"/>
          </p:nvPr>
        </p:nvSpPr>
        <p:spPr/>
        <p:txBody>
          <a:bodyPr/>
          <a:lstStyle/>
          <a:p>
            <a:r>
              <a:rPr lang="en-US" dirty="0"/>
              <a:t>Synthetic data in pipeline</a:t>
            </a:r>
          </a:p>
        </p:txBody>
      </p:sp>
      <p:sp>
        <p:nvSpPr>
          <p:cNvPr id="3" name="Content Placeholder 2">
            <a:extLst>
              <a:ext uri="{FF2B5EF4-FFF2-40B4-BE49-F238E27FC236}">
                <a16:creationId xmlns:a16="http://schemas.microsoft.com/office/drawing/2014/main" id="{22A11E74-A213-4E10-C4A1-61BC06A2049F}"/>
              </a:ext>
            </a:extLst>
          </p:cNvPr>
          <p:cNvSpPr>
            <a:spLocks noGrp="1"/>
          </p:cNvSpPr>
          <p:nvPr>
            <p:ph idx="1"/>
          </p:nvPr>
        </p:nvSpPr>
        <p:spPr/>
        <p:txBody>
          <a:bodyPr>
            <a:normAutofit lnSpcReduction="10000"/>
          </a:bodyPr>
          <a:lstStyle/>
          <a:p>
            <a:r>
              <a:rPr lang="en-US" dirty="0"/>
              <a:t>https://pypi.org/project/ydata-sdk/</a:t>
            </a:r>
          </a:p>
          <a:p>
            <a:endParaRPr lang="en-US" dirty="0"/>
          </a:p>
          <a:p>
            <a:r>
              <a:rPr lang="en-US" dirty="0"/>
              <a:t>https://docs.sdk.ydata.ai/latest/</a:t>
            </a:r>
          </a:p>
          <a:p>
            <a:endParaRPr lang="en-US" dirty="0"/>
          </a:p>
          <a:p>
            <a:r>
              <a:rPr lang="en-US" dirty="0"/>
              <a:t>https://gretel.ai/</a:t>
            </a:r>
          </a:p>
          <a:p>
            <a:endParaRPr lang="en-US" dirty="0"/>
          </a:p>
          <a:p>
            <a:r>
              <a:rPr lang="en-US" dirty="0"/>
              <a:t>https://synthetics.docs.gretel.ai/en/stable/</a:t>
            </a:r>
          </a:p>
          <a:p>
            <a:endParaRPr lang="en-US" dirty="0"/>
          </a:p>
          <a:p>
            <a:r>
              <a:rPr lang="en-US" dirty="0"/>
              <a:t>https://fakerjs.dev/</a:t>
            </a:r>
            <a:r>
              <a:rPr lang="en-US"/>
              <a:t>guide/</a:t>
            </a:r>
            <a:endParaRPr lang="en-US" dirty="0"/>
          </a:p>
        </p:txBody>
      </p:sp>
    </p:spTree>
    <p:extLst>
      <p:ext uri="{BB962C8B-B14F-4D97-AF65-F5344CB8AC3E}">
        <p14:creationId xmlns:p14="http://schemas.microsoft.com/office/powerpoint/2010/main" val="3637831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FACD-A8ED-EF0C-2876-5329E0F10A70}"/>
              </a:ext>
            </a:extLst>
          </p:cNvPr>
          <p:cNvSpPr>
            <a:spLocks noGrp="1"/>
          </p:cNvSpPr>
          <p:nvPr>
            <p:ph type="title"/>
          </p:nvPr>
        </p:nvSpPr>
        <p:spPr/>
        <p:txBody>
          <a:bodyPr/>
          <a:lstStyle/>
          <a:p>
            <a:r>
              <a:rPr lang="en-US" dirty="0"/>
              <a:t>Semantic ETL</a:t>
            </a:r>
          </a:p>
        </p:txBody>
      </p:sp>
      <p:sp>
        <p:nvSpPr>
          <p:cNvPr id="4" name="Cylinder 3">
            <a:extLst>
              <a:ext uri="{FF2B5EF4-FFF2-40B4-BE49-F238E27FC236}">
                <a16:creationId xmlns:a16="http://schemas.microsoft.com/office/drawing/2014/main" id="{939A04E7-300B-D7C0-7A3F-A195BCBE3169}"/>
              </a:ext>
            </a:extLst>
          </p:cNvPr>
          <p:cNvSpPr/>
          <p:nvPr/>
        </p:nvSpPr>
        <p:spPr>
          <a:xfrm>
            <a:off x="568377" y="2578309"/>
            <a:ext cx="269823" cy="32978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ylinder 4">
            <a:extLst>
              <a:ext uri="{FF2B5EF4-FFF2-40B4-BE49-F238E27FC236}">
                <a16:creationId xmlns:a16="http://schemas.microsoft.com/office/drawing/2014/main" id="{4DF40F8D-A4F7-BCB7-D03A-F4BCCDF0569F}"/>
              </a:ext>
            </a:extLst>
          </p:cNvPr>
          <p:cNvSpPr/>
          <p:nvPr/>
        </p:nvSpPr>
        <p:spPr>
          <a:xfrm>
            <a:off x="568377" y="3013451"/>
            <a:ext cx="269823" cy="32978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ylinder 5">
            <a:extLst>
              <a:ext uri="{FF2B5EF4-FFF2-40B4-BE49-F238E27FC236}">
                <a16:creationId xmlns:a16="http://schemas.microsoft.com/office/drawing/2014/main" id="{00EE3AA4-C4F4-9C02-6FF3-763CA09D32DB}"/>
              </a:ext>
            </a:extLst>
          </p:cNvPr>
          <p:cNvSpPr/>
          <p:nvPr/>
        </p:nvSpPr>
        <p:spPr>
          <a:xfrm>
            <a:off x="568377" y="3514767"/>
            <a:ext cx="269823" cy="329783"/>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D5D0772-7BA5-5875-496C-28236CC633EA}"/>
              </a:ext>
            </a:extLst>
          </p:cNvPr>
          <p:cNvCxnSpPr/>
          <p:nvPr/>
        </p:nvCxnSpPr>
        <p:spPr>
          <a:xfrm>
            <a:off x="1239253" y="2743200"/>
            <a:ext cx="60157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D59A9DE-0589-A61E-ACBB-D9F520D17B57}"/>
              </a:ext>
            </a:extLst>
          </p:cNvPr>
          <p:cNvSpPr txBox="1"/>
          <p:nvPr/>
        </p:nvSpPr>
        <p:spPr>
          <a:xfrm>
            <a:off x="1594184" y="2039353"/>
            <a:ext cx="782053" cy="276999"/>
          </a:xfrm>
          <a:prstGeom prst="rect">
            <a:avLst/>
          </a:prstGeom>
          <a:noFill/>
        </p:spPr>
        <p:txBody>
          <a:bodyPr wrap="square" rtlCol="0">
            <a:spAutoFit/>
          </a:bodyPr>
          <a:lstStyle/>
          <a:p>
            <a:pPr algn="ctr"/>
            <a:r>
              <a:rPr lang="en-US" sz="1200" dirty="0"/>
              <a:t>Schema</a:t>
            </a:r>
          </a:p>
        </p:txBody>
      </p:sp>
    </p:spTree>
    <p:extLst>
      <p:ext uri="{BB962C8B-B14F-4D97-AF65-F5344CB8AC3E}">
        <p14:creationId xmlns:p14="http://schemas.microsoft.com/office/powerpoint/2010/main" val="3010411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A768D-0C25-6582-CAF8-BF7D079C982C}"/>
              </a:ext>
            </a:extLst>
          </p:cNvPr>
          <p:cNvSpPr>
            <a:spLocks noGrp="1"/>
          </p:cNvSpPr>
          <p:nvPr>
            <p:ph type="title"/>
          </p:nvPr>
        </p:nvSpPr>
        <p:spPr/>
        <p:txBody>
          <a:bodyPr/>
          <a:lstStyle/>
          <a:p>
            <a:r>
              <a:rPr lang="en-US" dirty="0"/>
              <a:t>DSQ</a:t>
            </a:r>
          </a:p>
        </p:txBody>
      </p:sp>
      <p:sp>
        <p:nvSpPr>
          <p:cNvPr id="3" name="Text Placeholder 2">
            <a:extLst>
              <a:ext uri="{FF2B5EF4-FFF2-40B4-BE49-F238E27FC236}">
                <a16:creationId xmlns:a16="http://schemas.microsoft.com/office/drawing/2014/main" id="{DD920B7E-E385-B4A5-AB93-F50ABE76DBD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31841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BD47C-7DE6-EC2A-E551-6921A7717C81}"/>
              </a:ext>
            </a:extLst>
          </p:cNvPr>
          <p:cNvSpPr>
            <a:spLocks noGrp="1"/>
          </p:cNvSpPr>
          <p:nvPr>
            <p:ph idx="1"/>
          </p:nvPr>
        </p:nvSpPr>
        <p:spPr>
          <a:xfrm>
            <a:off x="838200" y="457200"/>
            <a:ext cx="10515600" cy="6175948"/>
          </a:xfrm>
        </p:spPr>
        <p:txBody>
          <a:bodyPr>
            <a:normAutofit fontScale="55000" lnSpcReduction="20000"/>
          </a:bodyPr>
          <a:lstStyle/>
          <a:p>
            <a:r>
              <a:rPr lang="en-US" b="1" dirty="0"/>
              <a:t>DSQ 1: What part serial numbers were on the engine at a given time?</a:t>
            </a:r>
          </a:p>
          <a:p>
            <a:r>
              <a:rPr lang="en-US" dirty="0"/>
              <a:t>This question is about the configuration of a physical object at a specific point in time.</a:t>
            </a:r>
          </a:p>
          <a:p>
            <a:r>
              <a:rPr lang="en-US" b="1" dirty="0"/>
              <a:t>Key Concepts:</a:t>
            </a:r>
            <a:r>
              <a:rPr lang="en-US" dirty="0"/>
              <a:t> Part, Serial Number, Engine, Time.</a:t>
            </a:r>
          </a:p>
          <a:p>
            <a:r>
              <a:rPr lang="en-US" b="1" dirty="0"/>
              <a:t>Classes &amp; BFO/CCO/IOF Categorization:</a:t>
            </a:r>
            <a:endParaRPr lang="en-US" dirty="0"/>
          </a:p>
          <a:p>
            <a:pPr lvl="1"/>
            <a:r>
              <a:rPr lang="en-US" b="1" dirty="0"/>
              <a:t>Material Entities:</a:t>
            </a:r>
            <a:endParaRPr lang="en-US" dirty="0"/>
          </a:p>
          <a:p>
            <a:pPr lvl="2"/>
            <a:r>
              <a:rPr lang="en-US" dirty="0"/>
              <a:t>Engine: A subclass of </a:t>
            </a:r>
            <a:r>
              <a:rPr lang="en-US" dirty="0" err="1"/>
              <a:t>cco:Object</a:t>
            </a:r>
            <a:r>
              <a:rPr lang="en-US" dirty="0"/>
              <a:t>. It is the aggregate material entity.</a:t>
            </a:r>
          </a:p>
          <a:p>
            <a:pPr lvl="2"/>
            <a:r>
              <a:rPr lang="en-US" dirty="0"/>
              <a:t>Part: A subclass of </a:t>
            </a:r>
            <a:r>
              <a:rPr lang="en-US" dirty="0" err="1"/>
              <a:t>cco:Object</a:t>
            </a:r>
            <a:r>
              <a:rPr lang="en-US" dirty="0"/>
              <a:t>.</a:t>
            </a:r>
          </a:p>
          <a:p>
            <a:pPr lvl="1"/>
            <a:r>
              <a:rPr lang="en-US" b="1" dirty="0"/>
              <a:t>Processes / Activities / Events:</a:t>
            </a:r>
            <a:endParaRPr lang="en-US" dirty="0"/>
          </a:p>
          <a:p>
            <a:pPr lvl="2"/>
            <a:r>
              <a:rPr lang="en-US" dirty="0" err="1"/>
              <a:t>PartInstallation</a:t>
            </a:r>
            <a:r>
              <a:rPr lang="en-US" dirty="0"/>
              <a:t>: A subclass of </a:t>
            </a:r>
            <a:r>
              <a:rPr lang="en-US" dirty="0" err="1"/>
              <a:t>bfo:Process</a:t>
            </a:r>
            <a:r>
              <a:rPr lang="en-US" dirty="0"/>
              <a:t>. This event represents the act of installing a part onto an engine.</a:t>
            </a:r>
          </a:p>
          <a:p>
            <a:pPr lvl="2"/>
            <a:r>
              <a:rPr lang="en-US" dirty="0" err="1"/>
              <a:t>PartRemoval</a:t>
            </a:r>
            <a:r>
              <a:rPr lang="en-US" dirty="0"/>
              <a:t>: A subclass of </a:t>
            </a:r>
            <a:r>
              <a:rPr lang="en-US" dirty="0" err="1"/>
              <a:t>bfo:Process</a:t>
            </a:r>
            <a:r>
              <a:rPr lang="en-US" dirty="0"/>
              <a:t>. This event represents the act of removing a part.</a:t>
            </a:r>
          </a:p>
          <a:p>
            <a:pPr lvl="1"/>
            <a:r>
              <a:rPr lang="en-US" b="1" dirty="0"/>
              <a:t>Space and Time:</a:t>
            </a:r>
            <a:endParaRPr lang="en-US" dirty="0"/>
          </a:p>
          <a:p>
            <a:pPr lvl="2"/>
            <a:r>
              <a:rPr lang="en-US" dirty="0" err="1"/>
              <a:t>TemporalInterval</a:t>
            </a:r>
            <a:r>
              <a:rPr lang="en-US" dirty="0"/>
              <a:t>: A subclass of </a:t>
            </a:r>
            <a:r>
              <a:rPr lang="en-US" dirty="0" err="1"/>
              <a:t>bfo:TemporalRegion</a:t>
            </a:r>
            <a:r>
              <a:rPr lang="en-US" dirty="0"/>
              <a:t>. This will be associated with the installation/removal events.</a:t>
            </a:r>
          </a:p>
          <a:p>
            <a:pPr lvl="1"/>
            <a:r>
              <a:rPr lang="en-US" b="1" dirty="0"/>
              <a:t>Information Things:</a:t>
            </a:r>
            <a:endParaRPr lang="en-US" dirty="0"/>
          </a:p>
          <a:p>
            <a:pPr lvl="2"/>
            <a:r>
              <a:rPr lang="en-US" dirty="0" err="1"/>
              <a:t>SerialNumber</a:t>
            </a:r>
            <a:r>
              <a:rPr lang="en-US" dirty="0"/>
              <a:t>: A subclass of </a:t>
            </a:r>
            <a:r>
              <a:rPr lang="en-US" dirty="0" err="1"/>
              <a:t>cco:Identifier</a:t>
            </a:r>
            <a:r>
              <a:rPr lang="en-US" dirty="0"/>
              <a:t>, which is a subclass of </a:t>
            </a:r>
            <a:r>
              <a:rPr lang="en-US" dirty="0" err="1"/>
              <a:t>bfo:InformationContentEntity</a:t>
            </a:r>
            <a:r>
              <a:rPr lang="en-US" dirty="0"/>
              <a:t>. The serial number is the </a:t>
            </a:r>
            <a:r>
              <a:rPr lang="en-US" i="1" dirty="0"/>
              <a:t>information</a:t>
            </a:r>
            <a:r>
              <a:rPr lang="en-US" dirty="0"/>
              <a:t>, not the physical etching on the part.</a:t>
            </a:r>
          </a:p>
          <a:p>
            <a:r>
              <a:rPr lang="en-US" b="1" dirty="0"/>
              <a:t>Key Relationships (Object Properties):</a:t>
            </a:r>
            <a:endParaRPr lang="en-US" dirty="0"/>
          </a:p>
          <a:p>
            <a:pPr lvl="1"/>
            <a:r>
              <a:rPr lang="en-US" dirty="0"/>
              <a:t>Engine </a:t>
            </a:r>
            <a:r>
              <a:rPr lang="en-US" dirty="0" err="1"/>
              <a:t>cco:has_part</a:t>
            </a:r>
            <a:r>
              <a:rPr lang="en-US" dirty="0"/>
              <a:t> Part (This shows the current state, but the event-based model below is more robust for historical questions).</a:t>
            </a:r>
          </a:p>
          <a:p>
            <a:pPr lvl="1"/>
            <a:r>
              <a:rPr lang="en-US" dirty="0"/>
              <a:t>Part </a:t>
            </a:r>
            <a:r>
              <a:rPr lang="en-US" dirty="0" err="1"/>
              <a:t>cco:has_identifier</a:t>
            </a:r>
            <a:r>
              <a:rPr lang="en-US" dirty="0"/>
              <a:t> </a:t>
            </a:r>
            <a:r>
              <a:rPr lang="en-US" dirty="0" err="1"/>
              <a:t>SerialNumber</a:t>
            </a:r>
            <a:r>
              <a:rPr lang="en-US" dirty="0"/>
              <a:t>.</a:t>
            </a:r>
          </a:p>
          <a:p>
            <a:pPr lvl="1"/>
            <a:r>
              <a:rPr lang="en-US" dirty="0" err="1"/>
              <a:t>PartInstallation</a:t>
            </a:r>
            <a:r>
              <a:rPr lang="en-US" dirty="0"/>
              <a:t> </a:t>
            </a:r>
            <a:r>
              <a:rPr lang="en-US" dirty="0" err="1"/>
              <a:t>iof-core:has_participant</a:t>
            </a:r>
            <a:r>
              <a:rPr lang="en-US" dirty="0"/>
              <a:t> Engine.</a:t>
            </a:r>
          </a:p>
          <a:p>
            <a:pPr lvl="1"/>
            <a:r>
              <a:rPr lang="en-US" dirty="0" err="1"/>
              <a:t>PartInstallation</a:t>
            </a:r>
            <a:r>
              <a:rPr lang="en-US" dirty="0"/>
              <a:t> </a:t>
            </a:r>
            <a:r>
              <a:rPr lang="en-US" dirty="0" err="1"/>
              <a:t>iof-core:has_participant</a:t>
            </a:r>
            <a:r>
              <a:rPr lang="en-US" dirty="0"/>
              <a:t> Part.</a:t>
            </a:r>
          </a:p>
          <a:p>
            <a:pPr lvl="1"/>
            <a:r>
              <a:rPr lang="en-US" dirty="0" err="1"/>
              <a:t>PartInstallation</a:t>
            </a:r>
            <a:r>
              <a:rPr lang="en-US" dirty="0"/>
              <a:t> </a:t>
            </a:r>
            <a:r>
              <a:rPr lang="en-US" dirty="0" err="1"/>
              <a:t>cco:occurs_at</a:t>
            </a:r>
            <a:r>
              <a:rPr lang="en-US" dirty="0"/>
              <a:t> </a:t>
            </a:r>
            <a:r>
              <a:rPr lang="en-US" dirty="0" err="1"/>
              <a:t>TemporalInterval</a:t>
            </a:r>
            <a:r>
              <a:rPr lang="en-US" dirty="0"/>
              <a:t>.</a:t>
            </a:r>
          </a:p>
          <a:p>
            <a:pPr lvl="1"/>
            <a:r>
              <a:rPr lang="en-US" dirty="0"/>
              <a:t>(Similarly for </a:t>
            </a:r>
            <a:r>
              <a:rPr lang="en-US" dirty="0" err="1"/>
              <a:t>PartRemoval</a:t>
            </a:r>
            <a:r>
              <a:rPr lang="en-US" dirty="0"/>
              <a:t>).</a:t>
            </a:r>
          </a:p>
          <a:p>
            <a:r>
              <a:rPr lang="en-US" b="1" dirty="0"/>
              <a:t>Modeling Pattern &amp; Notes:</a:t>
            </a:r>
            <a:br>
              <a:rPr lang="en-US" dirty="0"/>
            </a:br>
            <a:r>
              <a:rPr lang="en-US" dirty="0"/>
              <a:t>Instead of just stating a part is </a:t>
            </a:r>
            <a:r>
              <a:rPr lang="en-US" dirty="0" err="1"/>
              <a:t>part_of</a:t>
            </a:r>
            <a:r>
              <a:rPr lang="en-US" dirty="0"/>
              <a:t> an engine, we model the </a:t>
            </a:r>
            <a:r>
              <a:rPr lang="en-US" i="1" dirty="0"/>
              <a:t>events</a:t>
            </a:r>
            <a:r>
              <a:rPr lang="en-US" dirty="0"/>
              <a:t> of installation and removal. To find the parts on an engine at time T, you query for all </a:t>
            </a:r>
            <a:r>
              <a:rPr lang="en-US" dirty="0" err="1"/>
              <a:t>PartInstallation</a:t>
            </a:r>
            <a:r>
              <a:rPr lang="en-US" dirty="0"/>
              <a:t> events that occurred before T for that engine, and subtract the parts whose </a:t>
            </a:r>
            <a:r>
              <a:rPr lang="en-US" dirty="0" err="1"/>
              <a:t>PartRemoval</a:t>
            </a:r>
            <a:r>
              <a:rPr lang="en-US" dirty="0"/>
              <a:t> events also occurred before T. This event-based history is crucial for configuration management.</a:t>
            </a:r>
          </a:p>
          <a:p>
            <a:endParaRPr lang="en-US" dirty="0"/>
          </a:p>
        </p:txBody>
      </p:sp>
    </p:spTree>
    <p:extLst>
      <p:ext uri="{BB962C8B-B14F-4D97-AF65-F5344CB8AC3E}">
        <p14:creationId xmlns:p14="http://schemas.microsoft.com/office/powerpoint/2010/main" val="2966578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F83BC7-7F51-F58A-F2FC-E88ABB37743D}"/>
              </a:ext>
            </a:extLst>
          </p:cNvPr>
          <p:cNvSpPr>
            <a:spLocks noGrp="1"/>
          </p:cNvSpPr>
          <p:nvPr>
            <p:ph idx="1"/>
          </p:nvPr>
        </p:nvSpPr>
        <p:spPr>
          <a:xfrm>
            <a:off x="568377" y="229172"/>
            <a:ext cx="10515600" cy="4351338"/>
          </a:xfrm>
        </p:spPr>
        <p:txBody>
          <a:bodyPr>
            <a:normAutofit fontScale="25000" lnSpcReduction="20000"/>
          </a:bodyPr>
          <a:lstStyle/>
          <a:p>
            <a:r>
              <a:rPr lang="en-US" dirty="0"/>
              <a:t>DSQ1: What part serial numbers were on the engine at a given time?</a:t>
            </a:r>
          </a:p>
          <a:p>
            <a:r>
              <a:rPr lang="en-US" dirty="0"/>
              <a:t>The core insight here is that the relationship "part is on engine" is not static. It is the result of a process (an installation) and is terminated by another process (a removal). Modeling these processes is the key to answering the question for any point in time.</a:t>
            </a:r>
          </a:p>
          <a:p>
            <a:r>
              <a:rPr lang="en-US" dirty="0"/>
              <a:t>1. Class Definitions</a:t>
            </a:r>
          </a:p>
          <a:p>
            <a:r>
              <a:rPr lang="en-US" dirty="0"/>
              <a:t>Here are the necessary classes, categorized as you requested.</a:t>
            </a:r>
          </a:p>
          <a:p>
            <a:r>
              <a:rPr lang="en-US" dirty="0"/>
              <a:t>A. Material Entities / Object Aggregates</a:t>
            </a:r>
          </a:p>
          <a:p>
            <a:r>
              <a:rPr lang="en-US" dirty="0"/>
              <a:t>These are the physical things that exist in the world.</a:t>
            </a:r>
          </a:p>
          <a:p>
            <a:r>
              <a:rPr lang="en-US" dirty="0"/>
              <a:t>    Engine</a:t>
            </a:r>
          </a:p>
          <a:p>
            <a:r>
              <a:rPr lang="en-US" dirty="0"/>
              <a:t>        Parent: </a:t>
            </a:r>
            <a:r>
              <a:rPr lang="en-US" dirty="0" err="1"/>
              <a:t>cco:ObjectAggregate</a:t>
            </a:r>
            <a:endParaRPr lang="en-US" dirty="0"/>
          </a:p>
          <a:p>
            <a:r>
              <a:rPr lang="en-US" dirty="0"/>
              <a:t>        Description: A complex physical object composed of multiple parts. Examples: PW F135 Jet Engine.</a:t>
            </a:r>
          </a:p>
          <a:p>
            <a:r>
              <a:rPr lang="en-US" dirty="0"/>
              <a:t>    Part</a:t>
            </a:r>
          </a:p>
          <a:p>
            <a:r>
              <a:rPr lang="en-US" dirty="0"/>
              <a:t>        Parent: </a:t>
            </a:r>
            <a:r>
              <a:rPr lang="en-US" dirty="0" err="1"/>
              <a:t>cco:Object</a:t>
            </a:r>
            <a:endParaRPr lang="en-US" dirty="0"/>
          </a:p>
          <a:p>
            <a:r>
              <a:rPr lang="en-US" dirty="0"/>
              <a:t>        Description: A single, identifiable component of an engine. It is the bearer of a serial number. Examples: a specific turbine blade, a fuel pump.</a:t>
            </a:r>
          </a:p>
          <a:p>
            <a:r>
              <a:rPr lang="en-US" dirty="0"/>
              <a:t>B. Processes / Activities / Events</a:t>
            </a:r>
          </a:p>
          <a:p>
            <a:r>
              <a:rPr lang="en-US" dirty="0"/>
              <a:t>These are the occurrences that change the state of the material entities.</a:t>
            </a:r>
          </a:p>
          <a:p>
            <a:r>
              <a:rPr lang="en-US" dirty="0"/>
              <a:t>    </a:t>
            </a:r>
            <a:r>
              <a:rPr lang="en-US" dirty="0" err="1"/>
              <a:t>PartConfigurationProcess</a:t>
            </a:r>
            <a:endParaRPr lang="en-US" dirty="0"/>
          </a:p>
          <a:p>
            <a:r>
              <a:rPr lang="en-US" dirty="0"/>
              <a:t>        Parent: </a:t>
            </a:r>
            <a:r>
              <a:rPr lang="en-US" dirty="0" err="1"/>
              <a:t>bfo:Process</a:t>
            </a:r>
            <a:endParaRPr lang="en-US" dirty="0"/>
          </a:p>
          <a:p>
            <a:r>
              <a:rPr lang="en-US" dirty="0"/>
              <a:t>        Description: An abstract parent class for any process that changes the composition of an object aggregate.</a:t>
            </a:r>
          </a:p>
          <a:p>
            <a:r>
              <a:rPr lang="en-US" dirty="0"/>
              <a:t>    </a:t>
            </a:r>
            <a:r>
              <a:rPr lang="en-US" dirty="0" err="1"/>
              <a:t>PartInstallation</a:t>
            </a:r>
            <a:endParaRPr lang="en-US" dirty="0"/>
          </a:p>
          <a:p>
            <a:r>
              <a:rPr lang="en-US" dirty="0"/>
              <a:t>        Parent: </a:t>
            </a:r>
            <a:r>
              <a:rPr lang="en-US" dirty="0" err="1"/>
              <a:t>PartConfigurationProcess</a:t>
            </a:r>
            <a:endParaRPr lang="en-US" dirty="0"/>
          </a:p>
          <a:p>
            <a:r>
              <a:rPr lang="en-US" dirty="0"/>
              <a:t>        Description: The specific event of attaching a Part to an Engine. This process has the part and the engine as participants and occurs over a specific time interval.</a:t>
            </a:r>
          </a:p>
          <a:p>
            <a:r>
              <a:rPr lang="en-US" dirty="0"/>
              <a:t>    </a:t>
            </a:r>
            <a:r>
              <a:rPr lang="en-US" dirty="0" err="1"/>
              <a:t>PartRemoval</a:t>
            </a:r>
            <a:endParaRPr lang="en-US" dirty="0"/>
          </a:p>
          <a:p>
            <a:r>
              <a:rPr lang="en-US" dirty="0"/>
              <a:t>        Parent: </a:t>
            </a:r>
            <a:r>
              <a:rPr lang="en-US" dirty="0" err="1"/>
              <a:t>PartConfigurationProcess</a:t>
            </a:r>
            <a:endParaRPr lang="en-US" dirty="0"/>
          </a:p>
          <a:p>
            <a:r>
              <a:rPr lang="en-US" dirty="0"/>
              <a:t>        Description: The specific event of detaching a Part from an Engine.</a:t>
            </a:r>
          </a:p>
          <a:p>
            <a:r>
              <a:rPr lang="en-US" dirty="0"/>
              <a:t>C. Space and Time</a:t>
            </a:r>
          </a:p>
          <a:p>
            <a:r>
              <a:rPr lang="en-US" dirty="0"/>
              <a:t>These entities contextualize the processes.</a:t>
            </a:r>
          </a:p>
          <a:p>
            <a:r>
              <a:rPr lang="en-US" dirty="0"/>
              <a:t>    </a:t>
            </a:r>
            <a:r>
              <a:rPr lang="en-US" dirty="0" err="1"/>
              <a:t>TemporalInterval</a:t>
            </a:r>
            <a:endParaRPr lang="en-US" dirty="0"/>
          </a:p>
          <a:p>
            <a:r>
              <a:rPr lang="en-US" dirty="0"/>
              <a:t>        Parent: </a:t>
            </a:r>
            <a:r>
              <a:rPr lang="en-US" dirty="0" err="1"/>
              <a:t>bfo:TemporalRegion</a:t>
            </a:r>
            <a:endParaRPr lang="en-US" dirty="0"/>
          </a:p>
          <a:p>
            <a:r>
              <a:rPr lang="en-US" dirty="0"/>
              <a:t>        Description: The specific period of time during which a process occurs. CCO provides properties to define start and end times (</a:t>
            </a:r>
            <a:r>
              <a:rPr lang="en-US" dirty="0" err="1"/>
              <a:t>cco:has_start_time</a:t>
            </a:r>
            <a:r>
              <a:rPr lang="en-US" dirty="0"/>
              <a:t>, </a:t>
            </a:r>
            <a:r>
              <a:rPr lang="en-US" dirty="0" err="1"/>
              <a:t>cco:has_end_time</a:t>
            </a:r>
            <a:r>
              <a:rPr lang="en-US" dirty="0"/>
              <a:t>).</a:t>
            </a:r>
          </a:p>
          <a:p>
            <a:r>
              <a:rPr lang="en-US" dirty="0"/>
              <a:t>    </a:t>
            </a:r>
            <a:r>
              <a:rPr lang="en-US" dirty="0" err="1"/>
              <a:t>MaintenanceSite</a:t>
            </a:r>
            <a:endParaRPr lang="en-US" dirty="0"/>
          </a:p>
          <a:p>
            <a:r>
              <a:rPr lang="en-US" dirty="0"/>
              <a:t>        Parent: </a:t>
            </a:r>
            <a:r>
              <a:rPr lang="en-US" dirty="0" err="1"/>
              <a:t>bfo:Site</a:t>
            </a:r>
            <a:endParaRPr lang="en-US" dirty="0"/>
          </a:p>
          <a:p>
            <a:r>
              <a:rPr lang="en-US" dirty="0"/>
              <a:t>        Description: The physical location where a configuration process (like an installation) takes place.</a:t>
            </a:r>
          </a:p>
          <a:p>
            <a:r>
              <a:rPr lang="en-US" dirty="0"/>
              <a:t>D. Information Things</a:t>
            </a:r>
          </a:p>
          <a:p>
            <a:r>
              <a:rPr lang="en-US" dirty="0"/>
              <a:t>These are informational artifacts that describe or identify material entities and processes.</a:t>
            </a:r>
          </a:p>
          <a:p>
            <a:r>
              <a:rPr lang="en-US" dirty="0"/>
              <a:t>    </a:t>
            </a:r>
            <a:r>
              <a:rPr lang="en-US" dirty="0" err="1"/>
              <a:t>SerialNumber</a:t>
            </a:r>
            <a:endParaRPr lang="en-US" dirty="0"/>
          </a:p>
          <a:p>
            <a:r>
              <a:rPr lang="en-US" dirty="0"/>
              <a:t>        Parent: </a:t>
            </a:r>
            <a:r>
              <a:rPr lang="en-US" dirty="0" err="1"/>
              <a:t>cco:Identifier</a:t>
            </a:r>
            <a:r>
              <a:rPr lang="en-US" dirty="0"/>
              <a:t> (which is a subclass of </a:t>
            </a:r>
            <a:r>
              <a:rPr lang="en-US" dirty="0" err="1"/>
              <a:t>bfo:InformationContentEntity</a:t>
            </a:r>
            <a:r>
              <a:rPr lang="en-US" dirty="0"/>
              <a:t>)</a:t>
            </a:r>
          </a:p>
          <a:p>
            <a:r>
              <a:rPr lang="en-US" dirty="0"/>
              <a:t>        Description: The unique string of characters that identifies a specific, individual Part. The serial number is information; the physical etching on the part is a quality of the part that denotes this information.</a:t>
            </a:r>
          </a:p>
          <a:p>
            <a:r>
              <a:rPr lang="en-US" dirty="0"/>
              <a:t>    </a:t>
            </a:r>
            <a:r>
              <a:rPr lang="en-US" dirty="0" err="1"/>
              <a:t>MaintenanceRecord</a:t>
            </a:r>
            <a:endParaRPr lang="en-US" dirty="0"/>
          </a:p>
          <a:p>
            <a:r>
              <a:rPr lang="en-US" dirty="0"/>
              <a:t>        Parent: </a:t>
            </a:r>
            <a:r>
              <a:rPr lang="en-US" dirty="0" err="1"/>
              <a:t>cco:InformationContentEntity</a:t>
            </a:r>
            <a:endParaRPr lang="en-US" dirty="0"/>
          </a:p>
          <a:p>
            <a:r>
              <a:rPr lang="en-US" dirty="0"/>
              <a:t>        Description: A report or log entry that is the output of a </a:t>
            </a:r>
            <a:r>
              <a:rPr lang="en-US" dirty="0" err="1"/>
              <a:t>PartConfigurationProcess</a:t>
            </a:r>
            <a:r>
              <a:rPr lang="en-US" dirty="0"/>
              <a:t>. It documents the event, including what part was installed/removed, on which engine, when, and by whom.</a:t>
            </a:r>
          </a:p>
          <a:p>
            <a:r>
              <a:rPr lang="en-US" dirty="0"/>
              <a:t>2. Relationships (Object Properties)</a:t>
            </a:r>
          </a:p>
          <a:p>
            <a:r>
              <a:rPr lang="en-US" dirty="0"/>
              <a:t>These properties connect the classes to form a coherent model.</a:t>
            </a:r>
          </a:p>
          <a:p>
            <a:r>
              <a:rPr lang="en-US" dirty="0"/>
              <a:t>    Connecting Participants to Processes:</a:t>
            </a:r>
          </a:p>
          <a:p>
            <a:r>
              <a:rPr lang="en-US" dirty="0"/>
              <a:t>        </a:t>
            </a:r>
            <a:r>
              <a:rPr lang="en-US" dirty="0" err="1"/>
              <a:t>PartInstallation</a:t>
            </a:r>
            <a:r>
              <a:rPr lang="en-US" dirty="0"/>
              <a:t> </a:t>
            </a:r>
            <a:r>
              <a:rPr lang="en-US" dirty="0" err="1"/>
              <a:t>iof-core:has_participant</a:t>
            </a:r>
            <a:r>
              <a:rPr lang="en-US" dirty="0"/>
              <a:t> Engine</a:t>
            </a:r>
          </a:p>
          <a:p>
            <a:r>
              <a:rPr lang="en-US" dirty="0"/>
              <a:t>        </a:t>
            </a:r>
            <a:r>
              <a:rPr lang="en-US" dirty="0" err="1"/>
              <a:t>PartInstallation</a:t>
            </a:r>
            <a:r>
              <a:rPr lang="en-US" dirty="0"/>
              <a:t> </a:t>
            </a:r>
            <a:r>
              <a:rPr lang="en-US" dirty="0" err="1"/>
              <a:t>iof-core:has_participant</a:t>
            </a:r>
            <a:r>
              <a:rPr lang="en-US" dirty="0"/>
              <a:t> Part</a:t>
            </a:r>
          </a:p>
          <a:p>
            <a:r>
              <a:rPr lang="en-US" dirty="0"/>
              <a:t>        (The same properties would apply to </a:t>
            </a:r>
            <a:r>
              <a:rPr lang="en-US" dirty="0" err="1"/>
              <a:t>PartRemoval</a:t>
            </a:r>
            <a:r>
              <a:rPr lang="en-US" dirty="0"/>
              <a:t>).</a:t>
            </a:r>
          </a:p>
          <a:p>
            <a:r>
              <a:rPr lang="en-US" dirty="0"/>
              <a:t>   Connecting Processes to Time and Space:</a:t>
            </a:r>
          </a:p>
          <a:p>
            <a:r>
              <a:rPr lang="en-US" dirty="0"/>
              <a:t>        </a:t>
            </a:r>
            <a:r>
              <a:rPr lang="en-US" dirty="0" err="1"/>
              <a:t>PartInstallation</a:t>
            </a:r>
            <a:r>
              <a:rPr lang="en-US" dirty="0"/>
              <a:t> </a:t>
            </a:r>
            <a:r>
              <a:rPr lang="en-US" dirty="0" err="1"/>
              <a:t>cco:occurs_at</a:t>
            </a:r>
            <a:r>
              <a:rPr lang="en-US" dirty="0"/>
              <a:t> </a:t>
            </a:r>
            <a:r>
              <a:rPr lang="en-US" dirty="0" err="1"/>
              <a:t>TemporalInterval</a:t>
            </a:r>
            <a:endParaRPr lang="en-US" dirty="0"/>
          </a:p>
          <a:p>
            <a:r>
              <a:rPr lang="en-US" dirty="0"/>
              <a:t>        </a:t>
            </a:r>
            <a:r>
              <a:rPr lang="en-US" dirty="0" err="1"/>
              <a:t>PartInstallation</a:t>
            </a:r>
            <a:r>
              <a:rPr lang="en-US" dirty="0"/>
              <a:t> </a:t>
            </a:r>
            <a:r>
              <a:rPr lang="en-US" dirty="0" err="1"/>
              <a:t>cco:occurs_at_site</a:t>
            </a:r>
            <a:r>
              <a:rPr lang="en-US" dirty="0"/>
              <a:t> </a:t>
            </a:r>
            <a:r>
              <a:rPr lang="en-US" dirty="0" err="1"/>
              <a:t>MaintenanceSite</a:t>
            </a:r>
            <a:endParaRPr lang="en-US" dirty="0"/>
          </a:p>
          <a:p>
            <a:r>
              <a:rPr lang="en-US" dirty="0"/>
              <a:t>    Connecting Information to Reality:</a:t>
            </a:r>
          </a:p>
          <a:p>
            <a:r>
              <a:rPr lang="en-US" dirty="0"/>
              <a:t>        Part </a:t>
            </a:r>
            <a:r>
              <a:rPr lang="en-US" dirty="0" err="1"/>
              <a:t>cco:has_identifier</a:t>
            </a:r>
            <a:r>
              <a:rPr lang="en-US" dirty="0"/>
              <a:t> </a:t>
            </a:r>
            <a:r>
              <a:rPr lang="en-US" dirty="0" err="1"/>
              <a:t>SerialNumber</a:t>
            </a:r>
            <a:r>
              <a:rPr lang="en-US" dirty="0"/>
              <a:t> (A Part is identified by a </a:t>
            </a:r>
            <a:r>
              <a:rPr lang="en-US" dirty="0" err="1"/>
              <a:t>SerialNumber</a:t>
            </a:r>
            <a:r>
              <a:rPr lang="en-US" dirty="0"/>
              <a:t>).</a:t>
            </a:r>
          </a:p>
          <a:p>
            <a:r>
              <a:rPr lang="en-US" dirty="0"/>
              <a:t>        </a:t>
            </a:r>
            <a:r>
              <a:rPr lang="en-US" dirty="0" err="1"/>
              <a:t>PartConfigurationProcess</a:t>
            </a:r>
            <a:r>
              <a:rPr lang="en-US" dirty="0"/>
              <a:t> </a:t>
            </a:r>
            <a:r>
              <a:rPr lang="en-US" dirty="0" err="1"/>
              <a:t>cco:has_output</a:t>
            </a:r>
            <a:r>
              <a:rPr lang="en-US" dirty="0"/>
              <a:t> </a:t>
            </a:r>
            <a:r>
              <a:rPr lang="en-US" dirty="0" err="1"/>
              <a:t>MaintenanceRecord</a:t>
            </a:r>
            <a:r>
              <a:rPr lang="en-US" dirty="0"/>
              <a:t> (The process generates a record).</a:t>
            </a:r>
          </a:p>
          <a:p>
            <a:r>
              <a:rPr lang="en-US" dirty="0"/>
              <a:t>        </a:t>
            </a:r>
            <a:r>
              <a:rPr lang="en-US" dirty="0" err="1"/>
              <a:t>MaintenanceRecord</a:t>
            </a:r>
            <a:r>
              <a:rPr lang="en-US" dirty="0"/>
              <a:t> </a:t>
            </a:r>
            <a:r>
              <a:rPr lang="en-US" dirty="0" err="1"/>
              <a:t>cco:is_about</a:t>
            </a:r>
            <a:r>
              <a:rPr lang="en-US" dirty="0"/>
              <a:t> </a:t>
            </a:r>
            <a:r>
              <a:rPr lang="en-US" dirty="0" err="1"/>
              <a:t>PartConfigurationProcess</a:t>
            </a:r>
            <a:r>
              <a:rPr lang="en-US" dirty="0"/>
              <a:t> (The record describes the event).</a:t>
            </a:r>
          </a:p>
          <a:p>
            <a:r>
              <a:rPr lang="en-US" dirty="0"/>
              <a:t>        </a:t>
            </a:r>
            <a:r>
              <a:rPr lang="en-US" dirty="0" err="1"/>
              <a:t>SerialNumber</a:t>
            </a:r>
            <a:r>
              <a:rPr lang="en-US" dirty="0"/>
              <a:t> </a:t>
            </a:r>
            <a:r>
              <a:rPr lang="en-US" dirty="0" err="1"/>
              <a:t>cco:denotes</a:t>
            </a:r>
            <a:r>
              <a:rPr lang="en-US" dirty="0"/>
              <a:t> Part (The information denotes the physical thing).</a:t>
            </a:r>
          </a:p>
        </p:txBody>
      </p:sp>
    </p:spTree>
    <p:extLst>
      <p:ext uri="{BB962C8B-B14F-4D97-AF65-F5344CB8AC3E}">
        <p14:creationId xmlns:p14="http://schemas.microsoft.com/office/powerpoint/2010/main" val="190839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D884B-BB75-5C13-D432-5A6537C6E3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7AD1A0-067C-67F9-014A-B74AF18AF7EC}"/>
              </a:ext>
            </a:extLst>
          </p:cNvPr>
          <p:cNvSpPr>
            <a:spLocks noGrp="1"/>
          </p:cNvSpPr>
          <p:nvPr>
            <p:ph idx="1"/>
          </p:nvPr>
        </p:nvSpPr>
        <p:spPr/>
        <p:txBody>
          <a:bodyPr>
            <a:normAutofit fontScale="40000" lnSpcReduction="20000"/>
          </a:bodyPr>
          <a:lstStyle/>
          <a:p>
            <a:r>
              <a:rPr lang="en-US" b="1" dirty="0"/>
              <a:t>DSQ 2: How many hours, cycles, etc., did a part get used?</a:t>
            </a:r>
          </a:p>
          <a:p>
            <a:r>
              <a:rPr lang="en-US" dirty="0"/>
              <a:t>This is about aggregating usage data that is generated by processes over time.</a:t>
            </a:r>
          </a:p>
          <a:p>
            <a:r>
              <a:rPr lang="en-US" b="1" dirty="0"/>
              <a:t>Key Concepts:</a:t>
            </a:r>
            <a:r>
              <a:rPr lang="en-US" dirty="0"/>
              <a:t> Hours, Cycles, Part, Usage.</a:t>
            </a:r>
          </a:p>
          <a:p>
            <a:r>
              <a:rPr lang="en-US" b="1" dirty="0"/>
              <a:t>Classes &amp; BFO/CCO/IOF Categorization:</a:t>
            </a:r>
            <a:endParaRPr lang="en-US" dirty="0"/>
          </a:p>
          <a:p>
            <a:pPr lvl="1"/>
            <a:r>
              <a:rPr lang="en-US" b="1" dirty="0"/>
              <a:t>Material Entities:</a:t>
            </a:r>
            <a:endParaRPr lang="en-US" dirty="0"/>
          </a:p>
          <a:p>
            <a:pPr lvl="2"/>
            <a:r>
              <a:rPr lang="en-US" dirty="0"/>
              <a:t>Part: A subclass of </a:t>
            </a:r>
            <a:r>
              <a:rPr lang="en-US" dirty="0" err="1"/>
              <a:t>cco:Object</a:t>
            </a:r>
            <a:r>
              <a:rPr lang="en-US" dirty="0"/>
              <a:t>.</a:t>
            </a:r>
          </a:p>
          <a:p>
            <a:pPr lvl="1"/>
            <a:r>
              <a:rPr lang="en-US" b="1" dirty="0"/>
              <a:t>Processes / Activities / Events:</a:t>
            </a:r>
            <a:endParaRPr lang="en-US" dirty="0"/>
          </a:p>
          <a:p>
            <a:pPr lvl="2"/>
            <a:r>
              <a:rPr lang="en-US" dirty="0"/>
              <a:t>Flight: A subclass of </a:t>
            </a:r>
            <a:r>
              <a:rPr lang="en-US" dirty="0" err="1"/>
              <a:t>bfo:Process</a:t>
            </a:r>
            <a:r>
              <a:rPr lang="en-US" dirty="0"/>
              <a:t>. Represents a single operational flight.</a:t>
            </a:r>
          </a:p>
          <a:p>
            <a:pPr lvl="2"/>
            <a:r>
              <a:rPr lang="en-US" dirty="0" err="1"/>
              <a:t>FlightCycle</a:t>
            </a:r>
            <a:r>
              <a:rPr lang="en-US" dirty="0"/>
              <a:t>: A subclass of </a:t>
            </a:r>
            <a:r>
              <a:rPr lang="en-US" dirty="0" err="1"/>
              <a:t>bfo:Process</a:t>
            </a:r>
            <a:r>
              <a:rPr lang="en-US" dirty="0"/>
              <a:t>. Could be a sub-process of a Flight.</a:t>
            </a:r>
          </a:p>
          <a:p>
            <a:pPr lvl="1"/>
            <a:r>
              <a:rPr lang="en-US" b="1" dirty="0"/>
              <a:t>Space and Time:</a:t>
            </a:r>
            <a:endParaRPr lang="en-US" dirty="0"/>
          </a:p>
          <a:p>
            <a:pPr lvl="2"/>
            <a:r>
              <a:rPr lang="en-US" dirty="0" err="1"/>
              <a:t>TemporalInterval</a:t>
            </a:r>
            <a:r>
              <a:rPr lang="en-US" dirty="0"/>
              <a:t>: To know the duration of each flight.</a:t>
            </a:r>
          </a:p>
          <a:p>
            <a:pPr lvl="1"/>
            <a:r>
              <a:rPr lang="en-US" b="1" dirty="0"/>
              <a:t>Information Things:</a:t>
            </a:r>
            <a:endParaRPr lang="en-US" dirty="0"/>
          </a:p>
          <a:p>
            <a:pPr lvl="2"/>
            <a:r>
              <a:rPr lang="en-US" dirty="0" err="1"/>
              <a:t>UsageMeasurement</a:t>
            </a:r>
            <a:r>
              <a:rPr lang="en-US" dirty="0"/>
              <a:t>: A subclass of </a:t>
            </a:r>
            <a:r>
              <a:rPr lang="en-US" dirty="0" err="1"/>
              <a:t>cco:MeasurementInformationContentEntity</a:t>
            </a:r>
            <a:r>
              <a:rPr lang="en-US" dirty="0"/>
              <a:t>. This entity holds the value of hours or cycles for a single event.</a:t>
            </a:r>
          </a:p>
          <a:p>
            <a:pPr lvl="2"/>
            <a:r>
              <a:rPr lang="en-US" dirty="0" err="1"/>
              <a:t>UsageGuideline</a:t>
            </a:r>
            <a:r>
              <a:rPr lang="en-US" dirty="0"/>
              <a:t>: A subclass of </a:t>
            </a:r>
            <a:r>
              <a:rPr lang="en-US" dirty="0" err="1"/>
              <a:t>cco:Guideline</a:t>
            </a:r>
            <a:r>
              <a:rPr lang="en-US" dirty="0"/>
              <a:t>, an </a:t>
            </a:r>
            <a:r>
              <a:rPr lang="en-US" dirty="0" err="1"/>
              <a:t>bfo:InformationContentEntity</a:t>
            </a:r>
            <a:r>
              <a:rPr lang="en-US" dirty="0"/>
              <a:t>. Represents "cycles since new" or "cycles since overhaul."</a:t>
            </a:r>
          </a:p>
          <a:p>
            <a:r>
              <a:rPr lang="en-US" b="1" dirty="0"/>
              <a:t>Key Relationships (Object Properties):</a:t>
            </a:r>
            <a:endParaRPr lang="en-US" dirty="0"/>
          </a:p>
          <a:p>
            <a:pPr lvl="1"/>
            <a:r>
              <a:rPr lang="en-US" dirty="0"/>
              <a:t>Flight </a:t>
            </a:r>
            <a:r>
              <a:rPr lang="en-US" dirty="0" err="1"/>
              <a:t>iof-core:has_participant</a:t>
            </a:r>
            <a:r>
              <a:rPr lang="en-US" dirty="0"/>
              <a:t> Part.</a:t>
            </a:r>
          </a:p>
          <a:p>
            <a:pPr lvl="1"/>
            <a:r>
              <a:rPr lang="en-US" dirty="0"/>
              <a:t>Flight </a:t>
            </a:r>
            <a:r>
              <a:rPr lang="en-US" dirty="0" err="1"/>
              <a:t>cco:has_output</a:t>
            </a:r>
            <a:r>
              <a:rPr lang="en-US" dirty="0"/>
              <a:t> </a:t>
            </a:r>
            <a:r>
              <a:rPr lang="en-US" dirty="0" err="1"/>
              <a:t>UsageMeasurement</a:t>
            </a:r>
            <a:r>
              <a:rPr lang="en-US" dirty="0"/>
              <a:t>.</a:t>
            </a:r>
          </a:p>
          <a:p>
            <a:pPr lvl="1"/>
            <a:r>
              <a:rPr lang="en-US" dirty="0" err="1"/>
              <a:t>UsageMeasurement</a:t>
            </a:r>
            <a:r>
              <a:rPr lang="en-US" dirty="0"/>
              <a:t> </a:t>
            </a:r>
            <a:r>
              <a:rPr lang="en-US" dirty="0" err="1"/>
              <a:t>cco:is_about</a:t>
            </a:r>
            <a:r>
              <a:rPr lang="en-US" dirty="0"/>
              <a:t> Part.</a:t>
            </a:r>
          </a:p>
          <a:p>
            <a:pPr lvl="1"/>
            <a:r>
              <a:rPr lang="en-US" dirty="0" err="1"/>
              <a:t>UsageMeasurement</a:t>
            </a:r>
            <a:r>
              <a:rPr lang="en-US" dirty="0"/>
              <a:t> </a:t>
            </a:r>
            <a:r>
              <a:rPr lang="en-US" dirty="0" err="1"/>
              <a:t>cco:has_value</a:t>
            </a:r>
            <a:r>
              <a:rPr lang="en-US" dirty="0"/>
              <a:t> </a:t>
            </a:r>
            <a:r>
              <a:rPr lang="en-US" dirty="0" err="1"/>
              <a:t>xsd:decimal</a:t>
            </a:r>
            <a:r>
              <a:rPr lang="en-US" dirty="0"/>
              <a:t> (a data property with the value, e.g., "1.5" hours).</a:t>
            </a:r>
          </a:p>
          <a:p>
            <a:pPr lvl="1"/>
            <a:r>
              <a:rPr lang="en-US" dirty="0" err="1"/>
              <a:t>UsageMeasurement</a:t>
            </a:r>
            <a:r>
              <a:rPr lang="en-US" dirty="0"/>
              <a:t> </a:t>
            </a:r>
            <a:r>
              <a:rPr lang="en-US" dirty="0" err="1"/>
              <a:t>cco:is_measured_in</a:t>
            </a:r>
            <a:r>
              <a:rPr lang="en-US" dirty="0"/>
              <a:t> </a:t>
            </a:r>
            <a:r>
              <a:rPr lang="en-US" dirty="0" err="1"/>
              <a:t>cco:UnitOfMeasure</a:t>
            </a:r>
            <a:r>
              <a:rPr lang="en-US" dirty="0"/>
              <a:t> (e.g., an instance representing "hours").</a:t>
            </a:r>
          </a:p>
          <a:p>
            <a:r>
              <a:rPr lang="en-US" b="1" dirty="0"/>
              <a:t>Modeling Pattern &amp; Notes:</a:t>
            </a:r>
            <a:br>
              <a:rPr lang="en-US" dirty="0"/>
            </a:br>
            <a:r>
              <a:rPr lang="en-US" dirty="0"/>
              <a:t>The ontology doesn't store the </a:t>
            </a:r>
            <a:r>
              <a:rPr lang="en-US" i="1" dirty="0"/>
              <a:t>total</a:t>
            </a:r>
            <a:r>
              <a:rPr lang="en-US" dirty="0"/>
              <a:t> hours. It stores </a:t>
            </a:r>
            <a:r>
              <a:rPr lang="en-US" i="1" dirty="0"/>
              <a:t>each individual usage event</a:t>
            </a:r>
            <a:r>
              <a:rPr lang="en-US" dirty="0"/>
              <a:t> (Flight, </a:t>
            </a:r>
            <a:r>
              <a:rPr lang="en-US" dirty="0" err="1"/>
              <a:t>FlightCycle</a:t>
            </a:r>
            <a:r>
              <a:rPr lang="en-US" dirty="0"/>
              <a:t>). The total usage is then calculated by a query (e.g., a SPARQL query) that finds all Flight processes a Part participated in and sums the </a:t>
            </a:r>
            <a:r>
              <a:rPr lang="en-US" dirty="0" err="1"/>
              <a:t>UsageMeasurement</a:t>
            </a:r>
            <a:r>
              <a:rPr lang="en-US" dirty="0"/>
              <a:t> values associated with them. This is more flexible, as you can query for usage within any arbitrary time frame.</a:t>
            </a:r>
          </a:p>
          <a:p>
            <a:endParaRPr lang="en-US" dirty="0"/>
          </a:p>
        </p:txBody>
      </p:sp>
    </p:spTree>
    <p:extLst>
      <p:ext uri="{BB962C8B-B14F-4D97-AF65-F5344CB8AC3E}">
        <p14:creationId xmlns:p14="http://schemas.microsoft.com/office/powerpoint/2010/main" val="2476230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D3824-00D6-B5EA-896B-997663C723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382D60-CF1B-821E-2479-AB93EBBA890F}"/>
              </a:ext>
            </a:extLst>
          </p:cNvPr>
          <p:cNvSpPr>
            <a:spLocks noGrp="1"/>
          </p:cNvSpPr>
          <p:nvPr>
            <p:ph idx="1"/>
          </p:nvPr>
        </p:nvSpPr>
        <p:spPr/>
        <p:txBody>
          <a:bodyPr>
            <a:normAutofit fontScale="40000" lnSpcReduction="20000"/>
          </a:bodyPr>
          <a:lstStyle/>
          <a:p>
            <a:r>
              <a:rPr lang="en-US" b="1" dirty="0"/>
              <a:t>DSQ 5 &amp; 6: What base locations correlate with changes in coating loss?</a:t>
            </a:r>
          </a:p>
          <a:p>
            <a:r>
              <a:rPr lang="en-US" dirty="0"/>
              <a:t>This question links environmental/locational data with material degradation data.</a:t>
            </a:r>
          </a:p>
          <a:p>
            <a:r>
              <a:rPr lang="en-US" b="1" dirty="0"/>
              <a:t>Key Concepts:</a:t>
            </a:r>
            <a:r>
              <a:rPr lang="en-US" dirty="0"/>
              <a:t> Base Location, Coating, Coating Loss, Change.</a:t>
            </a:r>
          </a:p>
          <a:p>
            <a:r>
              <a:rPr lang="en-US" b="1" dirty="0"/>
              <a:t>Classes &amp; BFO/CCO/IOF Categorization:</a:t>
            </a:r>
            <a:endParaRPr lang="en-US" dirty="0"/>
          </a:p>
          <a:p>
            <a:pPr lvl="1"/>
            <a:r>
              <a:rPr lang="en-US" b="1" dirty="0"/>
              <a:t>Material Entities:</a:t>
            </a:r>
            <a:endParaRPr lang="en-US" dirty="0"/>
          </a:p>
          <a:p>
            <a:pPr lvl="2"/>
            <a:r>
              <a:rPr lang="en-US" dirty="0"/>
              <a:t>Coating: A subclass of </a:t>
            </a:r>
            <a:r>
              <a:rPr lang="en-US" dirty="0" err="1"/>
              <a:t>cco:Object</a:t>
            </a:r>
            <a:r>
              <a:rPr lang="en-US" dirty="0"/>
              <a:t>, which is </a:t>
            </a:r>
            <a:r>
              <a:rPr lang="en-US" dirty="0" err="1"/>
              <a:t>part_of</a:t>
            </a:r>
            <a:r>
              <a:rPr lang="en-US" dirty="0"/>
              <a:t> a Part.</a:t>
            </a:r>
          </a:p>
          <a:p>
            <a:pPr lvl="1"/>
            <a:r>
              <a:rPr lang="en-US" b="1" dirty="0"/>
              <a:t>Processes / Activities / Events:</a:t>
            </a:r>
            <a:endParaRPr lang="en-US" dirty="0"/>
          </a:p>
          <a:p>
            <a:pPr lvl="2"/>
            <a:r>
              <a:rPr lang="en-US" dirty="0" err="1"/>
              <a:t>CoatingInspection</a:t>
            </a:r>
            <a:r>
              <a:rPr lang="en-US" dirty="0"/>
              <a:t>: A subclass of </a:t>
            </a:r>
            <a:r>
              <a:rPr lang="en-US" dirty="0" err="1"/>
              <a:t>bfo:Process</a:t>
            </a:r>
            <a:r>
              <a:rPr lang="en-US" dirty="0"/>
              <a:t>. The event where coating loss is measured.</a:t>
            </a:r>
          </a:p>
          <a:p>
            <a:pPr lvl="2"/>
            <a:r>
              <a:rPr lang="en-US" dirty="0" err="1"/>
              <a:t>EngineOperation</a:t>
            </a:r>
            <a:r>
              <a:rPr lang="en-US" dirty="0"/>
              <a:t>: A subclass of </a:t>
            </a:r>
            <a:r>
              <a:rPr lang="en-US" dirty="0" err="1"/>
              <a:t>bfo:Process</a:t>
            </a:r>
            <a:r>
              <a:rPr lang="en-US" dirty="0"/>
              <a:t>. The period of time an engine is operating at a base.</a:t>
            </a:r>
          </a:p>
          <a:p>
            <a:pPr lvl="1"/>
            <a:r>
              <a:rPr lang="en-US" b="1" dirty="0"/>
              <a:t>Space and Time:</a:t>
            </a:r>
            <a:endParaRPr lang="en-US" dirty="0"/>
          </a:p>
          <a:p>
            <a:pPr lvl="2"/>
            <a:r>
              <a:rPr lang="en-US" dirty="0"/>
              <a:t>Site: A subclass of </a:t>
            </a:r>
            <a:r>
              <a:rPr lang="en-US" dirty="0" err="1"/>
              <a:t>bfo:Site</a:t>
            </a:r>
            <a:r>
              <a:rPr lang="en-US" dirty="0"/>
              <a:t>.</a:t>
            </a:r>
          </a:p>
          <a:p>
            <a:pPr lvl="2"/>
            <a:r>
              <a:rPr lang="en-US" dirty="0" err="1"/>
              <a:t>BaseLocation</a:t>
            </a:r>
            <a:r>
              <a:rPr lang="en-US" dirty="0"/>
              <a:t>: A subclass of Site. Represents the physical air force base.</a:t>
            </a:r>
          </a:p>
          <a:p>
            <a:pPr lvl="1"/>
            <a:r>
              <a:rPr lang="en-US" b="1" dirty="0"/>
              <a:t>Information Things:</a:t>
            </a:r>
            <a:endParaRPr lang="en-US" dirty="0"/>
          </a:p>
          <a:p>
            <a:pPr lvl="2"/>
            <a:r>
              <a:rPr lang="en-US" dirty="0" err="1"/>
              <a:t>CoatingLossData</a:t>
            </a:r>
            <a:r>
              <a:rPr lang="en-US" dirty="0"/>
              <a:t>: A subclass of </a:t>
            </a:r>
            <a:r>
              <a:rPr lang="en-US" dirty="0" err="1"/>
              <a:t>cco:MeasurementInformationContentEntity</a:t>
            </a:r>
            <a:r>
              <a:rPr lang="en-US" dirty="0"/>
              <a:t>. The output of the </a:t>
            </a:r>
            <a:r>
              <a:rPr lang="en-US" dirty="0" err="1"/>
              <a:t>CoatingInspection</a:t>
            </a:r>
            <a:r>
              <a:rPr lang="en-US" dirty="0"/>
              <a:t>.</a:t>
            </a:r>
          </a:p>
          <a:p>
            <a:r>
              <a:rPr lang="en-US" b="1" dirty="0"/>
              <a:t>Key Relationships (Object Properties):</a:t>
            </a:r>
            <a:endParaRPr lang="en-US" dirty="0"/>
          </a:p>
          <a:p>
            <a:pPr lvl="1"/>
            <a:r>
              <a:rPr lang="en-US" dirty="0" err="1"/>
              <a:t>EngineOperation</a:t>
            </a:r>
            <a:r>
              <a:rPr lang="en-US" dirty="0"/>
              <a:t> </a:t>
            </a:r>
            <a:r>
              <a:rPr lang="en-US" dirty="0" err="1"/>
              <a:t>cco:occurs_at</a:t>
            </a:r>
            <a:r>
              <a:rPr lang="en-US" dirty="0"/>
              <a:t> </a:t>
            </a:r>
            <a:r>
              <a:rPr lang="en-US" dirty="0" err="1"/>
              <a:t>BaseLocation</a:t>
            </a:r>
            <a:r>
              <a:rPr lang="en-US" dirty="0"/>
              <a:t>.</a:t>
            </a:r>
          </a:p>
          <a:p>
            <a:pPr lvl="1"/>
            <a:r>
              <a:rPr lang="en-US" dirty="0" err="1"/>
              <a:t>EngineOperation</a:t>
            </a:r>
            <a:r>
              <a:rPr lang="en-US" dirty="0"/>
              <a:t> </a:t>
            </a:r>
            <a:r>
              <a:rPr lang="en-US" dirty="0" err="1"/>
              <a:t>iof-core:has_participant</a:t>
            </a:r>
            <a:r>
              <a:rPr lang="en-US" dirty="0"/>
              <a:t> Engine.</a:t>
            </a:r>
          </a:p>
          <a:p>
            <a:pPr lvl="1"/>
            <a:r>
              <a:rPr lang="en-US" dirty="0" err="1"/>
              <a:t>CoatingInspection</a:t>
            </a:r>
            <a:r>
              <a:rPr lang="en-US" dirty="0"/>
              <a:t> </a:t>
            </a:r>
            <a:r>
              <a:rPr lang="en-US" dirty="0" err="1"/>
              <a:t>cco:has_input</a:t>
            </a:r>
            <a:r>
              <a:rPr lang="en-US" dirty="0"/>
              <a:t> Coating (inspecting the physical coating).</a:t>
            </a:r>
          </a:p>
          <a:p>
            <a:pPr lvl="1"/>
            <a:r>
              <a:rPr lang="en-US" dirty="0" err="1"/>
              <a:t>CoatingInspection</a:t>
            </a:r>
            <a:r>
              <a:rPr lang="en-US" dirty="0"/>
              <a:t> </a:t>
            </a:r>
            <a:r>
              <a:rPr lang="en-US" dirty="0" err="1"/>
              <a:t>cco:has_output</a:t>
            </a:r>
            <a:r>
              <a:rPr lang="en-US" dirty="0"/>
              <a:t> </a:t>
            </a:r>
            <a:r>
              <a:rPr lang="en-US" dirty="0" err="1"/>
              <a:t>CoatingLossData</a:t>
            </a:r>
            <a:r>
              <a:rPr lang="en-US" dirty="0"/>
              <a:t>.</a:t>
            </a:r>
          </a:p>
          <a:p>
            <a:pPr lvl="1"/>
            <a:r>
              <a:rPr lang="en-US" dirty="0" err="1"/>
              <a:t>CoatingInspection</a:t>
            </a:r>
            <a:r>
              <a:rPr lang="en-US" dirty="0"/>
              <a:t> </a:t>
            </a:r>
            <a:r>
              <a:rPr lang="en-US" dirty="0" err="1"/>
              <a:t>cco:occurs_at</a:t>
            </a:r>
            <a:r>
              <a:rPr lang="en-US" dirty="0"/>
              <a:t> </a:t>
            </a:r>
            <a:r>
              <a:rPr lang="en-US" dirty="0" err="1"/>
              <a:t>BaseLocation</a:t>
            </a:r>
            <a:r>
              <a:rPr lang="en-US" dirty="0"/>
              <a:t> (or can be inferred from the engine's operational history).</a:t>
            </a:r>
          </a:p>
          <a:p>
            <a:r>
              <a:rPr lang="en-US" b="1" dirty="0"/>
              <a:t>Modeling Pattern &amp; Notes:</a:t>
            </a:r>
            <a:br>
              <a:rPr lang="en-US" dirty="0"/>
            </a:br>
            <a:r>
              <a:rPr lang="en-US" dirty="0"/>
              <a:t>By linking </a:t>
            </a:r>
            <a:r>
              <a:rPr lang="en-US" dirty="0" err="1"/>
              <a:t>EngineOperation</a:t>
            </a:r>
            <a:r>
              <a:rPr lang="en-US" dirty="0"/>
              <a:t> events to a </a:t>
            </a:r>
            <a:r>
              <a:rPr lang="en-US" dirty="0" err="1"/>
              <a:t>BaseLocation</a:t>
            </a:r>
            <a:r>
              <a:rPr lang="en-US" dirty="0"/>
              <a:t>, and also linking </a:t>
            </a:r>
            <a:r>
              <a:rPr lang="en-US" dirty="0" err="1"/>
              <a:t>CoatingInspection</a:t>
            </a:r>
            <a:r>
              <a:rPr lang="en-US" dirty="0"/>
              <a:t> events (and their resulting </a:t>
            </a:r>
            <a:r>
              <a:rPr lang="en-US" dirty="0" err="1"/>
              <a:t>CoatingLossData</a:t>
            </a:r>
            <a:r>
              <a:rPr lang="en-US" dirty="0"/>
              <a:t>) to the engine's timeline, you create a dataset where you can correlate location with measurement data. A query can retrieve a time-series of coating loss measurements for an engine and align it with the sequence of bases where that engine operated.</a:t>
            </a:r>
          </a:p>
          <a:p>
            <a:endParaRPr lang="en-US" dirty="0"/>
          </a:p>
        </p:txBody>
      </p:sp>
    </p:spTree>
    <p:extLst>
      <p:ext uri="{BB962C8B-B14F-4D97-AF65-F5344CB8AC3E}">
        <p14:creationId xmlns:p14="http://schemas.microsoft.com/office/powerpoint/2010/main" val="1266502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864EA-9A47-70E8-5B24-855890C152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D57929-6979-F61C-CD81-CC39BE9DB64A}"/>
              </a:ext>
            </a:extLst>
          </p:cNvPr>
          <p:cNvSpPr>
            <a:spLocks noGrp="1"/>
          </p:cNvSpPr>
          <p:nvPr>
            <p:ph idx="1"/>
          </p:nvPr>
        </p:nvSpPr>
        <p:spPr/>
        <p:txBody>
          <a:bodyPr>
            <a:normAutofit fontScale="32500" lnSpcReduction="20000"/>
          </a:bodyPr>
          <a:lstStyle/>
          <a:p>
            <a:r>
              <a:rPr lang="en-US" b="1" dirty="0"/>
              <a:t>DSQ 7 &amp; 8: When is it acceptable to re-use a part? When is it acceptable to waive a requirement?</a:t>
            </a:r>
          </a:p>
          <a:p>
            <a:r>
              <a:rPr lang="en-US" dirty="0"/>
              <a:t>These are about compliance, rules, and dispositions—all purely in the information realm.</a:t>
            </a:r>
          </a:p>
          <a:p>
            <a:r>
              <a:rPr lang="en-US" b="1" dirty="0"/>
              <a:t>Key Concepts:</a:t>
            </a:r>
            <a:r>
              <a:rPr lang="en-US" dirty="0"/>
              <a:t> Acceptance, Requirement, Waiver, Part, Re-use.</a:t>
            </a:r>
          </a:p>
          <a:p>
            <a:r>
              <a:rPr lang="en-US" b="1" dirty="0"/>
              <a:t>Classes &amp; BFO/CCO/IOF Categorization:</a:t>
            </a:r>
            <a:endParaRPr lang="en-US" dirty="0"/>
          </a:p>
          <a:p>
            <a:pPr lvl="1"/>
            <a:r>
              <a:rPr lang="en-US" b="1" dirty="0"/>
              <a:t>Material Entities:</a:t>
            </a:r>
            <a:endParaRPr lang="en-US" dirty="0"/>
          </a:p>
          <a:p>
            <a:pPr lvl="2"/>
            <a:r>
              <a:rPr lang="en-US" dirty="0"/>
              <a:t>Part.</a:t>
            </a:r>
          </a:p>
          <a:p>
            <a:pPr lvl="1"/>
            <a:r>
              <a:rPr lang="en-US" b="1" dirty="0"/>
              <a:t>Processes / Activities / Events:</a:t>
            </a:r>
            <a:endParaRPr lang="en-US" dirty="0"/>
          </a:p>
          <a:p>
            <a:pPr lvl="2"/>
            <a:r>
              <a:rPr lang="en-US" dirty="0" err="1"/>
              <a:t>DispositioningProcess</a:t>
            </a:r>
            <a:r>
              <a:rPr lang="en-US" dirty="0"/>
              <a:t>: A </a:t>
            </a:r>
            <a:r>
              <a:rPr lang="en-US" dirty="0" err="1"/>
              <a:t>bfo:Process</a:t>
            </a:r>
            <a:r>
              <a:rPr lang="en-US" dirty="0"/>
              <a:t> where a decision is made.</a:t>
            </a:r>
          </a:p>
          <a:p>
            <a:pPr lvl="2"/>
            <a:r>
              <a:rPr lang="en-US" dirty="0" err="1"/>
              <a:t>WaiverIssuance</a:t>
            </a:r>
            <a:r>
              <a:rPr lang="en-US" dirty="0"/>
              <a:t>: A subclass of </a:t>
            </a:r>
            <a:r>
              <a:rPr lang="en-US" dirty="0" err="1"/>
              <a:t>DispositioningProcess</a:t>
            </a:r>
            <a:r>
              <a:rPr lang="en-US" dirty="0"/>
              <a:t>.</a:t>
            </a:r>
          </a:p>
          <a:p>
            <a:pPr lvl="1"/>
            <a:r>
              <a:rPr lang="en-US" b="1" dirty="0"/>
              <a:t>Space and Time:</a:t>
            </a:r>
            <a:endParaRPr lang="en-US" dirty="0"/>
          </a:p>
          <a:p>
            <a:pPr lvl="2"/>
            <a:r>
              <a:rPr lang="en-US" dirty="0"/>
              <a:t>(Not central, but the decision process occurs at a </a:t>
            </a:r>
            <a:r>
              <a:rPr lang="en-US" dirty="0" err="1"/>
              <a:t>TemporalInterval</a:t>
            </a:r>
            <a:r>
              <a:rPr lang="en-US" dirty="0"/>
              <a:t>).</a:t>
            </a:r>
          </a:p>
          <a:p>
            <a:pPr lvl="1"/>
            <a:r>
              <a:rPr lang="en-US" b="1" dirty="0"/>
              <a:t>Information Things:</a:t>
            </a:r>
            <a:endParaRPr lang="en-US" dirty="0"/>
          </a:p>
          <a:p>
            <a:pPr lvl="2"/>
            <a:r>
              <a:rPr lang="en-US" dirty="0"/>
              <a:t>Requirement: A subclass of </a:t>
            </a:r>
            <a:r>
              <a:rPr lang="en-US" dirty="0" err="1"/>
              <a:t>cco:Requirement</a:t>
            </a:r>
            <a:r>
              <a:rPr lang="en-US" dirty="0"/>
              <a:t>, which is a type of </a:t>
            </a:r>
            <a:r>
              <a:rPr lang="en-US" dirty="0" err="1"/>
              <a:t>bfo:GenericallyDependentContinuant</a:t>
            </a:r>
            <a:r>
              <a:rPr lang="en-US" dirty="0"/>
              <a:t>. Represents the rule.</a:t>
            </a:r>
          </a:p>
          <a:p>
            <a:pPr lvl="2"/>
            <a:r>
              <a:rPr lang="en-US" dirty="0" err="1"/>
              <a:t>AcceptanceCriteria</a:t>
            </a:r>
            <a:r>
              <a:rPr lang="en-US" dirty="0"/>
              <a:t>: A subclass of </a:t>
            </a:r>
            <a:r>
              <a:rPr lang="en-US" dirty="0" err="1"/>
              <a:t>cco:InformationContentEntity</a:t>
            </a:r>
            <a:r>
              <a:rPr lang="en-US" dirty="0"/>
              <a:t>. Describes the conditions for acceptance.</a:t>
            </a:r>
          </a:p>
          <a:p>
            <a:pPr lvl="2"/>
            <a:r>
              <a:rPr lang="en-US" dirty="0"/>
              <a:t>Waiver: A subclass of </a:t>
            </a:r>
            <a:r>
              <a:rPr lang="en-US" dirty="0" err="1"/>
              <a:t>cco:InformationContentEntity</a:t>
            </a:r>
            <a:r>
              <a:rPr lang="en-US" dirty="0"/>
              <a:t>. This is the official document or record that waives a requirement. It is the </a:t>
            </a:r>
            <a:r>
              <a:rPr lang="en-US" i="1" dirty="0"/>
              <a:t>output</a:t>
            </a:r>
            <a:r>
              <a:rPr lang="en-US" dirty="0"/>
              <a:t> of the </a:t>
            </a:r>
            <a:r>
              <a:rPr lang="en-US" dirty="0" err="1"/>
              <a:t>WaiverIssuance</a:t>
            </a:r>
            <a:r>
              <a:rPr lang="en-US" dirty="0"/>
              <a:t> process.</a:t>
            </a:r>
          </a:p>
          <a:p>
            <a:pPr lvl="2"/>
            <a:r>
              <a:rPr lang="en-US" dirty="0" err="1"/>
              <a:t>PartInspectionData</a:t>
            </a:r>
            <a:r>
              <a:rPr lang="en-US" dirty="0"/>
              <a:t>: The data used as </a:t>
            </a:r>
            <a:r>
              <a:rPr lang="en-US" i="1" dirty="0"/>
              <a:t>input</a:t>
            </a:r>
            <a:r>
              <a:rPr lang="en-US" dirty="0"/>
              <a:t> to the </a:t>
            </a:r>
            <a:r>
              <a:rPr lang="en-US" dirty="0" err="1"/>
              <a:t>DispositioningProcess</a:t>
            </a:r>
            <a:r>
              <a:rPr lang="en-US" dirty="0"/>
              <a:t>.</a:t>
            </a:r>
          </a:p>
          <a:p>
            <a:r>
              <a:rPr lang="en-US" b="1" dirty="0"/>
              <a:t>Key Relationships (Object Properties):</a:t>
            </a:r>
            <a:endParaRPr lang="en-US" dirty="0"/>
          </a:p>
          <a:p>
            <a:pPr lvl="1"/>
            <a:r>
              <a:rPr lang="en-US" dirty="0" err="1"/>
              <a:t>DispositioningProcess</a:t>
            </a:r>
            <a:r>
              <a:rPr lang="en-US" dirty="0"/>
              <a:t> </a:t>
            </a:r>
            <a:r>
              <a:rPr lang="en-US" dirty="0" err="1"/>
              <a:t>cco:has_input</a:t>
            </a:r>
            <a:r>
              <a:rPr lang="en-US" dirty="0"/>
              <a:t> </a:t>
            </a:r>
            <a:r>
              <a:rPr lang="en-US" dirty="0" err="1"/>
              <a:t>PartInspectionData</a:t>
            </a:r>
            <a:r>
              <a:rPr lang="en-US" dirty="0"/>
              <a:t>.</a:t>
            </a:r>
          </a:p>
          <a:p>
            <a:pPr lvl="1"/>
            <a:r>
              <a:rPr lang="en-US" dirty="0" err="1"/>
              <a:t>DispositioningProcess</a:t>
            </a:r>
            <a:r>
              <a:rPr lang="en-US" dirty="0"/>
              <a:t> </a:t>
            </a:r>
            <a:r>
              <a:rPr lang="en-US" dirty="0" err="1"/>
              <a:t>cco:has_input</a:t>
            </a:r>
            <a:r>
              <a:rPr lang="en-US" dirty="0"/>
              <a:t> Requirement.</a:t>
            </a:r>
          </a:p>
          <a:p>
            <a:pPr lvl="1"/>
            <a:r>
              <a:rPr lang="en-US" dirty="0" err="1"/>
              <a:t>WaiverIssuance</a:t>
            </a:r>
            <a:r>
              <a:rPr lang="en-US" dirty="0"/>
              <a:t> </a:t>
            </a:r>
            <a:r>
              <a:rPr lang="en-US" dirty="0" err="1"/>
              <a:t>cco:has_output</a:t>
            </a:r>
            <a:r>
              <a:rPr lang="en-US" dirty="0"/>
              <a:t> Waiver.</a:t>
            </a:r>
          </a:p>
          <a:p>
            <a:pPr lvl="1"/>
            <a:r>
              <a:rPr lang="en-US" dirty="0"/>
              <a:t>Waiver </a:t>
            </a:r>
            <a:r>
              <a:rPr lang="en-US" dirty="0" err="1"/>
              <a:t>cco:is_about</a:t>
            </a:r>
            <a:r>
              <a:rPr lang="en-US" dirty="0"/>
              <a:t> Part.</a:t>
            </a:r>
          </a:p>
          <a:p>
            <a:pPr lvl="1"/>
            <a:r>
              <a:rPr lang="en-US" dirty="0"/>
              <a:t>Waiver </a:t>
            </a:r>
            <a:r>
              <a:rPr lang="en-US" dirty="0" err="1"/>
              <a:t>cco:waives</a:t>
            </a:r>
            <a:r>
              <a:rPr lang="en-US" dirty="0"/>
              <a:t> Requirement.</a:t>
            </a:r>
          </a:p>
          <a:p>
            <a:r>
              <a:rPr lang="en-US" b="1" dirty="0"/>
              <a:t>Modeling Pattern &amp; Notes:</a:t>
            </a:r>
            <a:br>
              <a:rPr lang="en-US" dirty="0"/>
            </a:br>
            <a:r>
              <a:rPr lang="en-US" dirty="0"/>
              <a:t>This shows the power of the BFO/CCO distinction between physical things and information. The decision to "re-use a part" is a </a:t>
            </a:r>
            <a:r>
              <a:rPr lang="en-US" dirty="0" err="1"/>
              <a:t>DispositioningProcess</a:t>
            </a:r>
            <a:r>
              <a:rPr lang="en-US" dirty="0"/>
              <a:t> that consumes information (Requirement, </a:t>
            </a:r>
            <a:r>
              <a:rPr lang="en-US" dirty="0" err="1"/>
              <a:t>InspectionData</a:t>
            </a:r>
            <a:r>
              <a:rPr lang="en-US" dirty="0"/>
              <a:t>) and produces new information (Waiver, Authorization). The ontology can capture this entire decision-making paper trail.</a:t>
            </a:r>
          </a:p>
          <a:p>
            <a:endParaRPr lang="en-US" dirty="0"/>
          </a:p>
        </p:txBody>
      </p:sp>
    </p:spTree>
    <p:extLst>
      <p:ext uri="{BB962C8B-B14F-4D97-AF65-F5344CB8AC3E}">
        <p14:creationId xmlns:p14="http://schemas.microsoft.com/office/powerpoint/2010/main" val="2795921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3000C-E9EA-8586-15E5-74606321A1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99C480-CB0D-EE3F-498F-DF3548150F4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3192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5777</TotalTime>
  <Words>3214</Words>
  <Application>Microsoft Office PowerPoint</Application>
  <PresentationFormat>Widescreen</PresentationFormat>
  <Paragraphs>224</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Aptos</vt:lpstr>
      <vt:lpstr>Aptos Display</vt:lpstr>
      <vt:lpstr>Arial</vt:lpstr>
      <vt:lpstr>Office Theme</vt:lpstr>
      <vt:lpstr>PowerPoint Presentation</vt:lpstr>
      <vt:lpstr>PowerPoint Presentation</vt:lpstr>
      <vt:lpstr>DSQs</vt:lpstr>
      <vt:lpstr>PowerPoint Presentation</vt:lpstr>
      <vt:lpstr>PowerPoint Presentation</vt:lpstr>
      <vt:lpstr>BOM natural graph</vt:lpstr>
      <vt:lpstr>CAD – STEP , QIF, natural graph fit</vt:lpstr>
      <vt:lpstr>XML, JSON – natural graph fit</vt:lpstr>
      <vt:lpstr>x% data semi structured json, xml</vt:lpstr>
      <vt:lpstr>PowerPoint Presentation</vt:lpstr>
      <vt:lpstr>Synthetic data in pipeline</vt:lpstr>
      <vt:lpstr>Semantic ETL</vt:lpstr>
      <vt:lpstr>DSQ</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Poonam Sutar</dc:creator>
  <cp:lastModifiedBy>Poonam Sutar</cp:lastModifiedBy>
  <cp:revision>6</cp:revision>
  <dcterms:created xsi:type="dcterms:W3CDTF">2025-08-18T02:25:03Z</dcterms:created>
  <dcterms:modified xsi:type="dcterms:W3CDTF">2025-08-26T08:32:08Z</dcterms:modified>
</cp:coreProperties>
</file>