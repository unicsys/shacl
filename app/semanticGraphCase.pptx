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240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99B7-3D0A-BC68-F6A6-7104FAEC0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76AA3-AAF7-1DBF-81A0-FB72D608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4FB99-4801-FC51-EA27-BAF8CFDA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383B3-DF84-8D56-F2AC-DB139498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0F2E-B3C6-9A86-A3DE-99D6D958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9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B0A3-1942-3DF9-2A59-3F56926D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31C6-FB22-7071-EEDC-173EDB655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C174B-992A-3EF3-A37C-7535E89C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6EF52-4D33-6827-F47F-C54E4DE5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64589-65AA-7FAD-76B4-97FC9609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3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3129-82D4-E047-D439-D3A66E1F3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67C0B-9DB6-1515-E2B9-87D16721A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13F56-8BB3-B5CA-4844-A4CF95218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BFC3F-176F-970D-5A34-FD5829BCA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ED5A0-ACFC-D261-8E85-8EAD2146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8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4CD-7C06-23D1-EBB0-F5DECF74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F0801-FF56-2CD3-216F-083155494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0C69A-A81F-81CE-29A2-8B7620768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51400-0DE9-C2D1-EC10-93E2C64B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F7251-011D-7D35-31E4-B65CBE6E2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676DF-2F94-A1A8-902B-675F210E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5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0CF7-5066-0771-A514-485D29E57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652D8-5C71-4E2E-A0F6-A995EEE88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CEC26-A4DB-6EB9-F16F-FBB11D5D2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C33E97-3DF3-B95F-CB05-AF017DAFB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1E7DF-2293-ED65-2AAF-DBFF57683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F819A-B303-A253-B33D-0E84CE31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2AD95-B081-847E-C92A-9D016F58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96144-EBD1-AF4F-8C2D-AE62E6B9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70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DAC4-51E7-23AF-CA24-E932506E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EEB22-5A7E-54CE-136C-AB15908B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90CB5E-B8D4-EA1A-73ED-CA436345D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F3C79D-36B7-CE96-2D9D-B0FCC4A0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1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AE7F6-396E-F717-FFB8-4041B7F88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7D10E-963D-E063-9C06-CBB7DC7B3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39E32-E461-4449-6758-5EF6498E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0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EDF7-48AA-C050-5BA4-45CC7EB2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C82DA-700D-7A68-5EB4-C00AE49FE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CC165-CBAC-BEBF-326B-0DE3A1ECD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F6E4E-7BC8-3E0C-B2C3-C27BEFF54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78E47-58B7-DAD4-C0FF-6317172A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C72DF-AEA7-D228-8567-14E27F59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22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CB31-1400-1BFE-1E0A-9BDEF455A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66647-6771-9652-8A6D-928EFEF7A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9F69D-24FB-23AE-FCFE-332EAE1F7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71EB6-1D82-B807-F93C-B96FDE52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ADE23-34DA-49B4-C9BF-1C589CE3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37DAD-2DB6-4D1B-96B2-E637B4A3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5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0F3F6-B04C-FDF8-B362-E9225D08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B80D6-45B7-5FE8-BD74-6DE0A23B0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E8B71-CB19-FA4A-B524-485D72CC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30416-6BAD-5A0F-5FDB-6741CA3F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718D-610E-56D5-9E53-6F2A7B66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7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768EC-21E6-2412-0BEA-5644978A2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87CE0-B4BE-1C40-B8C0-BAC8B2A29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BC582-8D38-FDEA-BF22-D5922D801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FE426-A10B-3CEA-1545-F4E240CA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39151-8611-C18D-95CE-A08AEDB0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0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B4BD64-2B65-285A-0E6B-D9BB06A3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A0A19-CC05-E946-0B35-E8371A17B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F79EE-003A-F989-5046-CB723FAF87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0BCF2-753A-4009-B969-AFBB520CD14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D9483-0BFE-FE0C-0D0C-54542C424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41DB9-C266-C1B1-AED1-A926292EF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39FAD-9A4E-4C06-8FCA-B11E55C48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4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46D4-6196-27AA-5BE1-520682EE0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88156-F2E1-2636-A7AF-94A3B5367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2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0C38-F07F-4B15-2C8D-D845A948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6ADD6-C85B-54EA-C022-5DD325762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Our Ecosystem Already Speaks </a:t>
            </a:r>
            <a:r>
              <a:rPr lang="en-US" b="1" dirty="0" err="1"/>
              <a:t>OWLCustomer</a:t>
            </a:r>
            <a:r>
              <a:rPr lang="en-US" b="1" dirty="0"/>
              <a:t> &amp; Partner Mandates:</a:t>
            </a:r>
          </a:p>
          <a:p>
            <a:pPr lvl="1"/>
            <a:r>
              <a:rPr lang="en-US" dirty="0"/>
              <a:t>Customers and supplier use OWL ontologies.</a:t>
            </a:r>
          </a:p>
          <a:p>
            <a:pPr lvl="1"/>
            <a:r>
              <a:rPr lang="en-US" dirty="0"/>
              <a:t>DoD Digital Engineering Strategy requires semantic web standards</a:t>
            </a:r>
          </a:p>
          <a:p>
            <a:pPr lvl="1"/>
            <a:r>
              <a:rPr lang="en-US" dirty="0"/>
              <a:t>USAF developing OWL ontologies for system integration</a:t>
            </a:r>
          </a:p>
          <a:p>
            <a:pPr lvl="1"/>
            <a:r>
              <a:rPr lang="en-US" dirty="0"/>
              <a:t>Intelligence Community standardizing on semantic technologies</a:t>
            </a:r>
          </a:p>
          <a:p>
            <a:pPr lvl="1"/>
            <a:r>
              <a:rPr lang="en-US" dirty="0"/>
              <a:t>Multiple customers require OWL ontologies as deliverables</a:t>
            </a:r>
          </a:p>
          <a:p>
            <a:pPr lvl="1"/>
            <a:r>
              <a:rPr lang="en-US" dirty="0"/>
              <a:t>Internal RTX teams already using OWL - easier integration across business units.</a:t>
            </a:r>
          </a:p>
          <a:p>
            <a:r>
              <a:rPr lang="en-US" b="1" dirty="0"/>
              <a:t>Standards Compliance:</a:t>
            </a:r>
            <a:endParaRPr lang="en-US" dirty="0"/>
          </a:p>
          <a:p>
            <a:pPr lvl="1"/>
            <a:r>
              <a:rPr lang="en-US" dirty="0"/>
              <a:t>ISO 21838 BFO (Basic Formal Ontology) - DoD mandated for integration</a:t>
            </a:r>
          </a:p>
          <a:p>
            <a:pPr lvl="1"/>
            <a:r>
              <a:rPr lang="en-US" dirty="0"/>
              <a:t>W3C Standards: OWL 2, RDF, SPARQL - industry standards</a:t>
            </a:r>
          </a:p>
          <a:p>
            <a:pPr lvl="1"/>
            <a:r>
              <a:rPr lang="en-US" dirty="0"/>
              <a:t>Digital Engineering Handbook specifies OWL/semantic graph usage</a:t>
            </a:r>
          </a:p>
          <a:p>
            <a:r>
              <a:rPr lang="en-US" b="1" dirty="0"/>
              <a:t>Integration Surface:</a:t>
            </a:r>
            <a:endParaRPr lang="en-US" dirty="0"/>
          </a:p>
          <a:p>
            <a:pPr lvl="1"/>
            <a:r>
              <a:rPr lang="en-US" dirty="0"/>
              <a:t>Direct ingestion of supplier ontologies</a:t>
            </a:r>
          </a:p>
          <a:p>
            <a:pPr lvl="1"/>
            <a:r>
              <a:rPr lang="en-US" dirty="0"/>
              <a:t>Automated validation against customer requirements</a:t>
            </a:r>
          </a:p>
          <a:p>
            <a:pPr lvl="1"/>
            <a:r>
              <a:rPr lang="en-US" dirty="0"/>
              <a:t>Future-proof: aligns with DoD, NATO, NASA, ISO standards on semantic interoperability.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8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58C2-A393-568E-4E57-0C205F16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Data is Inherently Graph-Structured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3BFA-A10D-373D-CA9E-DE49D9F6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Bill of Materials (BoM) Complexity:</a:t>
            </a:r>
          </a:p>
          <a:p>
            <a:r>
              <a:rPr lang="en-US" b="1" dirty="0"/>
              <a:t>Current SQL Approach :</a:t>
            </a:r>
            <a:endParaRPr lang="en-US" dirty="0"/>
          </a:p>
          <a:p>
            <a:pPr lvl="1"/>
            <a:r>
              <a:rPr lang="en-US" dirty="0"/>
              <a:t>flattened into tables</a:t>
            </a:r>
          </a:p>
          <a:p>
            <a:pPr lvl="1"/>
            <a:r>
              <a:rPr lang="en-US" dirty="0"/>
              <a:t>10+ self-joins for deep BoM queries</a:t>
            </a:r>
          </a:p>
          <a:p>
            <a:pPr lvl="1"/>
            <a:r>
              <a:rPr lang="en-US" dirty="0"/>
              <a:t>CTE recursion performance degradation</a:t>
            </a:r>
          </a:p>
          <a:p>
            <a:pPr lvl="1"/>
            <a:r>
              <a:rPr lang="en-US" dirty="0"/>
              <a:t>Difficult cross-domain connections</a:t>
            </a:r>
          </a:p>
          <a:p>
            <a:pPr lvl="1"/>
            <a:r>
              <a:rPr lang="en-US" dirty="0"/>
              <a:t>Schema rigidity prevents agile integration</a:t>
            </a:r>
          </a:p>
          <a:p>
            <a:r>
              <a:rPr lang="en-US" b="1" dirty="0"/>
              <a:t>Graph Database Benefits:</a:t>
            </a:r>
            <a:endParaRPr lang="en-US" dirty="0"/>
          </a:p>
          <a:p>
            <a:pPr lvl="1"/>
            <a:r>
              <a:rPr lang="en-US" dirty="0"/>
              <a:t>Natural hierarchy representation</a:t>
            </a:r>
          </a:p>
          <a:p>
            <a:pPr lvl="1"/>
            <a:r>
              <a:rPr lang="en-US" dirty="0"/>
              <a:t>Single-hop traversals vs. complex joins</a:t>
            </a:r>
          </a:p>
          <a:p>
            <a:pPr lvl="1"/>
            <a:r>
              <a:rPr lang="en-US" dirty="0"/>
              <a:t>faster for path queries</a:t>
            </a:r>
          </a:p>
          <a:p>
            <a:pPr lvl="1"/>
            <a:r>
              <a:rPr lang="en-US" dirty="0"/>
              <a:t>Easy extension to new domains</a:t>
            </a:r>
          </a:p>
          <a:p>
            <a:r>
              <a:rPr lang="en-US" dirty="0"/>
              <a:t>Other natural graphs – Maintenance,  Testing, Inspection, Supplier, Material</a:t>
            </a:r>
          </a:p>
        </p:txBody>
      </p:sp>
    </p:spTree>
    <p:extLst>
      <p:ext uri="{BB962C8B-B14F-4D97-AF65-F5344CB8AC3E}">
        <p14:creationId xmlns:p14="http://schemas.microsoft.com/office/powerpoint/2010/main" val="149346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9144-3ED9-E10F-5A17-C21747A0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4343-245A-647D-CD81-4AE5C98C1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13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Transitive Relationships Example:</a:t>
            </a:r>
          </a:p>
          <a:p>
            <a:r>
              <a:rPr lang="en-US" sz="1800" dirty="0"/>
              <a:t>Given: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Sensor_X</a:t>
            </a:r>
            <a:r>
              <a:rPr lang="en-US" sz="1800" dirty="0"/>
              <a:t> → </a:t>
            </a:r>
            <a:r>
              <a:rPr lang="en-US" sz="1800" dirty="0" err="1"/>
              <a:t>isPartOf</a:t>
            </a:r>
            <a:r>
              <a:rPr lang="en-US" sz="1800" dirty="0"/>
              <a:t> → </a:t>
            </a:r>
            <a:r>
              <a:rPr lang="en-US" sz="1800" dirty="0" err="1"/>
              <a:t>Engine_Assembly</a:t>
            </a:r>
            <a:endParaRPr lang="en-US" sz="1800" dirty="0"/>
          </a:p>
          <a:p>
            <a:r>
              <a:rPr lang="en-US" sz="1800" dirty="0"/>
              <a:t>- </a:t>
            </a:r>
            <a:r>
              <a:rPr lang="en-US" sz="1800" dirty="0" err="1"/>
              <a:t>Engine_Assembly</a:t>
            </a:r>
            <a:r>
              <a:rPr lang="en-US" sz="1800" dirty="0"/>
              <a:t> → </a:t>
            </a:r>
            <a:r>
              <a:rPr lang="en-US" sz="1800" dirty="0" err="1"/>
              <a:t>isPartOf</a:t>
            </a:r>
            <a:r>
              <a:rPr lang="en-US" sz="1800" dirty="0"/>
              <a:t> → Aircraft_777</a:t>
            </a:r>
          </a:p>
          <a:p>
            <a:r>
              <a:rPr lang="en-US" sz="1800" dirty="0"/>
              <a:t>- "</a:t>
            </a:r>
            <a:r>
              <a:rPr lang="en-US" sz="1800" dirty="0" err="1"/>
              <a:t>isPartOf</a:t>
            </a:r>
            <a:r>
              <a:rPr lang="en-US" sz="1800" dirty="0"/>
              <a:t>" defined as transitive property</a:t>
            </a:r>
          </a:p>
          <a:p>
            <a:endParaRPr lang="en-US" sz="1800" dirty="0"/>
          </a:p>
          <a:p>
            <a:r>
              <a:rPr lang="en-US" sz="1800" dirty="0"/>
              <a:t>Inferred Automatically:</a:t>
            </a:r>
          </a:p>
          <a:p>
            <a:r>
              <a:rPr lang="en-US" sz="1800" dirty="0"/>
              <a:t>- </a:t>
            </a:r>
            <a:r>
              <a:rPr lang="en-US" sz="1800" dirty="0" err="1"/>
              <a:t>Sensor_X</a:t>
            </a:r>
            <a:r>
              <a:rPr lang="en-US" sz="1800" dirty="0"/>
              <a:t> → </a:t>
            </a:r>
            <a:r>
              <a:rPr lang="en-US" sz="1800" dirty="0" err="1"/>
              <a:t>isPartOf</a:t>
            </a:r>
            <a:r>
              <a:rPr lang="en-US" sz="1800" dirty="0"/>
              <a:t> → Aircraft_777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30A57EF-B2FA-623A-8737-01DA349B239B}"/>
              </a:ext>
            </a:extLst>
          </p:cNvPr>
          <p:cNvSpPr txBox="1">
            <a:spLocks/>
          </p:cNvSpPr>
          <p:nvPr/>
        </p:nvSpPr>
        <p:spPr>
          <a:xfrm>
            <a:off x="6879364" y="1825625"/>
            <a:ext cx="50113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Missing Link Recovery: </a:t>
            </a:r>
          </a:p>
          <a:p>
            <a:pPr lvl="1"/>
            <a:r>
              <a:rPr lang="en-US" sz="1800" dirty="0"/>
              <a:t>Infer relationships in incomplete maintenance records</a:t>
            </a:r>
          </a:p>
          <a:p>
            <a:r>
              <a:rPr lang="en-US" sz="1800" dirty="0"/>
              <a:t>Impact Analysis: </a:t>
            </a:r>
          </a:p>
          <a:p>
            <a:pPr lvl="1"/>
            <a:r>
              <a:rPr lang="en-US" sz="1800" dirty="0"/>
              <a:t>Change propagation through entire product hierarchy</a:t>
            </a:r>
          </a:p>
          <a:p>
            <a:r>
              <a:rPr lang="en-US" sz="1800" dirty="0"/>
              <a:t>Quality Traceability: </a:t>
            </a:r>
          </a:p>
          <a:p>
            <a:pPr lvl="1"/>
            <a:r>
              <a:rPr lang="en-US" sz="1800" dirty="0"/>
              <a:t>Automatic defect impact assessment</a:t>
            </a:r>
          </a:p>
          <a:p>
            <a:r>
              <a:rPr lang="en-US" sz="1800" dirty="0"/>
              <a:t>Supply Chain Intelligence: </a:t>
            </a:r>
          </a:p>
          <a:p>
            <a:pPr lvl="1"/>
            <a:r>
              <a:rPr lang="en-US" sz="1800" dirty="0"/>
              <a:t>Infer alternative suppliers through capability matching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27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2F72-AB48-254A-C397-125CDA10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Heterogeneous Data Integration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AEA30A-ADC7-6D4F-B3ED-1C5E1A776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151388"/>
              </p:ext>
            </p:extLst>
          </p:nvPr>
        </p:nvGraphicFramePr>
        <p:xfrm>
          <a:off x="744676" y="1690688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98979536"/>
                    </a:ext>
                  </a:extLst>
                </a:gridCol>
                <a:gridCol w="2963255">
                  <a:extLst>
                    <a:ext uri="{9D8B030D-6E8A-4147-A177-3AD203B41FA5}">
                      <a16:colId xmlns:a16="http://schemas.microsoft.com/office/drawing/2014/main" val="1653090611"/>
                    </a:ext>
                  </a:extLst>
                </a:gridCol>
                <a:gridCol w="4047145">
                  <a:extLst>
                    <a:ext uri="{9D8B030D-6E8A-4147-A177-3AD203B41FA5}">
                      <a16:colId xmlns:a16="http://schemas.microsoft.com/office/drawing/2014/main" val="3432706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Current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Integration Challenge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614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CAD/PLM Files (XML)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Nested hierarchies lost in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85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Inspection Reports (JSON)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 Store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Relationships not queryable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028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Maintenance Logs (Text)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Unstructured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semantic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95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Supply Chain (EDI)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Various Formats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unified 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1992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3CA62A-F223-E87F-602C-9EDBDEF1806C}"/>
              </a:ext>
            </a:extLst>
          </p:cNvPr>
          <p:cNvSpPr txBox="1"/>
          <p:nvPr/>
        </p:nvSpPr>
        <p:spPr>
          <a:xfrm>
            <a:off x="664579" y="4106387"/>
            <a:ext cx="6097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Semantic Graph Solution: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Preserve native structures (XML/JSON hierarchies)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Unified query language (SPARQL) across all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Semantic relationships between diverse data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Schema-on-read flexibility</a:t>
            </a:r>
          </a:p>
        </p:txBody>
      </p:sp>
    </p:spTree>
    <p:extLst>
      <p:ext uri="{BB962C8B-B14F-4D97-AF65-F5344CB8AC3E}">
        <p14:creationId xmlns:p14="http://schemas.microsoft.com/office/powerpoint/2010/main" val="170716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7D4D-5E3B-D878-D88C-6AB3CBD37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037"/>
            <a:ext cx="10515600" cy="5236926"/>
          </a:xfrm>
        </p:spPr>
        <p:txBody>
          <a:bodyPr>
            <a:normAutofit/>
          </a:bodyPr>
          <a:lstStyle/>
          <a:p>
            <a:r>
              <a:rPr lang="en-US" b="1" dirty="0"/>
              <a:t>Available Graph Algorithms:</a:t>
            </a:r>
            <a:endParaRPr lang="en-US" dirty="0"/>
          </a:p>
          <a:p>
            <a:pPr lvl="1"/>
            <a:r>
              <a:rPr lang="en-US" b="1" dirty="0"/>
              <a:t>Centrality Analysis:</a:t>
            </a:r>
            <a:r>
              <a:rPr lang="en-US" dirty="0"/>
              <a:t> Identify critical components</a:t>
            </a:r>
          </a:p>
          <a:p>
            <a:pPr lvl="1"/>
            <a:r>
              <a:rPr lang="en-US" b="1" dirty="0"/>
              <a:t>Community Detection:</a:t>
            </a:r>
            <a:r>
              <a:rPr lang="en-US" dirty="0"/>
              <a:t> Find subsystem boundaries</a:t>
            </a:r>
          </a:p>
          <a:p>
            <a:pPr lvl="1"/>
            <a:r>
              <a:rPr lang="en-US" b="1" dirty="0"/>
              <a:t>Path Finding:</a:t>
            </a:r>
            <a:r>
              <a:rPr lang="en-US" dirty="0"/>
              <a:t> Optimize assembly sequences</a:t>
            </a:r>
          </a:p>
          <a:p>
            <a:pPr lvl="1"/>
            <a:r>
              <a:rPr lang="en-US" b="1" dirty="0"/>
              <a:t>PageRank:</a:t>
            </a:r>
            <a:r>
              <a:rPr lang="en-US" dirty="0"/>
              <a:t> Supplier importance scoring</a:t>
            </a:r>
          </a:p>
          <a:p>
            <a:pPr lvl="1"/>
            <a:r>
              <a:rPr lang="en-US" b="1" dirty="0"/>
              <a:t>Graph Neural Networks:</a:t>
            </a:r>
            <a:r>
              <a:rPr lang="en-US" dirty="0"/>
              <a:t> Predictive maintenance</a:t>
            </a:r>
          </a:p>
          <a:p>
            <a:endParaRPr lang="en-US" b="1" dirty="0"/>
          </a:p>
          <a:p>
            <a:r>
              <a:rPr lang="en-US" b="1" dirty="0"/>
              <a:t>Aerospace-Specific Applications:</a:t>
            </a:r>
            <a:endParaRPr lang="en-US" dirty="0"/>
          </a:p>
          <a:p>
            <a:pPr lvl="1"/>
            <a:r>
              <a:rPr lang="en-US" b="1" dirty="0"/>
              <a:t>Configuration Management:</a:t>
            </a:r>
            <a:r>
              <a:rPr lang="en-US" dirty="0"/>
              <a:t> Track valid product configurations</a:t>
            </a:r>
          </a:p>
          <a:p>
            <a:pPr lvl="1"/>
            <a:r>
              <a:rPr lang="en-US" b="1" dirty="0"/>
              <a:t>Root Cause Analysis:</a:t>
            </a:r>
            <a:r>
              <a:rPr lang="en-US" dirty="0"/>
              <a:t> Traverse failure propagation paths</a:t>
            </a:r>
          </a:p>
          <a:p>
            <a:pPr lvl="1"/>
            <a:r>
              <a:rPr lang="en-US" b="1" dirty="0"/>
              <a:t>Supply Chain Resilience:</a:t>
            </a:r>
            <a:r>
              <a:rPr lang="en-US" dirty="0"/>
              <a:t> Multi-tier supplier risk assessment</a:t>
            </a:r>
          </a:p>
          <a:p>
            <a:pPr lvl="1"/>
            <a:r>
              <a:rPr lang="en-US" b="1" dirty="0"/>
              <a:t>Digital Thread:</a:t>
            </a:r>
            <a:r>
              <a:rPr lang="en-US" dirty="0"/>
              <a:t> Complete product lifecycle visibility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181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433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 Integration</vt:lpstr>
      <vt:lpstr>Manufacturing Data is Inherently Graph-Structured</vt:lpstr>
      <vt:lpstr>Semantic Inference</vt:lpstr>
      <vt:lpstr>Heterogeneous Data Integration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Poonam Sutar</cp:lastModifiedBy>
  <cp:revision>1</cp:revision>
  <dcterms:created xsi:type="dcterms:W3CDTF">2025-08-26T13:23:20Z</dcterms:created>
  <dcterms:modified xsi:type="dcterms:W3CDTF">2025-08-26T13:48:48Z</dcterms:modified>
</cp:coreProperties>
</file>