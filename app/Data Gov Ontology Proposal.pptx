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92" r:id="rId3"/>
    <p:sldId id="300" r:id="rId4"/>
    <p:sldId id="299" r:id="rId5"/>
    <p:sldId id="301" r:id="rId6"/>
    <p:sldId id="302" r:id="rId7"/>
    <p:sldId id="259" r:id="rId8"/>
    <p:sldId id="264" r:id="rId9"/>
    <p:sldId id="261" r:id="rId10"/>
    <p:sldId id="262" r:id="rId11"/>
    <p:sldId id="263"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8" r:id="rId31"/>
    <p:sldId id="284" r:id="rId32"/>
    <p:sldId id="285" r:id="rId33"/>
    <p:sldId id="286" r:id="rId34"/>
    <p:sldId id="287" r:id="rId35"/>
    <p:sldId id="293" r:id="rId36"/>
    <p:sldId id="294" r:id="rId37"/>
    <p:sldId id="289" r:id="rId38"/>
    <p:sldId id="290" r:id="rId39"/>
    <p:sldId id="26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449" autoAdjust="0"/>
  </p:normalViewPr>
  <p:slideViewPr>
    <p:cSldViewPr snapToGrid="0">
      <p:cViewPr varScale="1">
        <p:scale>
          <a:sx n="109" d="100"/>
          <a:sy n="109" d="100"/>
        </p:scale>
        <p:origin x="558"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14A5A2-CD68-4E6B-BB2C-19C36D9120BC}" type="datetimeFigureOut">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882C2-7E9F-4B94-89D3-8A7358FCE8D1}" type="slidenum">
              <a:rPr lang="en-US" smtClean="0"/>
              <a:t>‹#›</a:t>
            </a:fld>
            <a:endParaRPr lang="en-US"/>
          </a:p>
        </p:txBody>
      </p:sp>
    </p:spTree>
    <p:extLst>
      <p:ext uri="{BB962C8B-B14F-4D97-AF65-F5344CB8AC3E}">
        <p14:creationId xmlns:p14="http://schemas.microsoft.com/office/powerpoint/2010/main" val="743691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limitations slow down data discovery, increase reliance on tribal knowledge, and reduce the organization’s ability to answer business-critical questions with confidence.</a:t>
            </a:r>
          </a:p>
          <a:p>
            <a:endParaRPr lang="en-US" dirty="0"/>
          </a:p>
        </p:txBody>
      </p:sp>
      <p:sp>
        <p:nvSpPr>
          <p:cNvPr id="4" name="Slide Number Placeholder 3"/>
          <p:cNvSpPr>
            <a:spLocks noGrp="1"/>
          </p:cNvSpPr>
          <p:nvPr>
            <p:ph type="sldNum" sz="quarter" idx="5"/>
          </p:nvPr>
        </p:nvSpPr>
        <p:spPr/>
        <p:txBody>
          <a:bodyPr/>
          <a:lstStyle/>
          <a:p>
            <a:fld id="{303882C2-7E9F-4B94-89D3-8A7358FCE8D1}" type="slidenum">
              <a:rPr lang="en-US" smtClean="0"/>
              <a:t>3</a:t>
            </a:fld>
            <a:endParaRPr lang="en-US"/>
          </a:p>
        </p:txBody>
      </p:sp>
    </p:spTree>
    <p:extLst>
      <p:ext uri="{BB962C8B-B14F-4D97-AF65-F5344CB8AC3E}">
        <p14:creationId xmlns:p14="http://schemas.microsoft.com/office/powerpoint/2010/main" val="2917851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FEE4-01D5-FB13-176A-7A8E6D7160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BFE7C9-A240-2A9C-24D2-18808A7E01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747E0B-ACF7-F46C-15E1-66912392A1E1}"/>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5" name="Footer Placeholder 4">
            <a:extLst>
              <a:ext uri="{FF2B5EF4-FFF2-40B4-BE49-F238E27FC236}">
                <a16:creationId xmlns:a16="http://schemas.microsoft.com/office/drawing/2014/main" id="{AE6A6FFB-2D7D-3D32-05D5-30DC93A09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7B913-4164-CD12-3481-1270B82CE3F2}"/>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448611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DD4FA-F901-B719-6D3E-68CE92FA47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7AFF6-ACEB-8651-4226-768DB322DE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506324-E26D-C391-80F7-563B79C14138}"/>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5" name="Footer Placeholder 4">
            <a:extLst>
              <a:ext uri="{FF2B5EF4-FFF2-40B4-BE49-F238E27FC236}">
                <a16:creationId xmlns:a16="http://schemas.microsoft.com/office/drawing/2014/main" id="{D3ADD24B-F76A-FFFC-0A52-88C23F50A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E906B5-1A60-EB83-7079-DF404831ECDB}"/>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2455809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D2BA-212C-44A9-B7B9-0B5E778B1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5A7436-F29A-1542-C2A5-BC26DAFBE2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D88B1C-A370-4CC8-88D4-CA092726B589}"/>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5" name="Footer Placeholder 4">
            <a:extLst>
              <a:ext uri="{FF2B5EF4-FFF2-40B4-BE49-F238E27FC236}">
                <a16:creationId xmlns:a16="http://schemas.microsoft.com/office/drawing/2014/main" id="{0014F8B4-701D-0A26-8CD8-29C01430B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B054C-F614-2CF0-4A15-B53599AD767C}"/>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293165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6E89-6EC8-A07E-BEA2-7EF4D88679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752E98-12EA-668B-E844-40DBDC232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F10033-8144-D900-9CCF-36D549829C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99B2B4-4D4C-0065-73FE-34918FDAC921}"/>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6" name="Footer Placeholder 5">
            <a:extLst>
              <a:ext uri="{FF2B5EF4-FFF2-40B4-BE49-F238E27FC236}">
                <a16:creationId xmlns:a16="http://schemas.microsoft.com/office/drawing/2014/main" id="{19E8D02D-07E9-5C6F-F5B5-DDA0E639F5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276E99-8404-9254-E988-61D3098E7C06}"/>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3534077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2A9A-8431-E46F-59BD-52BAB98CA2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C01579-0AA7-5BAD-CA87-3859293B46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2BC30-3EC2-AFAF-E476-7241E90C66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D383C8-B3EB-494E-9606-DF97F05291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8C6FF7-E86E-E1E2-BF0D-F803CB31D5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DA6DF7-9B4C-158E-6587-E43F020456EA}"/>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8" name="Footer Placeholder 7">
            <a:extLst>
              <a:ext uri="{FF2B5EF4-FFF2-40B4-BE49-F238E27FC236}">
                <a16:creationId xmlns:a16="http://schemas.microsoft.com/office/drawing/2014/main" id="{F548A3E5-B392-F691-7EBB-7C504C7F84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7A821A-C372-A371-792B-858650AEE8BE}"/>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1490036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36C6-076B-4833-EF95-53FC91F1FF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1D0C11-FF8F-F7D7-91A3-8D049035F04A}"/>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4" name="Footer Placeholder 3">
            <a:extLst>
              <a:ext uri="{FF2B5EF4-FFF2-40B4-BE49-F238E27FC236}">
                <a16:creationId xmlns:a16="http://schemas.microsoft.com/office/drawing/2014/main" id="{001870F9-F801-1726-92FE-D0D47E45F6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8D7381-9D28-464D-4C0D-FCEB4E52069D}"/>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40798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2C9358-2516-59C1-AAD3-DB36180402FC}"/>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3" name="Footer Placeholder 2">
            <a:extLst>
              <a:ext uri="{FF2B5EF4-FFF2-40B4-BE49-F238E27FC236}">
                <a16:creationId xmlns:a16="http://schemas.microsoft.com/office/drawing/2014/main" id="{A5A9DEA9-9CAC-AA61-09EB-8492095F9B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5991A5-DE37-BDB5-ED3D-757FDF1873DE}"/>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50568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5ECC-438A-419F-FC6E-E1A029DBD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BB60B3-8697-9865-F80F-F30FC6E75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3D9955-7BB9-D3F9-0E64-C7698492FA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A30745-8716-0919-1091-FDAA29B6A7F7}"/>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6" name="Footer Placeholder 5">
            <a:extLst>
              <a:ext uri="{FF2B5EF4-FFF2-40B4-BE49-F238E27FC236}">
                <a16:creationId xmlns:a16="http://schemas.microsoft.com/office/drawing/2014/main" id="{CD680730-0E74-8D0E-423B-8259D07D2B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65996-85D3-6E3A-0931-2800340F56F5}"/>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831144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A83EB-18F2-0B7D-6881-A43886E1FC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988BCE-5CFD-F52F-D60B-4CE0D6B19F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DE1468-54CA-6ACB-C8CE-FA9F6B1D3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4614F0-C8CA-27F4-9EBF-3FFEBFFA8CCD}"/>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6" name="Footer Placeholder 5">
            <a:extLst>
              <a:ext uri="{FF2B5EF4-FFF2-40B4-BE49-F238E27FC236}">
                <a16:creationId xmlns:a16="http://schemas.microsoft.com/office/drawing/2014/main" id="{6C74F3B5-E3EB-5053-E046-44A95AB8B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C00007-E226-36ED-E7AC-9BE0DE048DA8}"/>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2452811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93CD3-9711-0740-9711-87EB49B9A7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1F2FEC-1C3D-BAFD-72C0-6530F8B39B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FAEFF-8768-FD2E-2812-277CFA4F679A}"/>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5" name="Footer Placeholder 4">
            <a:extLst>
              <a:ext uri="{FF2B5EF4-FFF2-40B4-BE49-F238E27FC236}">
                <a16:creationId xmlns:a16="http://schemas.microsoft.com/office/drawing/2014/main" id="{F94BDCB6-4490-E1BC-9A52-89611B71D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2B7F2-2250-5104-A187-08CAE5ECAAA2}"/>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1355525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17850A-4FDA-156E-30B9-4541144F5F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750BC4-EBCD-FC50-02DE-5CA0B722C7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AB5AE8-BF70-759C-B570-89B6F5BA34FE}"/>
              </a:ext>
            </a:extLst>
          </p:cNvPr>
          <p:cNvSpPr>
            <a:spLocks noGrp="1"/>
          </p:cNvSpPr>
          <p:nvPr>
            <p:ph type="dt" sz="half" idx="10"/>
          </p:nvPr>
        </p:nvSpPr>
        <p:spPr/>
        <p:txBody>
          <a:bodyPr/>
          <a:lstStyle/>
          <a:p>
            <a:fld id="{24456379-819A-41E3-8A2A-1F7A4581343A}" type="datetimeFigureOut">
              <a:rPr lang="en-US" smtClean="0"/>
              <a:t>9/3/2025</a:t>
            </a:fld>
            <a:endParaRPr lang="en-US"/>
          </a:p>
        </p:txBody>
      </p:sp>
      <p:sp>
        <p:nvSpPr>
          <p:cNvPr id="5" name="Footer Placeholder 4">
            <a:extLst>
              <a:ext uri="{FF2B5EF4-FFF2-40B4-BE49-F238E27FC236}">
                <a16:creationId xmlns:a16="http://schemas.microsoft.com/office/drawing/2014/main" id="{CA8E50B5-BE6C-9680-C6AF-30ABD6ACA2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EE491-6EA3-A739-15C2-32B1299C262A}"/>
              </a:ext>
            </a:extLst>
          </p:cNvPr>
          <p:cNvSpPr>
            <a:spLocks noGrp="1"/>
          </p:cNvSpPr>
          <p:nvPr>
            <p:ph type="sldNum" sz="quarter" idx="12"/>
          </p:nvPr>
        </p:nvSpPr>
        <p:spPr/>
        <p:txBody>
          <a:bodyPr/>
          <a:lstStyle/>
          <a:p>
            <a:fld id="{D3F44792-AB6F-4677-AFA4-58680EE337F1}" type="slidenum">
              <a:rPr lang="en-US" smtClean="0"/>
              <a:t>‹#›</a:t>
            </a:fld>
            <a:endParaRPr lang="en-US"/>
          </a:p>
        </p:txBody>
      </p:sp>
    </p:spTree>
    <p:extLst>
      <p:ext uri="{BB962C8B-B14F-4D97-AF65-F5344CB8AC3E}">
        <p14:creationId xmlns:p14="http://schemas.microsoft.com/office/powerpoint/2010/main" val="4096753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6C038F-1343-FAF4-D3A5-64CBDD288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1DA752-2784-F912-A380-686685A3A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ED3E0-32EF-1E1A-FA3D-CC38999A76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456379-819A-41E3-8A2A-1F7A4581343A}" type="datetimeFigureOut">
              <a:rPr lang="en-US" smtClean="0"/>
              <a:t>9/3/2025</a:t>
            </a:fld>
            <a:endParaRPr lang="en-US"/>
          </a:p>
        </p:txBody>
      </p:sp>
      <p:sp>
        <p:nvSpPr>
          <p:cNvPr id="5" name="Footer Placeholder 4">
            <a:extLst>
              <a:ext uri="{FF2B5EF4-FFF2-40B4-BE49-F238E27FC236}">
                <a16:creationId xmlns:a16="http://schemas.microsoft.com/office/drawing/2014/main" id="{2BC5F6C9-8F50-18A7-259F-A177BF3379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45D7E5-D1B3-3078-6414-E211F21185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F44792-AB6F-4677-AFA4-58680EE337F1}" type="slidenum">
              <a:rPr lang="en-US" smtClean="0"/>
              <a:t>‹#›</a:t>
            </a:fld>
            <a:endParaRPr lang="en-US"/>
          </a:p>
        </p:txBody>
      </p:sp>
    </p:spTree>
    <p:extLst>
      <p:ext uri="{BB962C8B-B14F-4D97-AF65-F5344CB8AC3E}">
        <p14:creationId xmlns:p14="http://schemas.microsoft.com/office/powerpoint/2010/main" val="784321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6CB0-DDDC-51B9-BF02-D3BBC4E32884}"/>
              </a:ext>
            </a:extLst>
          </p:cNvPr>
          <p:cNvSpPr>
            <a:spLocks noGrp="1"/>
          </p:cNvSpPr>
          <p:nvPr>
            <p:ph type="ctrTitle"/>
          </p:nvPr>
        </p:nvSpPr>
        <p:spPr/>
        <p:txBody>
          <a:bodyPr/>
          <a:lstStyle/>
          <a:p>
            <a:r>
              <a:rPr lang="en-US" dirty="0"/>
              <a:t>Data </a:t>
            </a:r>
            <a:r>
              <a:rPr lang="en-US"/>
              <a:t>gov ontology</a:t>
            </a:r>
          </a:p>
        </p:txBody>
      </p:sp>
      <p:sp>
        <p:nvSpPr>
          <p:cNvPr id="3" name="Subtitle 2">
            <a:extLst>
              <a:ext uri="{FF2B5EF4-FFF2-40B4-BE49-F238E27FC236}">
                <a16:creationId xmlns:a16="http://schemas.microsoft.com/office/drawing/2014/main" id="{980A5AFB-3984-3683-B5DB-4BA4113A92A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31127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1C531-6C2D-DAF0-0945-005AFD6618E7}"/>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7372CB94-600F-9EE9-56B0-5A6DC172333E}"/>
              </a:ext>
            </a:extLst>
          </p:cNvPr>
          <p:cNvSpPr>
            <a:spLocks noGrp="1"/>
          </p:cNvSpPr>
          <p:nvPr>
            <p:ph idx="1"/>
          </p:nvPr>
        </p:nvSpPr>
        <p:spPr/>
        <p:txBody>
          <a:bodyPr>
            <a:noAutofit/>
          </a:bodyPr>
          <a:lstStyle/>
          <a:p>
            <a:r>
              <a:rPr lang="en-US" sz="1600" dirty="0"/>
              <a:t>This proposal outlines an approach to integrate ontological frameworks into our data catalog infrastructure, transforming it from a simple metadata repository into an intelligent, semantically-aware knowledge system.</a:t>
            </a:r>
          </a:p>
          <a:p>
            <a:r>
              <a:rPr lang="en-US" sz="1600" dirty="0"/>
              <a:t>By executing a focused pilot project on the high-value GTF Aftermarket use case, we will demonstrate how formal ontology:</a:t>
            </a:r>
          </a:p>
          <a:p>
            <a:pPr lvl="1"/>
            <a:r>
              <a:rPr lang="en-US" sz="1600" dirty="0"/>
              <a:t>Establishes machine-readable relationships between data assets</a:t>
            </a:r>
          </a:p>
          <a:p>
            <a:pPr lvl="1"/>
            <a:r>
              <a:rPr lang="en-US" sz="1600" dirty="0"/>
              <a:t>Improves data discovery</a:t>
            </a:r>
          </a:p>
          <a:p>
            <a:pPr lvl="1"/>
            <a:r>
              <a:rPr lang="en-US" sz="1600" dirty="0"/>
              <a:t>Ensures consistent terminology</a:t>
            </a:r>
          </a:p>
          <a:p>
            <a:pPr lvl="1"/>
            <a:r>
              <a:rPr lang="en-US" sz="1600" dirty="0"/>
              <a:t>Enables a more automated, context-aware approach to data governance</a:t>
            </a:r>
          </a:p>
          <a:p>
            <a:r>
              <a:rPr lang="en-US" sz="1600" dirty="0"/>
              <a:t>We will leverage existing infrastructure:</a:t>
            </a:r>
          </a:p>
          <a:p>
            <a:pPr lvl="1"/>
            <a:r>
              <a:rPr lang="en-US" sz="1600" dirty="0"/>
              <a:t>RTX Ontology-hub with Mobi Knowledge Graph platform</a:t>
            </a:r>
          </a:p>
          <a:p>
            <a:pPr lvl="1"/>
            <a:r>
              <a:rPr lang="en-US" sz="1600" dirty="0"/>
              <a:t>RTX Enterprise Ontology Suite (18 ontologies)</a:t>
            </a:r>
          </a:p>
          <a:p>
            <a:pPr lvl="1"/>
            <a:r>
              <a:rPr lang="en-US" sz="1600" dirty="0"/>
              <a:t>Toolkit for structural profiling of databases, entity resolution, inferring relations and automated column-to-class mapping</a:t>
            </a:r>
          </a:p>
          <a:p>
            <a:pPr lvl="1"/>
            <a:r>
              <a:rPr lang="en-US" sz="1600" dirty="0"/>
              <a:t>Ontology patterns and validation mechanisms</a:t>
            </a:r>
          </a:p>
          <a:p>
            <a:r>
              <a:rPr lang="en-US" sz="1600" dirty="0"/>
              <a:t>The solution transforms disparate data sources into a unified semantic layer. Expected outcomes include establishment of a scalable framework for enterprise-wide semantic data governance.</a:t>
            </a:r>
          </a:p>
        </p:txBody>
      </p:sp>
    </p:spTree>
    <p:extLst>
      <p:ext uri="{BB962C8B-B14F-4D97-AF65-F5344CB8AC3E}">
        <p14:creationId xmlns:p14="http://schemas.microsoft.com/office/powerpoint/2010/main" val="1205535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7195-66D1-0DDB-DCFC-A315386D1D02}"/>
              </a:ext>
            </a:extLst>
          </p:cNvPr>
          <p:cNvSpPr>
            <a:spLocks noGrp="1"/>
          </p:cNvSpPr>
          <p:nvPr>
            <p:ph type="title"/>
          </p:nvPr>
        </p:nvSpPr>
        <p:spPr>
          <a:xfrm>
            <a:off x="596765" y="365125"/>
            <a:ext cx="10998469" cy="702570"/>
          </a:xfrm>
        </p:spPr>
        <p:txBody>
          <a:bodyPr>
            <a:normAutofit fontScale="90000"/>
          </a:bodyPr>
          <a:lstStyle/>
          <a:p>
            <a:r>
              <a:rPr lang="en-US" dirty="0"/>
              <a:t>Problem Statement</a:t>
            </a:r>
            <a:br>
              <a:rPr lang="en-US" dirty="0"/>
            </a:br>
            <a:r>
              <a:rPr lang="en-US" sz="1800" dirty="0"/>
              <a:t>Current data catalogs faces challenges that impede effective data governance and utilization:</a:t>
            </a:r>
            <a:endParaRPr lang="en-US" dirty="0"/>
          </a:p>
        </p:txBody>
      </p:sp>
      <p:sp>
        <p:nvSpPr>
          <p:cNvPr id="3" name="Content Placeholder 2">
            <a:extLst>
              <a:ext uri="{FF2B5EF4-FFF2-40B4-BE49-F238E27FC236}">
                <a16:creationId xmlns:a16="http://schemas.microsoft.com/office/drawing/2014/main" id="{F202A59D-905F-82F4-7C89-1C7781F2FC68}"/>
              </a:ext>
            </a:extLst>
          </p:cNvPr>
          <p:cNvSpPr>
            <a:spLocks noGrp="1"/>
          </p:cNvSpPr>
          <p:nvPr>
            <p:ph idx="1"/>
          </p:nvPr>
        </p:nvSpPr>
        <p:spPr>
          <a:xfrm>
            <a:off x="596766" y="1588167"/>
            <a:ext cx="5499234" cy="4588795"/>
          </a:xfrm>
        </p:spPr>
        <p:txBody>
          <a:bodyPr>
            <a:normAutofit lnSpcReduction="10000"/>
          </a:bodyPr>
          <a:lstStyle/>
          <a:p>
            <a:pPr marL="0" indent="0">
              <a:buNone/>
            </a:pPr>
            <a:r>
              <a:rPr lang="en-US" sz="1200" b="1" dirty="0"/>
              <a:t>Semantic Ambiguity</a:t>
            </a:r>
          </a:p>
          <a:p>
            <a:pPr marL="0" indent="0">
              <a:buNone/>
            </a:pPr>
            <a:r>
              <a:rPr lang="en-US" sz="1200" dirty="0"/>
              <a:t>Different departments use varying terminology for similar concepts, creating confusion and reducing data findability:</a:t>
            </a:r>
          </a:p>
          <a:p>
            <a:r>
              <a:rPr lang="en-US" sz="1200" dirty="0"/>
              <a:t>‘Customer,’ ‘client,’ and ‘account holder’ refer to the same entity across different systems</a:t>
            </a:r>
          </a:p>
          <a:p>
            <a:r>
              <a:rPr lang="en-US" sz="1200" dirty="0"/>
              <a:t>‘Product,’ ‘item,’ and ‘SKU’ overlap conceptually but are put in data separately</a:t>
            </a:r>
          </a:p>
          <a:p>
            <a:r>
              <a:rPr lang="en-US" sz="1200" dirty="0"/>
              <a:t>Technical acronyms and business terms have multiple interpretations with no semantic linkage</a:t>
            </a:r>
          </a:p>
          <a:p>
            <a:r>
              <a:rPr lang="en-US" sz="1200" dirty="0"/>
              <a:t>This ambiguity forces analysts to rely on ‘tribal knowledge’ to stitch data together.</a:t>
            </a:r>
          </a:p>
          <a:p>
            <a:pPr marL="0" indent="0">
              <a:buNone/>
            </a:pPr>
            <a:r>
              <a:rPr lang="en-US" sz="1200" b="1" dirty="0"/>
              <a:t>Limited Relationship Mapping</a:t>
            </a:r>
          </a:p>
          <a:p>
            <a:pPr marL="0" indent="0">
              <a:buNone/>
            </a:pPr>
            <a:r>
              <a:rPr lang="en-US" sz="1200" dirty="0"/>
              <a:t>Traditional catalogs struggle to represent complex relationships between data assets, missing crucial business connections that could enhance understanding and usage:</a:t>
            </a:r>
          </a:p>
          <a:p>
            <a:r>
              <a:rPr lang="en-US" sz="1200" dirty="0"/>
              <a:t>Catalog could be blind to semantic relationships. For example, a ‘serial number’ identifies a physical asset, which participates in maintenance events, which generate work orders, which require parts procurement. Without understanding these connections, analysts must rely on manual efforts to join disparate datasets.</a:t>
            </a:r>
          </a:p>
          <a:p>
            <a:r>
              <a:rPr lang="en-US" sz="1200" dirty="0"/>
              <a:t>Cannot represent many-to-many relationships or conditional dependencies.</a:t>
            </a:r>
          </a:p>
          <a:p>
            <a:r>
              <a:rPr lang="en-US" sz="1200" dirty="0"/>
              <a:t>No automated way to trace data lineage across multiple databases and applications</a:t>
            </a:r>
          </a:p>
        </p:txBody>
      </p:sp>
      <p:sp>
        <p:nvSpPr>
          <p:cNvPr id="5" name="TextBox 4">
            <a:extLst>
              <a:ext uri="{FF2B5EF4-FFF2-40B4-BE49-F238E27FC236}">
                <a16:creationId xmlns:a16="http://schemas.microsoft.com/office/drawing/2014/main" id="{9149D354-E7AF-EF64-0570-753218F8B7FB}"/>
              </a:ext>
            </a:extLst>
          </p:cNvPr>
          <p:cNvSpPr txBox="1"/>
          <p:nvPr/>
        </p:nvSpPr>
        <p:spPr>
          <a:xfrm>
            <a:off x="6096001" y="1604544"/>
            <a:ext cx="5499234" cy="4128310"/>
          </a:xfrm>
          <a:prstGeom prst="rect">
            <a:avLst/>
          </a:prstGeom>
          <a:noFill/>
        </p:spPr>
        <p:txBody>
          <a:bodyPr wrap="square">
            <a:spAutoFit/>
          </a:bodyPr>
          <a:lstStyle/>
          <a:p>
            <a:r>
              <a:rPr lang="en-US" sz="1200" b="1" dirty="0"/>
              <a:t>Poor Contextual Understanding</a:t>
            </a:r>
          </a:p>
          <a:p>
            <a:pPr>
              <a:lnSpc>
                <a:spcPct val="90000"/>
              </a:lnSpc>
              <a:spcBef>
                <a:spcPts val="1000"/>
              </a:spcBef>
            </a:pPr>
            <a:r>
              <a:rPr lang="en-US" sz="1200" dirty="0"/>
              <a:t>Without semantic context, automated tools cannot infer relationships or suggest relevant datasets:</a:t>
            </a:r>
          </a:p>
          <a:p>
            <a:pPr marL="285750" indent="-285750">
              <a:lnSpc>
                <a:spcPct val="90000"/>
              </a:lnSpc>
              <a:spcBef>
                <a:spcPts val="1000"/>
              </a:spcBef>
              <a:buFont typeface="Arial" panose="020B0604020202020204" pitchFamily="34" charset="0"/>
              <a:buChar char="•"/>
            </a:pPr>
            <a:r>
              <a:rPr lang="en-US" sz="1200" dirty="0"/>
              <a:t>Systems cannot identify when related data exists under different naming conventions</a:t>
            </a:r>
          </a:p>
          <a:p>
            <a:pPr marL="285750" indent="-285750">
              <a:lnSpc>
                <a:spcPct val="90000"/>
              </a:lnSpc>
              <a:spcBef>
                <a:spcPts val="1000"/>
              </a:spcBef>
              <a:buFont typeface="Arial" panose="020B0604020202020204" pitchFamily="34" charset="0"/>
              <a:buChar char="•"/>
            </a:pPr>
            <a:r>
              <a:rPr lang="en-US" sz="1200" dirty="0"/>
              <a:t>No ability to automatically surface relevant datasets based on user intent</a:t>
            </a:r>
          </a:p>
          <a:p>
            <a:pPr marL="285750" indent="-285750">
              <a:lnSpc>
                <a:spcPct val="90000"/>
              </a:lnSpc>
              <a:spcBef>
                <a:spcPts val="1000"/>
              </a:spcBef>
              <a:buFont typeface="Arial" panose="020B0604020202020204" pitchFamily="34" charset="0"/>
              <a:buChar char="•"/>
            </a:pPr>
            <a:r>
              <a:rPr lang="en-US" sz="1200" dirty="0"/>
              <a:t>Cannot distinguish between similar-sounding but functionally different data elements</a:t>
            </a:r>
            <a:br>
              <a:rPr lang="en-US" sz="1200" dirty="0"/>
            </a:br>
            <a:endParaRPr lang="en-US" sz="1200" dirty="0"/>
          </a:p>
          <a:p>
            <a:endParaRPr lang="en-US" sz="1200" dirty="0"/>
          </a:p>
          <a:p>
            <a:r>
              <a:rPr lang="en-US" sz="1200" b="1" dirty="0"/>
              <a:t>Inconsistent Classification</a:t>
            </a:r>
          </a:p>
          <a:p>
            <a:pPr>
              <a:lnSpc>
                <a:spcPct val="90000"/>
              </a:lnSpc>
              <a:spcBef>
                <a:spcPts val="1000"/>
              </a:spcBef>
            </a:pPr>
            <a:r>
              <a:rPr lang="en-US" sz="1200" dirty="0"/>
              <a:t>Lack of formal taxonomies leads to ad-hoc categorization:</a:t>
            </a:r>
          </a:p>
          <a:p>
            <a:pPr marL="171450" indent="-171450">
              <a:lnSpc>
                <a:spcPct val="90000"/>
              </a:lnSpc>
              <a:spcBef>
                <a:spcPts val="1000"/>
              </a:spcBef>
              <a:buFont typeface="Arial" panose="020B0604020202020204" pitchFamily="34" charset="0"/>
              <a:buChar char="•"/>
            </a:pPr>
            <a:r>
              <a:rPr lang="en-US" sz="1200" dirty="0"/>
              <a:t>Same data gets classified differently across departments</a:t>
            </a:r>
          </a:p>
          <a:p>
            <a:pPr marL="171450" indent="-171450">
              <a:lnSpc>
                <a:spcPct val="90000"/>
              </a:lnSpc>
              <a:spcBef>
                <a:spcPts val="1000"/>
              </a:spcBef>
              <a:buFont typeface="Arial" panose="020B0604020202020204" pitchFamily="34" charset="0"/>
              <a:buChar char="•"/>
            </a:pPr>
            <a:r>
              <a:rPr lang="en-US" sz="1200" dirty="0"/>
              <a:t>No standardized hierarchy for organizing data assets</a:t>
            </a:r>
          </a:p>
          <a:p>
            <a:pPr marL="171450" indent="-171450">
              <a:lnSpc>
                <a:spcPct val="90000"/>
              </a:lnSpc>
              <a:spcBef>
                <a:spcPts val="1000"/>
              </a:spcBef>
              <a:buFont typeface="Arial" panose="020B0604020202020204" pitchFamily="34" charset="0"/>
              <a:buChar char="•"/>
            </a:pPr>
            <a:r>
              <a:rPr lang="en-US" sz="1200" dirty="0"/>
              <a:t>Could creates metadata debt that diminishes the catalog's searchability and long-term value as our data landscape inevitably grows in complexity.</a:t>
            </a:r>
          </a:p>
          <a:p>
            <a:pPr marL="171450" indent="-171450">
              <a:lnSpc>
                <a:spcPct val="90000"/>
              </a:lnSpc>
              <a:spcBef>
                <a:spcPts val="1000"/>
              </a:spcBef>
              <a:buFont typeface="Arial" panose="020B0604020202020204" pitchFamily="34" charset="0"/>
              <a:buChar char="•"/>
            </a:pPr>
            <a:r>
              <a:rPr lang="en-US" sz="1200" dirty="0"/>
              <a:t>Classification schemes that don't align with business understanding</a:t>
            </a:r>
          </a:p>
        </p:txBody>
      </p:sp>
    </p:spTree>
    <p:extLst>
      <p:ext uri="{BB962C8B-B14F-4D97-AF65-F5344CB8AC3E}">
        <p14:creationId xmlns:p14="http://schemas.microsoft.com/office/powerpoint/2010/main" val="203620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603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5BF22-3A7B-B276-EAEE-ABAD8413D87A}"/>
              </a:ext>
            </a:extLst>
          </p:cNvPr>
          <p:cNvSpPr>
            <a:spLocks noGrp="1"/>
          </p:cNvSpPr>
          <p:nvPr>
            <p:ph type="title"/>
          </p:nvPr>
        </p:nvSpPr>
        <p:spPr>
          <a:xfrm>
            <a:off x="838200" y="70339"/>
            <a:ext cx="10515600" cy="993530"/>
          </a:xfrm>
        </p:spPr>
        <p:txBody>
          <a:bodyPr>
            <a:normAutofit/>
          </a:bodyPr>
          <a:lstStyle/>
          <a:p>
            <a:r>
              <a:rPr lang="en-US" dirty="0"/>
              <a:t>Proposed Solution Architecture</a:t>
            </a:r>
            <a:br>
              <a:rPr lang="en-US" dirty="0"/>
            </a:br>
            <a:r>
              <a:rPr lang="en-US" sz="1300" dirty="0"/>
              <a:t>The integration of ontology into the data catalog involves three core components that work together to create an intelligent, semantically-aware system:</a:t>
            </a:r>
            <a:endParaRPr lang="en-US" dirty="0"/>
          </a:p>
        </p:txBody>
      </p:sp>
      <p:sp>
        <p:nvSpPr>
          <p:cNvPr id="3" name="Content Placeholder 2">
            <a:extLst>
              <a:ext uri="{FF2B5EF4-FFF2-40B4-BE49-F238E27FC236}">
                <a16:creationId xmlns:a16="http://schemas.microsoft.com/office/drawing/2014/main" id="{2C7984E0-4681-7502-6375-ACE3C5233298}"/>
              </a:ext>
            </a:extLst>
          </p:cNvPr>
          <p:cNvSpPr>
            <a:spLocks noGrp="1"/>
          </p:cNvSpPr>
          <p:nvPr>
            <p:ph idx="1"/>
          </p:nvPr>
        </p:nvSpPr>
        <p:spPr>
          <a:xfrm>
            <a:off x="838200" y="1178169"/>
            <a:ext cx="10515600" cy="4998794"/>
          </a:xfrm>
        </p:spPr>
        <p:txBody>
          <a:bodyPr>
            <a:normAutofit fontScale="25000" lnSpcReduction="20000"/>
          </a:bodyPr>
          <a:lstStyle/>
          <a:p>
            <a:pPr marL="0" indent="0">
              <a:buNone/>
            </a:pPr>
            <a:r>
              <a:rPr lang="en-US" sz="3200" b="1" dirty="0"/>
              <a:t>1. Ontology Layer</a:t>
            </a:r>
          </a:p>
          <a:p>
            <a:r>
              <a:rPr lang="en-US" sz="3200" dirty="0"/>
              <a:t>A formal semantic model that defines entities, attributes, relationships, and rules governing the data landscape:</a:t>
            </a:r>
          </a:p>
          <a:p>
            <a:r>
              <a:rPr lang="en-US" sz="3200" b="1" dirty="0"/>
              <a:t>Domain Ontologies</a:t>
            </a:r>
            <a:r>
              <a:rPr lang="en-US" sz="3200" dirty="0"/>
              <a:t>: Leverage industry-standard models (FIBO for finance, HL7 for healthcare, etc.) where applicable</a:t>
            </a:r>
          </a:p>
          <a:p>
            <a:r>
              <a:rPr lang="en-US" sz="3200" b="1" dirty="0"/>
              <a:t>Enterprise Ontology</a:t>
            </a:r>
            <a:r>
              <a:rPr lang="en-US" sz="3200" dirty="0"/>
              <a:t>: Custom organizational concepts aligned with business terminology</a:t>
            </a:r>
          </a:p>
          <a:p>
            <a:r>
              <a:rPr lang="en-US" sz="3200" b="1" dirty="0"/>
              <a:t>Upper Ontologies</a:t>
            </a:r>
            <a:r>
              <a:rPr lang="en-US" sz="3200" dirty="0"/>
              <a:t>: Integration with foundational frameworks (BFO/CCO/IOF) ensuring philosophical consistency</a:t>
            </a:r>
          </a:p>
          <a:p>
            <a:r>
              <a:rPr lang="en-US" sz="3200" b="1" dirty="0"/>
              <a:t>Ontology Modeling Canvas</a:t>
            </a:r>
            <a:r>
              <a:rPr lang="en-US" sz="3200" dirty="0"/>
              <a:t>: Structured approach categorizing concepts into Material Things, Information Things, Processes, Qualities, and Time Periods</a:t>
            </a:r>
          </a:p>
          <a:p>
            <a:endParaRPr lang="en-US" sz="3200" b="1" dirty="0"/>
          </a:p>
          <a:p>
            <a:pPr marL="0" indent="0">
              <a:buNone/>
            </a:pPr>
            <a:r>
              <a:rPr lang="en-US" sz="3200" b="1" dirty="0"/>
              <a:t>2. Semantic Enrichment Engine</a:t>
            </a:r>
          </a:p>
          <a:p>
            <a:r>
              <a:rPr lang="en-US" sz="3200" dirty="0"/>
              <a:t>An automated system that bridges raw data and semantic understanding:</a:t>
            </a:r>
          </a:p>
          <a:p>
            <a:r>
              <a:rPr lang="en-US" sz="3200" b="1" dirty="0"/>
              <a:t>Automated Schema Profiling</a:t>
            </a:r>
            <a:r>
              <a:rPr lang="en-US" sz="3200" dirty="0"/>
              <a:t>: Analyzes database structures to identify patterns, frequencies, and relationships</a:t>
            </a:r>
          </a:p>
          <a:p>
            <a:r>
              <a:rPr lang="en-US" sz="3200" b="1" dirty="0"/>
              <a:t>Column-to-Concept Mapping</a:t>
            </a:r>
            <a:r>
              <a:rPr lang="en-US" sz="3200" dirty="0"/>
              <a:t>: LLM-powered tools suggest semantic mappings with 80% accuracy</a:t>
            </a:r>
          </a:p>
          <a:p>
            <a:r>
              <a:rPr lang="en-US" sz="3200" b="1" dirty="0"/>
              <a:t>Entity Resolution</a:t>
            </a:r>
            <a:r>
              <a:rPr lang="en-US" sz="3200" dirty="0"/>
              <a:t>: Identifies synonymous data elements across systems (e.g., "</a:t>
            </a:r>
            <a:r>
              <a:rPr lang="en-US" sz="3200" dirty="0" err="1"/>
              <a:t>customer_id</a:t>
            </a:r>
            <a:r>
              <a:rPr lang="en-US" sz="3200" dirty="0"/>
              <a:t>" = "</a:t>
            </a:r>
            <a:r>
              <a:rPr lang="en-US" sz="3200" dirty="0" err="1"/>
              <a:t>client_number</a:t>
            </a:r>
            <a:r>
              <a:rPr lang="en-US" sz="3200" dirty="0"/>
              <a:t>")</a:t>
            </a:r>
          </a:p>
          <a:p>
            <a:r>
              <a:rPr lang="en-US" sz="3200" b="1" dirty="0"/>
              <a:t>Relationship Discovery</a:t>
            </a:r>
            <a:r>
              <a:rPr lang="en-US" sz="3200" dirty="0"/>
              <a:t>: Graph algorithms detect implicit connections between data assets</a:t>
            </a:r>
          </a:p>
          <a:p>
            <a:r>
              <a:rPr lang="en-US" sz="3200" b="1" dirty="0"/>
              <a:t>Pattern Recognition</a:t>
            </a:r>
            <a:r>
              <a:rPr lang="en-US" sz="3200" dirty="0"/>
              <a:t>: Reusable templates accelerate mapping of common data structures</a:t>
            </a:r>
          </a:p>
          <a:p>
            <a:endParaRPr lang="en-US" sz="3200" b="1" dirty="0"/>
          </a:p>
          <a:p>
            <a:pPr marL="0" indent="0">
              <a:buNone/>
            </a:pPr>
            <a:r>
              <a:rPr lang="en-US" sz="3200" b="1" dirty="0"/>
              <a:t>3. Knowledge Graph Interface</a:t>
            </a:r>
          </a:p>
          <a:p>
            <a:r>
              <a:rPr lang="en-US" sz="3200" dirty="0"/>
              <a:t>A graph-based representation layer making semantic relationships accessible and actionable:</a:t>
            </a:r>
          </a:p>
          <a:p>
            <a:r>
              <a:rPr lang="en-US" sz="3200" b="1" dirty="0"/>
              <a:t>IRI-Resolvable Documentation</a:t>
            </a:r>
            <a:r>
              <a:rPr lang="en-US" sz="3200" dirty="0"/>
              <a:t>: Each concept has a unique web-accessible page with definitions, examples, and mappings</a:t>
            </a:r>
          </a:p>
          <a:p>
            <a:r>
              <a:rPr lang="en-US" sz="3200" b="1" dirty="0"/>
              <a:t>Visual Navigation</a:t>
            </a:r>
            <a:r>
              <a:rPr lang="en-US" sz="3200" dirty="0"/>
              <a:t>: Interactive graph visualization for exploring data relationships</a:t>
            </a:r>
          </a:p>
          <a:p>
            <a:r>
              <a:rPr lang="en-US" sz="3200" b="1" dirty="0"/>
              <a:t>Natural Language Query</a:t>
            </a:r>
            <a:r>
              <a:rPr lang="en-US" sz="3200" dirty="0"/>
              <a:t>: Translates business questions into semantic queries automatically</a:t>
            </a:r>
          </a:p>
          <a:p>
            <a:r>
              <a:rPr lang="en-US" sz="3200" b="1" dirty="0"/>
              <a:t>API Integration</a:t>
            </a:r>
            <a:r>
              <a:rPr lang="en-US" sz="3200" dirty="0"/>
              <a:t>: RESTful services and SPARQL endpoints for programmatic access</a:t>
            </a:r>
          </a:p>
          <a:p>
            <a:r>
              <a:rPr lang="en-US" sz="3200" b="1" dirty="0"/>
              <a:t>Bi-directional Sync</a:t>
            </a:r>
            <a:r>
              <a:rPr lang="en-US" sz="3200" dirty="0"/>
              <a:t>: Real-time synchronization with existing data catalog tools (Informatica, Collibra, Alation)</a:t>
            </a:r>
          </a:p>
          <a:p>
            <a:endParaRPr lang="en-US" dirty="0"/>
          </a:p>
        </p:txBody>
      </p:sp>
    </p:spTree>
    <p:extLst>
      <p:ext uri="{BB962C8B-B14F-4D97-AF65-F5344CB8AC3E}">
        <p14:creationId xmlns:p14="http://schemas.microsoft.com/office/powerpoint/2010/main" val="1545819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97ED-52F3-822A-E711-175E91CC44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84DD9F-D376-6099-203D-FE44428A9046}"/>
              </a:ext>
            </a:extLst>
          </p:cNvPr>
          <p:cNvSpPr>
            <a:spLocks noGrp="1"/>
          </p:cNvSpPr>
          <p:nvPr>
            <p:ph idx="1"/>
          </p:nvPr>
        </p:nvSpPr>
        <p:spPr/>
        <p:txBody>
          <a:bodyPr>
            <a:normAutofit fontScale="40000" lnSpcReduction="20000"/>
          </a:bodyPr>
          <a:lstStyle/>
          <a:p>
            <a:r>
              <a:rPr lang="en-US" b="1" dirty="0"/>
              <a:t>Solution Architecture</a:t>
            </a:r>
          </a:p>
          <a:p>
            <a:r>
              <a:rPr lang="en-US" b="1" dirty="0"/>
              <a:t>Approach</a:t>
            </a:r>
            <a:br>
              <a:rPr lang="en-US" dirty="0"/>
            </a:br>
            <a:r>
              <a:rPr lang="en-US" dirty="0"/>
              <a:t>Integrate ontological frameworks into the data catalog to create a </a:t>
            </a:r>
            <a:r>
              <a:rPr lang="en-US" b="1" dirty="0"/>
              <a:t>semantic layer</a:t>
            </a:r>
            <a:r>
              <a:rPr lang="en-US" dirty="0"/>
              <a:t> that unifies disparate data sources, enables consistent terminology, and supports automated governance.</a:t>
            </a:r>
          </a:p>
          <a:p>
            <a:r>
              <a:rPr lang="en-US" b="1" dirty="0"/>
              <a:t>Core Components</a:t>
            </a:r>
            <a:endParaRPr lang="en-US" dirty="0"/>
          </a:p>
          <a:p>
            <a:r>
              <a:rPr lang="en-US" b="1" dirty="0"/>
              <a:t>Ontology Layer</a:t>
            </a:r>
            <a:endParaRPr lang="en-US" dirty="0"/>
          </a:p>
          <a:p>
            <a:pPr lvl="1"/>
            <a:r>
              <a:rPr lang="en-US" dirty="0"/>
              <a:t>Formal semantic model defining entities, attributes, and relationships</a:t>
            </a:r>
          </a:p>
          <a:p>
            <a:pPr lvl="1"/>
            <a:r>
              <a:rPr lang="en-US" dirty="0"/>
              <a:t>Reusable ontology patterns (aligned to enterprise suite of 18 ontologies)</a:t>
            </a:r>
          </a:p>
          <a:p>
            <a:r>
              <a:rPr lang="en-US" b="1" dirty="0"/>
              <a:t>Semantic Enrichment Engine</a:t>
            </a:r>
            <a:endParaRPr lang="en-US" dirty="0"/>
          </a:p>
          <a:p>
            <a:pPr lvl="1"/>
            <a:r>
              <a:rPr lang="en-US" dirty="0"/>
              <a:t>Automated schema profiling and acronym resolution</a:t>
            </a:r>
          </a:p>
          <a:p>
            <a:pPr lvl="1"/>
            <a:r>
              <a:rPr lang="en-US" dirty="0"/>
              <a:t>Column-to-class mapping tools</a:t>
            </a:r>
          </a:p>
          <a:p>
            <a:pPr lvl="1"/>
            <a:r>
              <a:rPr lang="en-US" dirty="0"/>
              <a:t>Entity resolution and inferred relationships</a:t>
            </a:r>
          </a:p>
          <a:p>
            <a:r>
              <a:rPr lang="en-US" b="1" dirty="0"/>
              <a:t>Knowledge Graph Interface</a:t>
            </a:r>
            <a:endParaRPr lang="en-US" dirty="0"/>
          </a:p>
          <a:p>
            <a:pPr lvl="1"/>
            <a:r>
              <a:rPr lang="en-US" dirty="0"/>
              <a:t>Graph representation of catalog metadata</a:t>
            </a:r>
          </a:p>
          <a:p>
            <a:pPr lvl="1"/>
            <a:r>
              <a:rPr lang="en-US" dirty="0"/>
              <a:t>Machine-readable relationships between assets</a:t>
            </a:r>
          </a:p>
          <a:p>
            <a:pPr lvl="1"/>
            <a:r>
              <a:rPr lang="en-US" dirty="0"/>
              <a:t>Semantic search and navigation for both technical and business users</a:t>
            </a:r>
          </a:p>
          <a:p>
            <a:r>
              <a:rPr lang="en-US" b="1" dirty="0"/>
              <a:t>Benefits</a:t>
            </a:r>
            <a:endParaRPr lang="en-US" dirty="0"/>
          </a:p>
          <a:p>
            <a:r>
              <a:rPr lang="en-US" dirty="0"/>
              <a:t>Eliminates semantic ambiguity and inconsistent classification</a:t>
            </a:r>
          </a:p>
          <a:p>
            <a:r>
              <a:rPr lang="en-US" dirty="0"/>
              <a:t>Enables faster, more accurate data discovery</a:t>
            </a:r>
          </a:p>
          <a:p>
            <a:r>
              <a:rPr lang="en-US" dirty="0"/>
              <a:t>Provides contextual, machine-interpretable relationships</a:t>
            </a:r>
          </a:p>
          <a:p>
            <a:r>
              <a:rPr lang="en-US"/>
              <a:t>Establishes scalable foundation for enterprise-wide semantic data governance</a:t>
            </a:r>
          </a:p>
        </p:txBody>
      </p:sp>
    </p:spTree>
    <p:extLst>
      <p:ext uri="{BB962C8B-B14F-4D97-AF65-F5344CB8AC3E}">
        <p14:creationId xmlns:p14="http://schemas.microsoft.com/office/powerpoint/2010/main" val="1435608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54745-7F66-3164-F435-8F4D58C25B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A214B5-E37E-0B4A-7D16-E37D58FBCC0A}"/>
              </a:ext>
            </a:extLst>
          </p:cNvPr>
          <p:cNvSpPr>
            <a:spLocks noGrp="1"/>
          </p:cNvSpPr>
          <p:nvPr>
            <p:ph idx="1"/>
          </p:nvPr>
        </p:nvSpPr>
        <p:spPr/>
        <p:txBody>
          <a:bodyPr>
            <a:normAutofit fontScale="77500" lnSpcReduction="20000"/>
          </a:bodyPr>
          <a:lstStyle/>
          <a:p>
            <a:r>
              <a:rPr lang="en-US" b="1" dirty="0"/>
              <a:t>Proposed Solution Architecture</a:t>
            </a:r>
          </a:p>
          <a:p>
            <a:r>
              <a:rPr lang="en-US" dirty="0"/>
              <a:t>The integration of ontology into the data catalog involves three core components:</a:t>
            </a:r>
          </a:p>
          <a:p>
            <a:r>
              <a:rPr lang="en-US" b="1" dirty="0"/>
              <a:t>Ontology Layer</a:t>
            </a:r>
            <a:r>
              <a:rPr lang="en-US" dirty="0"/>
              <a:t>: A formal semantic model that defines entities, attributes, relationships, and rules governing the data landscape. This includes both domain-specific ontologies (such as FIBO for financial services or HL7 for healthcare) and custom organizational </a:t>
            </a:r>
            <a:r>
              <a:rPr lang="en-US" dirty="0" err="1"/>
              <a:t>aontologies</a:t>
            </a:r>
            <a:r>
              <a:rPr lang="en-US" dirty="0"/>
              <a:t>.</a:t>
            </a:r>
          </a:p>
          <a:p>
            <a:r>
              <a:rPr lang="en-US" b="1" dirty="0"/>
              <a:t>Semantic Enrichment Engine</a:t>
            </a:r>
            <a:r>
              <a:rPr lang="en-US" dirty="0"/>
              <a:t>: An automated system that maps existing catalog metadata to ontological concepts, identifies relationships, and infers new connections based on defined rules. This engine would use techniques like natural language processing for description analysis and pattern recognition for relationship discovery.</a:t>
            </a:r>
          </a:p>
          <a:p>
            <a:r>
              <a:rPr lang="en-US" b="1" dirty="0"/>
              <a:t>Knowledge Graph Interface</a:t>
            </a:r>
            <a:r>
              <a:rPr lang="en-US" dirty="0"/>
              <a:t>: A graph-based representation layer that visualizes and enables navigation through the semantic relationships, making complex data landscapes more intuitive for both technical and business users.</a:t>
            </a:r>
          </a:p>
          <a:p>
            <a:endParaRPr lang="en-US" dirty="0"/>
          </a:p>
        </p:txBody>
      </p:sp>
    </p:spTree>
    <p:extLst>
      <p:ext uri="{BB962C8B-B14F-4D97-AF65-F5344CB8AC3E}">
        <p14:creationId xmlns:p14="http://schemas.microsoft.com/office/powerpoint/2010/main" val="2899840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49F77-200A-C588-693C-F00C90E9C0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80DDDC-040D-5F7E-A6DA-ED86B8BC5949}"/>
              </a:ext>
            </a:extLst>
          </p:cNvPr>
          <p:cNvSpPr>
            <a:spLocks noGrp="1"/>
          </p:cNvSpPr>
          <p:nvPr>
            <p:ph idx="1"/>
          </p:nvPr>
        </p:nvSpPr>
        <p:spPr/>
        <p:txBody>
          <a:bodyPr>
            <a:normAutofit fontScale="85000" lnSpcReduction="20000"/>
          </a:bodyPr>
          <a:lstStyle/>
          <a:p>
            <a:r>
              <a:rPr lang="en-US" b="1" dirty="0"/>
              <a:t>3. Methodology: DSQ-Driven, Bottom-Up Enriched</a:t>
            </a:r>
            <a:endParaRPr lang="en-US" dirty="0"/>
          </a:p>
          <a:p>
            <a:r>
              <a:rPr lang="en-US" dirty="0"/>
              <a:t>We will adopt a hybrid approach that is driven by business needs and grounded in the physical data.</a:t>
            </a:r>
          </a:p>
          <a:p>
            <a:r>
              <a:rPr lang="en-US" b="1" dirty="0"/>
              <a:t>DSQ-Driven Scoping:</a:t>
            </a:r>
            <a:r>
              <a:rPr lang="en-US" dirty="0"/>
              <a:t> We start with the high-priority business questions. These questions dictate which data entities and relationships are most important.</a:t>
            </a:r>
          </a:p>
          <a:p>
            <a:r>
              <a:rPr lang="en-US" b="1" dirty="0"/>
              <a:t>Bottom-Up Data Analysis:</a:t>
            </a:r>
            <a:r>
              <a:rPr lang="en-US" dirty="0"/>
              <a:t> We analyze the schemas of the source systems (e.g., </a:t>
            </a:r>
            <a:r>
              <a:rPr lang="en-US" dirty="0" err="1"/>
              <a:t>prd_cems</a:t>
            </a:r>
            <a:r>
              <a:rPr lang="en-US" dirty="0"/>
              <a:t>, </a:t>
            </a:r>
            <a:r>
              <a:rPr lang="en-US" dirty="0" err="1"/>
              <a:t>app_sap</a:t>
            </a:r>
            <a:r>
              <a:rPr lang="en-US" dirty="0"/>
              <a:t>) to understand their structure, keys, and content.</a:t>
            </a:r>
          </a:p>
          <a:p>
            <a:r>
              <a:rPr lang="en-US" b="1" dirty="0"/>
              <a:t>Semantic Mapping with the Ontology Canvas:</a:t>
            </a:r>
            <a:r>
              <a:rPr lang="en-US" dirty="0"/>
              <a:t> We will use your established </a:t>
            </a:r>
            <a:r>
              <a:rPr lang="en-US" b="1" dirty="0"/>
              <a:t>Ontology Modeling Canvas</a:t>
            </a:r>
            <a:r>
              <a:rPr lang="en-US" dirty="0"/>
              <a:t> (based on BFO principles) as the bridge between the physical and conceptual worlds. Each relevant data column will be systematically categorized and modeled, ensuring a rigorous and consistent mapping. For instance, a column like </a:t>
            </a:r>
            <a:r>
              <a:rPr lang="en-US" dirty="0" err="1"/>
              <a:t>material_number</a:t>
            </a:r>
            <a:r>
              <a:rPr lang="en-US" dirty="0"/>
              <a:t> will be mapped as an Identifier (Information Thing) that designates a </a:t>
            </a:r>
            <a:r>
              <a:rPr lang="en-US" dirty="0" err="1"/>
              <a:t>PartInstance</a:t>
            </a:r>
            <a:r>
              <a:rPr lang="en-US" dirty="0"/>
              <a:t> (Material Thing).</a:t>
            </a:r>
          </a:p>
          <a:p>
            <a:endParaRPr lang="en-US" dirty="0"/>
          </a:p>
        </p:txBody>
      </p:sp>
    </p:spTree>
    <p:extLst>
      <p:ext uri="{BB962C8B-B14F-4D97-AF65-F5344CB8AC3E}">
        <p14:creationId xmlns:p14="http://schemas.microsoft.com/office/powerpoint/2010/main" val="4151825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6EDF-CFED-5289-0E3E-C8E9D34129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23FAF9-9EDB-15C3-0B62-1A5C07AB320C}"/>
              </a:ext>
            </a:extLst>
          </p:cNvPr>
          <p:cNvSpPr>
            <a:spLocks noGrp="1"/>
          </p:cNvSpPr>
          <p:nvPr>
            <p:ph idx="1"/>
          </p:nvPr>
        </p:nvSpPr>
        <p:spPr/>
        <p:txBody>
          <a:bodyPr>
            <a:normAutofit fontScale="92500" lnSpcReduction="20000"/>
          </a:bodyPr>
          <a:lstStyle/>
          <a:p>
            <a:r>
              <a:rPr lang="fr-FR" dirty="0"/>
              <a:t>1. Anchor on </a:t>
            </a:r>
            <a:r>
              <a:rPr lang="fr-FR" dirty="0" err="1"/>
              <a:t>Decision</a:t>
            </a:r>
            <a:r>
              <a:rPr lang="fr-FR" dirty="0"/>
              <a:t> Support Questions (</a:t>
            </a:r>
            <a:r>
              <a:rPr lang="fr-FR" dirty="0" err="1"/>
              <a:t>DSQs</a:t>
            </a:r>
            <a:r>
              <a:rPr lang="fr-FR" dirty="0"/>
              <a:t>)</a:t>
            </a:r>
          </a:p>
          <a:p>
            <a:r>
              <a:rPr lang="en-US" dirty="0"/>
              <a:t>2. Bottom-Up Data Profiling &amp; Mapping</a:t>
            </a:r>
          </a:p>
          <a:p>
            <a:r>
              <a:rPr lang="en-US" dirty="0"/>
              <a:t>Start with schemas and progressively align them to the ontology:</a:t>
            </a:r>
          </a:p>
          <a:p>
            <a:pPr lvl="1"/>
            <a:r>
              <a:rPr lang="en-US" dirty="0"/>
              <a:t>Profiling:</a:t>
            </a:r>
          </a:p>
          <a:p>
            <a:pPr lvl="2"/>
            <a:r>
              <a:rPr lang="en-US" dirty="0"/>
              <a:t>Extract column names, data types, PK/FK, frequency, and distinct values.</a:t>
            </a:r>
          </a:p>
          <a:p>
            <a:pPr lvl="2"/>
            <a:r>
              <a:rPr lang="en-US" dirty="0"/>
              <a:t>Detect abbreviations (e.g., ESN → Engine Serial Number) using acronym dataset.</a:t>
            </a:r>
          </a:p>
          <a:p>
            <a:pPr lvl="1"/>
            <a:r>
              <a:rPr lang="en-US" dirty="0"/>
              <a:t>Column-to-Concept Mapping:</a:t>
            </a:r>
          </a:p>
          <a:p>
            <a:pPr lvl="2"/>
            <a:r>
              <a:rPr lang="en-US" dirty="0"/>
              <a:t>Use the ontology modeling canvas (Material Things, Qualities, Information, Processes, Time Periods) to classify columns.</a:t>
            </a:r>
          </a:p>
          <a:p>
            <a:pPr lvl="2"/>
            <a:r>
              <a:rPr lang="en-US" dirty="0"/>
              <a:t>Map ESN → </a:t>
            </a:r>
            <a:r>
              <a:rPr lang="en-US" dirty="0" err="1"/>
              <a:t>EngineInstance</a:t>
            </a:r>
            <a:r>
              <a:rPr lang="en-US" dirty="0"/>
              <a:t> Identifier, plant → </a:t>
            </a:r>
            <a:r>
              <a:rPr lang="en-US" dirty="0" err="1"/>
              <a:t>StorageLocation</a:t>
            </a:r>
            <a:r>
              <a:rPr lang="en-US" dirty="0"/>
              <a:t>, </a:t>
            </a:r>
            <a:r>
              <a:rPr lang="en-US" dirty="0" err="1"/>
              <a:t>PO_Number</a:t>
            </a:r>
            <a:r>
              <a:rPr lang="en-US" dirty="0"/>
              <a:t> → </a:t>
            </a:r>
            <a:r>
              <a:rPr lang="en-US" dirty="0" err="1"/>
              <a:t>PurchaseOrder</a:t>
            </a:r>
            <a:r>
              <a:rPr lang="en-US" dirty="0"/>
              <a:t>.</a:t>
            </a:r>
          </a:p>
          <a:p>
            <a:pPr lvl="1"/>
            <a:r>
              <a:rPr lang="en-US" dirty="0"/>
              <a:t>Contextual Linking:</a:t>
            </a:r>
          </a:p>
          <a:p>
            <a:pPr lvl="2"/>
            <a:r>
              <a:rPr lang="en-US" dirty="0"/>
              <a:t>Use schema joins and foreign keys to show relationships (e.g., </a:t>
            </a:r>
            <a:r>
              <a:rPr lang="en-US" dirty="0" err="1"/>
              <a:t>POLineItem</a:t>
            </a:r>
            <a:r>
              <a:rPr lang="en-US" dirty="0"/>
              <a:t> → </a:t>
            </a:r>
            <a:r>
              <a:rPr lang="en-US" dirty="0" err="1"/>
              <a:t>PurchaseOrder</a:t>
            </a:r>
            <a:r>
              <a:rPr lang="en-US" dirty="0"/>
              <a:t> → </a:t>
            </a:r>
            <a:r>
              <a:rPr lang="en-US" dirty="0" err="1"/>
              <a:t>EngineInstance</a:t>
            </a:r>
            <a:r>
              <a:rPr lang="en-US" dirty="0"/>
              <a:t>).</a:t>
            </a:r>
          </a:p>
        </p:txBody>
      </p:sp>
    </p:spTree>
    <p:extLst>
      <p:ext uri="{BB962C8B-B14F-4D97-AF65-F5344CB8AC3E}">
        <p14:creationId xmlns:p14="http://schemas.microsoft.com/office/powerpoint/2010/main" val="2138225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5504-B4E1-6B76-6705-A9797E2EA4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C505C9-77B3-8214-B280-F48887A28707}"/>
              </a:ext>
            </a:extLst>
          </p:cNvPr>
          <p:cNvSpPr>
            <a:spLocks noGrp="1"/>
          </p:cNvSpPr>
          <p:nvPr>
            <p:ph idx="1"/>
          </p:nvPr>
        </p:nvSpPr>
        <p:spPr/>
        <p:txBody>
          <a:bodyPr>
            <a:normAutofit fontScale="92500" lnSpcReduction="10000"/>
          </a:bodyPr>
          <a:lstStyle/>
          <a:p>
            <a:r>
              <a:rPr lang="en-US" b="1" dirty="0"/>
              <a:t>3. Ontology Modeling &amp; Enrichment</a:t>
            </a:r>
          </a:p>
          <a:p>
            <a:r>
              <a:rPr lang="en-US" b="1" dirty="0"/>
              <a:t>Canvas Modeling</a:t>
            </a:r>
            <a:r>
              <a:rPr lang="en-US" dirty="0"/>
              <a:t>: For each concept (</a:t>
            </a:r>
            <a:r>
              <a:rPr lang="en-US" dirty="0" err="1"/>
              <a:t>EngineInstance</a:t>
            </a:r>
            <a:r>
              <a:rPr lang="en-US" dirty="0"/>
              <a:t>, </a:t>
            </a:r>
            <a:r>
              <a:rPr lang="en-US" dirty="0" err="1"/>
              <a:t>PurchaseOrder</a:t>
            </a:r>
            <a:r>
              <a:rPr lang="en-US" dirty="0"/>
              <a:t>, </a:t>
            </a:r>
            <a:r>
              <a:rPr lang="en-US" dirty="0" err="1"/>
              <a:t>PartMovement</a:t>
            </a:r>
            <a:r>
              <a:rPr lang="en-US" dirty="0"/>
              <a:t>, </a:t>
            </a:r>
            <a:r>
              <a:rPr lang="en-US" dirty="0" err="1"/>
              <a:t>ShopVisit</a:t>
            </a:r>
            <a:r>
              <a:rPr lang="en-US" dirty="0"/>
              <a:t>), show its place in the canvas (Material, Process, Information, etc.).</a:t>
            </a:r>
          </a:p>
          <a:p>
            <a:r>
              <a:rPr lang="en-US" b="1" dirty="0"/>
              <a:t>Class Pages</a:t>
            </a:r>
            <a:r>
              <a:rPr lang="en-US" dirty="0"/>
              <a:t>: For the demo, prepare 2–3 example “ontology class webpages” with:</a:t>
            </a:r>
          </a:p>
          <a:p>
            <a:pPr lvl="1"/>
            <a:r>
              <a:rPr lang="en-US" dirty="0"/>
              <a:t>Definition (from ontology).</a:t>
            </a:r>
          </a:p>
          <a:p>
            <a:pPr lvl="1"/>
            <a:r>
              <a:rPr lang="en-US" dirty="0"/>
              <a:t>Example data mapped.</a:t>
            </a:r>
          </a:p>
          <a:p>
            <a:pPr lvl="1"/>
            <a:r>
              <a:rPr lang="en-US" dirty="0"/>
              <a:t>Relationships (mini graph or canvas snapshot).</a:t>
            </a:r>
          </a:p>
          <a:p>
            <a:pPr lvl="1"/>
            <a:r>
              <a:rPr lang="en-US" dirty="0"/>
              <a:t>Real-world photo (e.g., Engine, Engine Part).</a:t>
            </a:r>
          </a:p>
          <a:p>
            <a:pPr lvl="1"/>
            <a:r>
              <a:rPr lang="en-US" dirty="0"/>
              <a:t>Annotation properties (acronym expansion, synonyms).</a:t>
            </a:r>
          </a:p>
          <a:p>
            <a:pPr lvl="1"/>
            <a:r>
              <a:rPr lang="en-US" dirty="0"/>
              <a:t>Optional: first-order logic axioms (for experts).</a:t>
            </a:r>
          </a:p>
          <a:p>
            <a:endParaRPr lang="en-US" dirty="0"/>
          </a:p>
        </p:txBody>
      </p:sp>
    </p:spTree>
    <p:extLst>
      <p:ext uri="{BB962C8B-B14F-4D97-AF65-F5344CB8AC3E}">
        <p14:creationId xmlns:p14="http://schemas.microsoft.com/office/powerpoint/2010/main" val="3274374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6FB8-BAC5-6E8D-A5D7-7AF1C32888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52929C-0F5C-1E40-A663-52BB966D904A}"/>
              </a:ext>
            </a:extLst>
          </p:cNvPr>
          <p:cNvSpPr>
            <a:spLocks noGrp="1"/>
          </p:cNvSpPr>
          <p:nvPr>
            <p:ph idx="1"/>
          </p:nvPr>
        </p:nvSpPr>
        <p:spPr/>
        <p:txBody>
          <a:bodyPr>
            <a:normAutofit lnSpcReduction="10000"/>
          </a:bodyPr>
          <a:lstStyle/>
          <a:p>
            <a:r>
              <a:rPr lang="en-US" b="1" dirty="0"/>
              <a:t>4. Knowledge Graph + Catalog Integration</a:t>
            </a:r>
          </a:p>
          <a:p>
            <a:r>
              <a:rPr lang="en-US" dirty="0"/>
              <a:t>Show the integration path:</a:t>
            </a:r>
          </a:p>
          <a:p>
            <a:r>
              <a:rPr lang="en-US" b="1" dirty="0"/>
              <a:t>Mobi KG Platform</a:t>
            </a:r>
            <a:r>
              <a:rPr lang="en-US" dirty="0"/>
              <a:t>: Host ontology and acronym dataset, expose via API.</a:t>
            </a:r>
          </a:p>
          <a:p>
            <a:r>
              <a:rPr lang="en-US" b="1" dirty="0"/>
              <a:t>Data Catalog (Informatica or Purview)</a:t>
            </a:r>
            <a:r>
              <a:rPr lang="en-US" dirty="0"/>
              <a:t>: Ingest enriched metadata. Columns now resolve to ontology concepts.</a:t>
            </a:r>
          </a:p>
          <a:p>
            <a:r>
              <a:rPr lang="en-US" b="1" dirty="0"/>
              <a:t>APIs</a:t>
            </a:r>
            <a:r>
              <a:rPr lang="en-US" dirty="0"/>
              <a:t>: Sync definitions, mappings, and acronyms across platforms.</a:t>
            </a:r>
          </a:p>
          <a:p>
            <a:r>
              <a:rPr lang="en-US" b="1" dirty="0"/>
              <a:t>LLM Helper Tools</a:t>
            </a:r>
            <a:r>
              <a:rPr lang="en-US" dirty="0"/>
              <a:t>: Accelerate mapping by suggesting ontology classes for columns. Human review ensures governance quality.</a:t>
            </a:r>
          </a:p>
          <a:p>
            <a:endParaRPr lang="en-US" dirty="0"/>
          </a:p>
        </p:txBody>
      </p:sp>
    </p:spTree>
    <p:extLst>
      <p:ext uri="{BB962C8B-B14F-4D97-AF65-F5344CB8AC3E}">
        <p14:creationId xmlns:p14="http://schemas.microsoft.com/office/powerpoint/2010/main" val="1535834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6E2B4-C1A4-2E91-6CD6-0603C095D8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82433D-B61C-2565-2ED7-C96C3BDCF6DA}"/>
              </a:ext>
            </a:extLst>
          </p:cNvPr>
          <p:cNvSpPr>
            <a:spLocks noGrp="1"/>
          </p:cNvSpPr>
          <p:nvPr>
            <p:ph idx="1"/>
          </p:nvPr>
        </p:nvSpPr>
        <p:spPr/>
        <p:txBody>
          <a:bodyPr>
            <a:normAutofit fontScale="55000" lnSpcReduction="20000"/>
          </a:bodyPr>
          <a:lstStyle/>
          <a:p>
            <a:r>
              <a:rPr lang="en-US" dirty="0"/>
              <a:t>Start by DSQs- how do we get DSQs (Aftermarket case these are already defined )</a:t>
            </a:r>
          </a:p>
          <a:p>
            <a:r>
              <a:rPr lang="en-US" dirty="0"/>
              <a:t>But in other cases, we reach out to stakeholders and ask what questions of data are difficult, are you facing difficulties, what are pain </a:t>
            </a:r>
            <a:r>
              <a:rPr lang="en-US" dirty="0" err="1"/>
              <a:t>aread</a:t>
            </a:r>
            <a:r>
              <a:rPr lang="en-US" dirty="0"/>
              <a:t> you facing while dealing with data, what do you want to know from data that you cannot know today. You know it is in there in data but it takes lots of searching and connecting information. Tell us that, we create DSQs from it. </a:t>
            </a:r>
          </a:p>
          <a:p>
            <a:r>
              <a:rPr lang="en-US" dirty="0"/>
              <a:t>Once we know DSQs we know what data is useful, then we go to data sources and do profiling. We analyze the schema run some algorithms. </a:t>
            </a:r>
          </a:p>
          <a:p>
            <a:r>
              <a:rPr lang="en-US" dirty="0"/>
              <a:t>For each database we go, to know what are the most frequent columns, list of all unique columns. Then what are the datatypes of each column. Then we find out what data types are in which columns across tables. We call it data type matrix. This help understand the type of data. </a:t>
            </a:r>
          </a:p>
          <a:p>
            <a:r>
              <a:rPr lang="en-US" dirty="0"/>
              <a:t>Once we have most frequently appearing columns, we start decoding their names and what do they mean. If they are acronyms we have library and we find what that acronym means. Then we take out some sample data, query the database some sample data to find out what each column mean. We do entity resolution to see if there are similar data present in columns with different names. We use this to map the column to a class(concept) in ontology using ontology modeling canvas. We find how this concept is connected to other few concepts in ontology , this is to give context to the class (this is to give context to the column)</a:t>
            </a:r>
          </a:p>
          <a:p>
            <a:r>
              <a:rPr lang="en-US" dirty="0"/>
              <a:t>Once the class is defined we define its definition, formal logic, examples, then create webpage with all this info. Also with info of what tables and columns can be mapped to this class. We put this in ontology by some annotation properties by some way. </a:t>
            </a:r>
          </a:p>
          <a:p>
            <a:r>
              <a:rPr lang="en-US" dirty="0"/>
              <a:t>We put a step of validation, we get it validated from the stakeholders but also have a way where people can go and review the model and linked elements and provide comments, up vote , down vote or review. We do crowdsourcing to review the concept to column linking. </a:t>
            </a:r>
          </a:p>
        </p:txBody>
      </p:sp>
    </p:spTree>
    <p:extLst>
      <p:ext uri="{BB962C8B-B14F-4D97-AF65-F5344CB8AC3E}">
        <p14:creationId xmlns:p14="http://schemas.microsoft.com/office/powerpoint/2010/main" val="110662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1831-957E-80F8-C8C6-1464E3F8E9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BE207B-15B8-8FD4-8B35-25AD3A0D2B05}"/>
              </a:ext>
            </a:extLst>
          </p:cNvPr>
          <p:cNvSpPr>
            <a:spLocks noGrp="1"/>
          </p:cNvSpPr>
          <p:nvPr>
            <p:ph idx="1"/>
          </p:nvPr>
        </p:nvSpPr>
        <p:spPr/>
        <p:txBody>
          <a:bodyPr>
            <a:normAutofit fontScale="85000" lnSpcReduction="20000"/>
          </a:bodyPr>
          <a:lstStyle/>
          <a:p>
            <a:r>
              <a:rPr lang="en-US" b="1" dirty="0"/>
              <a:t>Phase 1: Decision Support Question (DSQ) Discovery and Prioritization</a:t>
            </a:r>
          </a:p>
          <a:p>
            <a:r>
              <a:rPr lang="en-US" b="1" dirty="0"/>
              <a:t>Objective</a:t>
            </a:r>
            <a:r>
              <a:rPr lang="en-US" dirty="0"/>
              <a:t>: Systematically capture and formalize the critical data questions that drive business value across the organization.</a:t>
            </a:r>
          </a:p>
          <a:p>
            <a:r>
              <a:rPr lang="en-US" b="1" dirty="0"/>
              <a:t>1.1 DSQ Elicitation Process (Weeks 1-3)</a:t>
            </a:r>
          </a:p>
          <a:p>
            <a:r>
              <a:rPr lang="en-US" b="1" dirty="0"/>
              <a:t>For New Domains (Beyond GTF Aftermarket)</a:t>
            </a:r>
            <a:r>
              <a:rPr lang="en-US" dirty="0"/>
              <a:t>:</a:t>
            </a:r>
          </a:p>
          <a:p>
            <a:r>
              <a:rPr lang="en-US" b="1" dirty="0"/>
              <a:t>Stakeholder Engagement Framework</a:t>
            </a:r>
            <a:r>
              <a:rPr lang="en-US" dirty="0"/>
              <a:t>:</a:t>
            </a:r>
          </a:p>
          <a:p>
            <a:r>
              <a:rPr lang="en-US" b="1" dirty="0"/>
              <a:t>Interview Protocol</a:t>
            </a:r>
            <a:r>
              <a:rPr lang="en-US" dirty="0"/>
              <a:t>: Structured 60-minute sessions with key stakeholders </a:t>
            </a:r>
          </a:p>
          <a:p>
            <a:pPr lvl="1"/>
            <a:r>
              <a:rPr lang="en-US" dirty="0"/>
              <a:t>Opening: "Walk me through your typical data challenges"</a:t>
            </a:r>
          </a:p>
          <a:p>
            <a:pPr lvl="1"/>
            <a:r>
              <a:rPr lang="en-US" dirty="0"/>
              <a:t>Pain Points: "What takes you hours that should take minutes?"</a:t>
            </a:r>
          </a:p>
          <a:p>
            <a:pPr lvl="1"/>
            <a:r>
              <a:rPr lang="en-US" dirty="0"/>
              <a:t>Hidden Data: "What do you know exists in our systems but can't easily access?"</a:t>
            </a:r>
          </a:p>
          <a:p>
            <a:pPr lvl="1"/>
            <a:r>
              <a:rPr lang="en-US" dirty="0"/>
              <a:t>Dream Queries: "If you had a magic wand, what would you ask the data?"</a:t>
            </a:r>
          </a:p>
          <a:p>
            <a:r>
              <a:rPr lang="en-US" b="1" dirty="0"/>
              <a:t>DSQ Discovery Questions Template</a:t>
            </a:r>
            <a:r>
              <a:rPr lang="en-US" dirty="0"/>
              <a:t>:</a:t>
            </a:r>
          </a:p>
          <a:p>
            <a:endParaRPr lang="en-US" dirty="0"/>
          </a:p>
          <a:p>
            <a:endParaRPr lang="en-US" dirty="0"/>
          </a:p>
          <a:p>
            <a:endParaRPr lang="en-US" dirty="0"/>
          </a:p>
        </p:txBody>
      </p:sp>
    </p:spTree>
    <p:extLst>
      <p:ext uri="{BB962C8B-B14F-4D97-AF65-F5344CB8AC3E}">
        <p14:creationId xmlns:p14="http://schemas.microsoft.com/office/powerpoint/2010/main" val="2152812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505D-55E7-B244-E6A7-696E5E10D7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F0006A-25FF-7AAF-8046-F6DC733F3F43}"/>
              </a:ext>
            </a:extLst>
          </p:cNvPr>
          <p:cNvSpPr>
            <a:spLocks noGrp="1"/>
          </p:cNvSpPr>
          <p:nvPr>
            <p:ph idx="1"/>
          </p:nvPr>
        </p:nvSpPr>
        <p:spPr/>
        <p:txBody>
          <a:bodyPr>
            <a:normAutofit fontScale="77500" lnSpcReduction="20000"/>
          </a:bodyPr>
          <a:lstStyle/>
          <a:p>
            <a:r>
              <a:rPr lang="en-US" b="1" dirty="0"/>
              <a:t>DSQ Formalization</a:t>
            </a:r>
            <a:r>
              <a:rPr lang="en-US" dirty="0"/>
              <a:t>: Transform stakeholder input into structured DSQs with:</a:t>
            </a:r>
          </a:p>
          <a:p>
            <a:r>
              <a:rPr lang="en-US" dirty="0"/>
              <a:t>Business Context (why this matters)</a:t>
            </a:r>
          </a:p>
          <a:p>
            <a:r>
              <a:rPr lang="en-US" dirty="0"/>
              <a:t>Current Pain Level (1-10 scale)</a:t>
            </a:r>
          </a:p>
          <a:p>
            <a:r>
              <a:rPr lang="en-US" dirty="0"/>
              <a:t>Estimated Value if Solved</a:t>
            </a:r>
          </a:p>
          <a:p>
            <a:r>
              <a:rPr lang="en-US" dirty="0"/>
              <a:t>Required Data Elements</a:t>
            </a:r>
          </a:p>
          <a:p>
            <a:r>
              <a:rPr lang="en-US" dirty="0"/>
              <a:t>Success Criteria</a:t>
            </a:r>
          </a:p>
          <a:p>
            <a:r>
              <a:rPr lang="en-US" b="1" dirty="0"/>
              <a:t>1.2 DSQ Prioritization Matrix</a:t>
            </a:r>
          </a:p>
          <a:p>
            <a:r>
              <a:rPr lang="en-US" dirty="0"/>
              <a:t>Create scoring framework based on:</a:t>
            </a:r>
          </a:p>
          <a:p>
            <a:r>
              <a:rPr lang="en-US" b="1" dirty="0"/>
              <a:t>Business Impact</a:t>
            </a:r>
            <a:r>
              <a:rPr lang="en-US" dirty="0"/>
              <a:t> (40%): Revenue, cost, compliance implications</a:t>
            </a:r>
          </a:p>
          <a:p>
            <a:r>
              <a:rPr lang="en-US" b="1" dirty="0"/>
              <a:t>Data Availability</a:t>
            </a:r>
            <a:r>
              <a:rPr lang="en-US" dirty="0"/>
              <a:t> (30%): How much required data currently exists</a:t>
            </a:r>
          </a:p>
          <a:p>
            <a:r>
              <a:rPr lang="en-US" b="1" dirty="0"/>
              <a:t>Technical Feasibility</a:t>
            </a:r>
            <a:r>
              <a:rPr lang="en-US" dirty="0"/>
              <a:t> (20%): Complexity of integration</a:t>
            </a:r>
          </a:p>
          <a:p>
            <a:r>
              <a:rPr lang="en-US" b="1" dirty="0"/>
              <a:t>Stakeholder Urgency</a:t>
            </a:r>
            <a:r>
              <a:rPr lang="en-US" dirty="0"/>
              <a:t> (10%): Political/strategic importance</a:t>
            </a:r>
          </a:p>
          <a:p>
            <a:endParaRPr lang="en-US" dirty="0"/>
          </a:p>
        </p:txBody>
      </p:sp>
    </p:spTree>
    <p:extLst>
      <p:ext uri="{BB962C8B-B14F-4D97-AF65-F5344CB8AC3E}">
        <p14:creationId xmlns:p14="http://schemas.microsoft.com/office/powerpoint/2010/main" val="2184179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BBD84E-0B9B-FC70-29F1-BDFB37AA50D2}"/>
              </a:ext>
            </a:extLst>
          </p:cNvPr>
          <p:cNvSpPr>
            <a:spLocks noGrp="1"/>
          </p:cNvSpPr>
          <p:nvPr>
            <p:ph idx="1"/>
          </p:nvPr>
        </p:nvSpPr>
        <p:spPr>
          <a:xfrm>
            <a:off x="838200" y="821635"/>
            <a:ext cx="10515600" cy="5355328"/>
          </a:xfrm>
        </p:spPr>
        <p:txBody>
          <a:bodyPr>
            <a:normAutofit/>
          </a:bodyPr>
          <a:lstStyle/>
          <a:p>
            <a:r>
              <a:rPr lang="en-US" sz="1100" b="1" dirty="0"/>
              <a:t>Phase 2: Data Source Analysis and Profiling</a:t>
            </a:r>
          </a:p>
          <a:p>
            <a:r>
              <a:rPr lang="en-US" sz="1100" b="1" dirty="0"/>
              <a:t>2.1 Systematic Schema Profiling (Weeks 4-6)</a:t>
            </a:r>
          </a:p>
          <a:p>
            <a:r>
              <a:rPr lang="en-US" sz="1100" b="1" dirty="0"/>
              <a:t>Automated Profiling Pipeline</a:t>
            </a:r>
            <a:r>
              <a:rPr lang="en-US" sz="1100" dirty="0"/>
              <a:t>:</a:t>
            </a:r>
          </a:p>
          <a:p>
            <a:r>
              <a:rPr lang="en-US" sz="1100" dirty="0"/>
              <a:t># Pseudo-code for profiling </a:t>
            </a:r>
            <a:r>
              <a:rPr lang="en-US" sz="1100" dirty="0" err="1"/>
              <a:t>algorithmfor</a:t>
            </a:r>
            <a:r>
              <a:rPr lang="en-US" sz="1100" dirty="0"/>
              <a:t> each database in </a:t>
            </a:r>
            <a:r>
              <a:rPr lang="en-US" sz="1100" dirty="0" err="1"/>
              <a:t>data_sources</a:t>
            </a:r>
            <a:r>
              <a:rPr lang="en-US" sz="1100" dirty="0"/>
              <a:t>:    # Step 1: Column Frequency Analysis    </a:t>
            </a:r>
            <a:r>
              <a:rPr lang="en-US" sz="1100" dirty="0" err="1"/>
              <a:t>column_frequency</a:t>
            </a:r>
            <a:r>
              <a:rPr lang="en-US" sz="1100" dirty="0"/>
              <a:t> = </a:t>
            </a:r>
            <a:r>
              <a:rPr lang="en-US" sz="1100" dirty="0" err="1"/>
              <a:t>analyze_column_occurrence</a:t>
            </a:r>
            <a:r>
              <a:rPr lang="en-US" sz="1100" dirty="0"/>
              <a:t>(database)        # Step 2: Unique Column Inventory    </a:t>
            </a:r>
            <a:r>
              <a:rPr lang="en-US" sz="1100" dirty="0" err="1"/>
              <a:t>unique_columns</a:t>
            </a:r>
            <a:r>
              <a:rPr lang="en-US" sz="1100" dirty="0"/>
              <a:t> = </a:t>
            </a:r>
            <a:r>
              <a:rPr lang="en-US" sz="1100" dirty="0" err="1"/>
              <a:t>extract_unique_columns</a:t>
            </a:r>
            <a:r>
              <a:rPr lang="en-US" sz="1100" dirty="0"/>
              <a:t>(database)        # Step 3: Data Type Matrix Generation    </a:t>
            </a:r>
            <a:r>
              <a:rPr lang="en-US" sz="1100" dirty="0" err="1"/>
              <a:t>datatype_matrix</a:t>
            </a:r>
            <a:r>
              <a:rPr lang="en-US" sz="1100" dirty="0"/>
              <a:t> = </a:t>
            </a:r>
            <a:r>
              <a:rPr lang="en-US" sz="1100" dirty="0" err="1"/>
              <a:t>map_datatypes_across_tables</a:t>
            </a:r>
            <a:r>
              <a:rPr lang="en-US" sz="1100" dirty="0"/>
              <a:t>(database)        # Step 4: Pattern Recognition    </a:t>
            </a:r>
            <a:r>
              <a:rPr lang="en-US" sz="1100" dirty="0" err="1"/>
              <a:t>naming_patterns</a:t>
            </a:r>
            <a:r>
              <a:rPr lang="en-US" sz="1100" dirty="0"/>
              <a:t> = </a:t>
            </a:r>
            <a:r>
              <a:rPr lang="en-US" sz="1100" dirty="0" err="1"/>
              <a:t>identify_naming_conventions</a:t>
            </a:r>
            <a:r>
              <a:rPr lang="en-US" sz="1100" dirty="0"/>
              <a:t>(</a:t>
            </a:r>
            <a:r>
              <a:rPr lang="en-US" sz="1100" dirty="0" err="1"/>
              <a:t>unique_columns</a:t>
            </a:r>
            <a:r>
              <a:rPr lang="en-US" sz="1100" dirty="0"/>
              <a:t>)        # Step 5: Relationship Detection    </a:t>
            </a:r>
            <a:r>
              <a:rPr lang="en-US" sz="1100" dirty="0" err="1"/>
              <a:t>foreign_keys</a:t>
            </a:r>
            <a:r>
              <a:rPr lang="en-US" sz="1100" dirty="0"/>
              <a:t> = </a:t>
            </a:r>
            <a:r>
              <a:rPr lang="en-US" sz="1100" dirty="0" err="1"/>
              <a:t>detect_relationships</a:t>
            </a:r>
            <a:r>
              <a:rPr lang="en-US" sz="1100" dirty="0"/>
              <a:t>(database)</a:t>
            </a:r>
          </a:p>
          <a:p>
            <a:r>
              <a:rPr lang="en-US" sz="1100" b="1" dirty="0"/>
              <a:t>Profiling Outputs</a:t>
            </a:r>
            <a:r>
              <a:rPr lang="en-US" sz="1100" dirty="0"/>
              <a:t>:</a:t>
            </a:r>
          </a:p>
          <a:p>
            <a:r>
              <a:rPr lang="en-US" sz="1100" b="1" dirty="0"/>
              <a:t>Column Frequency Report</a:t>
            </a:r>
            <a:r>
              <a:rPr lang="en-US" sz="1100" dirty="0"/>
              <a:t>:</a:t>
            </a:r>
          </a:p>
          <a:p>
            <a:r>
              <a:rPr lang="en-US" sz="1100" dirty="0"/>
              <a:t>Top 100 most frequent columns across all schemas</a:t>
            </a:r>
          </a:p>
          <a:p>
            <a:r>
              <a:rPr lang="en-US" sz="1100" dirty="0"/>
              <a:t>Frequency distribution visualization</a:t>
            </a:r>
          </a:p>
          <a:p>
            <a:r>
              <a:rPr lang="en-US" sz="1100" dirty="0"/>
              <a:t>Cross-schema column overlap analysis</a:t>
            </a:r>
          </a:p>
          <a:p>
            <a:r>
              <a:rPr lang="en-US" sz="1100" b="1" dirty="0"/>
              <a:t>Data Type Matrix</a:t>
            </a:r>
            <a:r>
              <a:rPr lang="en-US" sz="1100" dirty="0"/>
              <a:t>:</a:t>
            </a:r>
          </a:p>
          <a:p>
            <a:r>
              <a:rPr lang="en-US" b="1" dirty="0"/>
              <a:t>Unique Column Catalog</a:t>
            </a:r>
            <a:r>
              <a:rPr lang="en-US" dirty="0"/>
              <a:t>: </a:t>
            </a:r>
          </a:p>
          <a:p>
            <a:pPr lvl="1"/>
            <a:r>
              <a:rPr lang="en-US" dirty="0"/>
              <a:t>Complete inventory of 5,000+ unique columns</a:t>
            </a:r>
          </a:p>
          <a:p>
            <a:pPr lvl="1"/>
            <a:r>
              <a:rPr lang="en-US" dirty="0"/>
              <a:t>Grouped by semantic similarity</a:t>
            </a:r>
          </a:p>
          <a:p>
            <a:pPr lvl="1"/>
            <a:r>
              <a:rPr lang="en-US" dirty="0"/>
              <a:t>Tagged with source systems</a:t>
            </a:r>
          </a:p>
        </p:txBody>
      </p:sp>
    </p:spTree>
    <p:extLst>
      <p:ext uri="{BB962C8B-B14F-4D97-AF65-F5344CB8AC3E}">
        <p14:creationId xmlns:p14="http://schemas.microsoft.com/office/powerpoint/2010/main" val="1734651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03B2-E78D-06B9-111D-20AFCE8D42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3DFE66-0017-08F9-FC30-3BAA6EFA07E1}"/>
              </a:ext>
            </a:extLst>
          </p:cNvPr>
          <p:cNvSpPr>
            <a:spLocks noGrp="1"/>
          </p:cNvSpPr>
          <p:nvPr>
            <p:ph idx="1"/>
          </p:nvPr>
        </p:nvSpPr>
        <p:spPr/>
        <p:txBody>
          <a:bodyPr>
            <a:normAutofit fontScale="62500" lnSpcReduction="20000"/>
          </a:bodyPr>
          <a:lstStyle/>
          <a:p>
            <a:r>
              <a:rPr lang="en-US" b="1" dirty="0"/>
              <a:t>2.2 Semantic Enrichment Process (Weeks 7-9)</a:t>
            </a:r>
          </a:p>
          <a:p>
            <a:r>
              <a:rPr lang="en-US" b="1" dirty="0"/>
              <a:t>Column Name Decoding Pipeline</a:t>
            </a:r>
            <a:r>
              <a:rPr lang="en-US" dirty="0"/>
              <a:t>:</a:t>
            </a:r>
          </a:p>
          <a:p>
            <a:r>
              <a:rPr lang="en-US" b="1" dirty="0"/>
              <a:t>Acronym Resolution</a:t>
            </a:r>
            <a:r>
              <a:rPr lang="en-US" dirty="0"/>
              <a:t>:</a:t>
            </a:r>
          </a:p>
          <a:p>
            <a:r>
              <a:rPr lang="en-US" dirty="0"/>
              <a:t>Query MOBI 20k acronym database</a:t>
            </a:r>
          </a:p>
          <a:p>
            <a:r>
              <a:rPr lang="en-US" dirty="0"/>
              <a:t>Context-aware disambiguation using table/schema context</a:t>
            </a:r>
          </a:p>
          <a:p>
            <a:r>
              <a:rPr lang="en-US" dirty="0"/>
              <a:t>Confidence scoring for matches</a:t>
            </a:r>
          </a:p>
          <a:p>
            <a:r>
              <a:rPr lang="en-US" dirty="0"/>
              <a:t>Sample Data Analysis:</a:t>
            </a:r>
          </a:p>
          <a:p>
            <a:endParaRPr lang="en-US" b="1" dirty="0"/>
          </a:p>
          <a:p>
            <a:r>
              <a:rPr lang="en-US" b="1" dirty="0"/>
              <a:t>Entity Resolution</a:t>
            </a:r>
            <a:r>
              <a:rPr lang="en-US" dirty="0"/>
              <a:t>: Compare sample data across similar columns</a:t>
            </a:r>
          </a:p>
          <a:p>
            <a:r>
              <a:rPr lang="en-US" dirty="0"/>
              <a:t>Identify synonymous columns (e.g., "</a:t>
            </a:r>
            <a:r>
              <a:rPr lang="en-US" dirty="0" err="1"/>
              <a:t>customer_id</a:t>
            </a:r>
            <a:r>
              <a:rPr lang="en-US" dirty="0"/>
              <a:t>" vs "</a:t>
            </a:r>
            <a:r>
              <a:rPr lang="en-US" dirty="0" err="1"/>
              <a:t>client_number</a:t>
            </a:r>
            <a:r>
              <a:rPr lang="en-US" dirty="0"/>
              <a:t>")</a:t>
            </a:r>
          </a:p>
          <a:p>
            <a:r>
              <a:rPr lang="en-US" dirty="0"/>
              <a:t>Calculate similarity scores using: </a:t>
            </a:r>
          </a:p>
          <a:p>
            <a:pPr lvl="1"/>
            <a:r>
              <a:rPr lang="en-US" dirty="0"/>
              <a:t>Exact match percentage</a:t>
            </a:r>
          </a:p>
          <a:p>
            <a:pPr lvl="1"/>
            <a:r>
              <a:rPr lang="en-US" dirty="0"/>
              <a:t>Fuzzy string matching</a:t>
            </a:r>
          </a:p>
          <a:p>
            <a:pPr lvl="1"/>
            <a:r>
              <a:rPr lang="en-US" dirty="0"/>
              <a:t>Statistical distribution comparison</a:t>
            </a:r>
          </a:p>
          <a:p>
            <a:endParaRPr lang="en-US" dirty="0"/>
          </a:p>
        </p:txBody>
      </p:sp>
    </p:spTree>
    <p:extLst>
      <p:ext uri="{BB962C8B-B14F-4D97-AF65-F5344CB8AC3E}">
        <p14:creationId xmlns:p14="http://schemas.microsoft.com/office/powerpoint/2010/main" val="1217260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DE294-3A14-BB2F-A6A8-1FD7CFA683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F035D4-5729-90E6-EFC3-6E21FB0F9B3B}"/>
              </a:ext>
            </a:extLst>
          </p:cNvPr>
          <p:cNvSpPr>
            <a:spLocks noGrp="1"/>
          </p:cNvSpPr>
          <p:nvPr>
            <p:ph idx="1"/>
          </p:nvPr>
        </p:nvSpPr>
        <p:spPr/>
        <p:txBody>
          <a:bodyPr>
            <a:normAutofit fontScale="92500" lnSpcReduction="20000"/>
          </a:bodyPr>
          <a:lstStyle/>
          <a:p>
            <a:r>
              <a:rPr lang="en-US" b="1" dirty="0"/>
              <a:t>Phase 3: Ontology Modeling with Canvas Framework</a:t>
            </a:r>
          </a:p>
          <a:p>
            <a:r>
              <a:rPr lang="en-US" b="1" dirty="0"/>
              <a:t>3.1 Column-to-Concept Mapping (Weeks 10-12)</a:t>
            </a:r>
          </a:p>
          <a:p>
            <a:r>
              <a:rPr lang="en-US" b="1" dirty="0"/>
              <a:t>Systematic Mapping Process</a:t>
            </a:r>
            <a:r>
              <a:rPr lang="en-US" dirty="0"/>
              <a:t>:</a:t>
            </a:r>
          </a:p>
          <a:p>
            <a:r>
              <a:rPr lang="en-US" dirty="0"/>
              <a:t>For each high-frequency column cluster:</a:t>
            </a:r>
          </a:p>
          <a:p>
            <a:r>
              <a:rPr lang="en-US" b="1" dirty="0"/>
              <a:t>Initial Classification</a:t>
            </a:r>
            <a:r>
              <a:rPr lang="en-US" dirty="0"/>
              <a:t> (Using Ontology Modeling Canvas):</a:t>
            </a:r>
          </a:p>
          <a:p>
            <a:r>
              <a:rPr lang="en-US" dirty="0"/>
              <a:t>Contextual Relationship Mapping:</a:t>
            </a:r>
          </a:p>
          <a:p>
            <a:r>
              <a:rPr lang="en-US" dirty="0"/>
              <a:t>Identify 3-5 most relevant related concepts</a:t>
            </a:r>
          </a:p>
          <a:p>
            <a:r>
              <a:rPr lang="en-US" dirty="0"/>
              <a:t>Define relationship types (</a:t>
            </a:r>
            <a:r>
              <a:rPr lang="en-US" dirty="0" err="1"/>
              <a:t>has_part</a:t>
            </a:r>
            <a:r>
              <a:rPr lang="en-US" dirty="0"/>
              <a:t>, </a:t>
            </a:r>
            <a:r>
              <a:rPr lang="en-US" dirty="0" err="1"/>
              <a:t>belongs_to</a:t>
            </a:r>
            <a:r>
              <a:rPr lang="en-US" dirty="0"/>
              <a:t>, </a:t>
            </a:r>
            <a:r>
              <a:rPr lang="en-US" dirty="0" err="1"/>
              <a:t>participates_in</a:t>
            </a:r>
            <a:r>
              <a:rPr lang="en-US" dirty="0"/>
              <a:t>)</a:t>
            </a:r>
          </a:p>
          <a:p>
            <a:r>
              <a:rPr lang="en-US" dirty="0"/>
              <a:t>Document cardinality constraints</a:t>
            </a:r>
          </a:p>
          <a:p>
            <a:r>
              <a:rPr lang="en-US" dirty="0"/>
              <a:t>Cross-Reference Documentation:</a:t>
            </a:r>
          </a:p>
        </p:txBody>
      </p:sp>
    </p:spTree>
    <p:extLst>
      <p:ext uri="{BB962C8B-B14F-4D97-AF65-F5344CB8AC3E}">
        <p14:creationId xmlns:p14="http://schemas.microsoft.com/office/powerpoint/2010/main" val="414457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ADC4F-E02E-C4AF-33CD-4E63A78DFC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4BD059-D641-EF8D-866C-046438FE1519}"/>
              </a:ext>
            </a:extLst>
          </p:cNvPr>
          <p:cNvSpPr>
            <a:spLocks noGrp="1"/>
          </p:cNvSpPr>
          <p:nvPr>
            <p:ph idx="1"/>
          </p:nvPr>
        </p:nvSpPr>
        <p:spPr/>
        <p:txBody>
          <a:bodyPr>
            <a:normAutofit fontScale="55000" lnSpcReduction="20000"/>
          </a:bodyPr>
          <a:lstStyle/>
          <a:p>
            <a:r>
              <a:rPr lang="en-US" b="1" dirty="0"/>
              <a:t>3.2 Concept Definition and Formalization (Weeks 13-15)</a:t>
            </a:r>
          </a:p>
          <a:p>
            <a:r>
              <a:rPr lang="en-US" b="1" dirty="0"/>
              <a:t>Comprehensive Concept Documentation</a:t>
            </a:r>
            <a:r>
              <a:rPr lang="en-US" dirty="0"/>
              <a:t>:</a:t>
            </a:r>
          </a:p>
          <a:p>
            <a:r>
              <a:rPr lang="en-US" dirty="0"/>
              <a:t>Each concept receives a structured definition package:</a:t>
            </a:r>
          </a:p>
          <a:p>
            <a:r>
              <a:rPr lang="en-US" b="1" dirty="0"/>
              <a:t>Natural Language Definition</a:t>
            </a:r>
            <a:r>
              <a:rPr lang="en-US" dirty="0"/>
              <a:t>: </a:t>
            </a:r>
          </a:p>
          <a:p>
            <a:pPr lvl="1"/>
            <a:r>
              <a:rPr lang="en-US" dirty="0"/>
              <a:t>Business-friendly description</a:t>
            </a:r>
          </a:p>
          <a:p>
            <a:pPr lvl="1"/>
            <a:r>
              <a:rPr lang="en-US" dirty="0"/>
              <a:t>Domain context</a:t>
            </a:r>
          </a:p>
          <a:p>
            <a:pPr lvl="1"/>
            <a:r>
              <a:rPr lang="en-US" dirty="0"/>
              <a:t>Scope notes and exceptions</a:t>
            </a:r>
          </a:p>
          <a:p>
            <a:r>
              <a:rPr lang="en-US" b="1" dirty="0"/>
              <a:t>Formal Logic Representation</a:t>
            </a:r>
            <a:r>
              <a:rPr lang="en-US" dirty="0"/>
              <a:t>:</a:t>
            </a:r>
          </a:p>
          <a:p>
            <a:r>
              <a:rPr lang="en-US" b="1" dirty="0"/>
              <a:t>Examples with Real Data</a:t>
            </a:r>
            <a:r>
              <a:rPr lang="en-US" dirty="0"/>
              <a:t>: </a:t>
            </a:r>
          </a:p>
          <a:p>
            <a:pPr lvl="1"/>
            <a:r>
              <a:rPr lang="en-US" dirty="0"/>
              <a:t>Actual serial numbers (sanitized)</a:t>
            </a:r>
          </a:p>
          <a:p>
            <a:pPr lvl="1"/>
            <a:r>
              <a:rPr lang="en-US" dirty="0"/>
              <a:t>Typical value ranges</a:t>
            </a:r>
          </a:p>
          <a:p>
            <a:pPr lvl="1"/>
            <a:r>
              <a:rPr lang="en-US" dirty="0"/>
              <a:t>Edge cases and exceptions</a:t>
            </a:r>
          </a:p>
          <a:p>
            <a:r>
              <a:rPr lang="en-US" b="1" dirty="0"/>
              <a:t>Phase 4: Web-Based Concept Documentation</a:t>
            </a:r>
          </a:p>
          <a:p>
            <a:r>
              <a:rPr lang="en-US" b="1" dirty="0"/>
              <a:t>4.1 IRI-Resolvable Web Pages (Weeks 16-18)</a:t>
            </a:r>
          </a:p>
          <a:p>
            <a:r>
              <a:rPr lang="en-US" b="1" dirty="0"/>
              <a:t>Page Structure Implementation</a:t>
            </a:r>
            <a:r>
              <a:rPr lang="en-US" dirty="0"/>
              <a:t>:</a:t>
            </a:r>
          </a:p>
          <a:p>
            <a:r>
              <a:rPr lang="en-US" b="1" dirty="0"/>
              <a:t>4.2 Annotation Properties for Traceability</a:t>
            </a:r>
          </a:p>
          <a:p>
            <a:r>
              <a:rPr lang="en-US" b="1" dirty="0"/>
              <a:t>Column-to-Class Mapping Annotations</a:t>
            </a:r>
            <a:r>
              <a:rPr lang="en-US" dirty="0"/>
              <a:t>:</a:t>
            </a:r>
          </a:p>
          <a:p>
            <a:endParaRPr lang="en-US" dirty="0"/>
          </a:p>
        </p:txBody>
      </p:sp>
    </p:spTree>
    <p:extLst>
      <p:ext uri="{BB962C8B-B14F-4D97-AF65-F5344CB8AC3E}">
        <p14:creationId xmlns:p14="http://schemas.microsoft.com/office/powerpoint/2010/main" val="2284413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7DF13-DCD0-0166-C4B6-A00824C45C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463A76-DAD8-998B-4A0D-1B0AECD4440F}"/>
              </a:ext>
            </a:extLst>
          </p:cNvPr>
          <p:cNvSpPr>
            <a:spLocks noGrp="1"/>
          </p:cNvSpPr>
          <p:nvPr>
            <p:ph idx="1"/>
          </p:nvPr>
        </p:nvSpPr>
        <p:spPr/>
        <p:txBody>
          <a:bodyPr>
            <a:normAutofit fontScale="40000" lnSpcReduction="20000"/>
          </a:bodyPr>
          <a:lstStyle/>
          <a:p>
            <a:r>
              <a:rPr lang="en-US" b="1" dirty="0"/>
              <a:t>Phase 5: Validation and Crowdsourced Review</a:t>
            </a:r>
          </a:p>
          <a:p>
            <a:r>
              <a:rPr lang="en-US" b="1" dirty="0"/>
              <a:t>5.1 Multi-Tier Validation Framework (Weeks 19-21)</a:t>
            </a:r>
          </a:p>
          <a:p>
            <a:r>
              <a:rPr lang="en-US" b="1" dirty="0"/>
              <a:t>Stakeholder Validation Process</a:t>
            </a:r>
            <a:r>
              <a:rPr lang="en-US" dirty="0"/>
              <a:t>:</a:t>
            </a:r>
          </a:p>
          <a:p>
            <a:r>
              <a:rPr lang="en-US" b="1" dirty="0"/>
              <a:t>Expert Review Sessions</a:t>
            </a:r>
            <a:r>
              <a:rPr lang="en-US" dirty="0"/>
              <a:t>: </a:t>
            </a:r>
          </a:p>
          <a:p>
            <a:pPr lvl="1"/>
            <a:r>
              <a:rPr lang="en-US" dirty="0"/>
              <a:t>Weekly 2-hour sessions with domain experts</a:t>
            </a:r>
          </a:p>
          <a:p>
            <a:pPr lvl="1"/>
            <a:r>
              <a:rPr lang="en-US" dirty="0"/>
              <a:t>Walk through concept definitions and mappings</a:t>
            </a:r>
          </a:p>
          <a:p>
            <a:pPr lvl="1"/>
            <a:r>
              <a:rPr lang="en-US" dirty="0"/>
              <a:t>Capture feedback in structured format</a:t>
            </a:r>
          </a:p>
          <a:p>
            <a:r>
              <a:rPr lang="en-US" b="1" dirty="0"/>
              <a:t>Validation Checklist</a:t>
            </a:r>
            <a:r>
              <a:rPr lang="en-US" dirty="0"/>
              <a:t>: </a:t>
            </a:r>
          </a:p>
          <a:p>
            <a:pPr lvl="1"/>
            <a:r>
              <a:rPr lang="en-US" dirty="0"/>
              <a:t>✓ Definition accurately reflects business understanding</a:t>
            </a:r>
          </a:p>
          <a:p>
            <a:pPr lvl="1"/>
            <a:r>
              <a:rPr lang="en-US" dirty="0"/>
              <a:t>✓ All relevant columns are mapped</a:t>
            </a:r>
          </a:p>
          <a:p>
            <a:pPr lvl="1"/>
            <a:r>
              <a:rPr lang="en-US" dirty="0"/>
              <a:t>✓ Relationships are complete and correct</a:t>
            </a:r>
          </a:p>
          <a:p>
            <a:pPr lvl="1"/>
            <a:r>
              <a:rPr lang="en-US" dirty="0"/>
              <a:t>✓ Examples are representative</a:t>
            </a:r>
          </a:p>
          <a:p>
            <a:pPr lvl="1"/>
            <a:r>
              <a:rPr lang="en-US" dirty="0"/>
              <a:t>✓ No critical columns are missing</a:t>
            </a:r>
          </a:p>
          <a:p>
            <a:r>
              <a:rPr lang="en-US" b="1" dirty="0"/>
              <a:t>5.2 Crowdsourced Review Platform</a:t>
            </a:r>
          </a:p>
          <a:p>
            <a:r>
              <a:rPr lang="en-US" b="1" dirty="0"/>
              <a:t>Review Interface Features</a:t>
            </a:r>
            <a:r>
              <a:rPr lang="en-US" dirty="0"/>
              <a:t>:</a:t>
            </a:r>
          </a:p>
          <a:p>
            <a:r>
              <a:rPr lang="en-US" b="1" dirty="0"/>
              <a:t>Review Dashboard</a:t>
            </a:r>
            <a:r>
              <a:rPr lang="en-US" dirty="0"/>
              <a:t>:</a:t>
            </a:r>
          </a:p>
          <a:p>
            <a:r>
              <a:rPr lang="en-US" dirty="0"/>
              <a:t>Real-time approval ratings per concept</a:t>
            </a:r>
          </a:p>
          <a:p>
            <a:r>
              <a:rPr lang="en-US" dirty="0"/>
              <a:t>Heat map of controversial mappings</a:t>
            </a:r>
          </a:p>
          <a:p>
            <a:r>
              <a:rPr lang="en-US" dirty="0"/>
              <a:t>Queue of concepts pending review</a:t>
            </a:r>
          </a:p>
          <a:p>
            <a:r>
              <a:rPr lang="en-US" dirty="0"/>
              <a:t>Historical validation trends</a:t>
            </a:r>
          </a:p>
          <a:p>
            <a:endParaRPr lang="en-US" dirty="0"/>
          </a:p>
        </p:txBody>
      </p:sp>
    </p:spTree>
    <p:extLst>
      <p:ext uri="{BB962C8B-B14F-4D97-AF65-F5344CB8AC3E}">
        <p14:creationId xmlns:p14="http://schemas.microsoft.com/office/powerpoint/2010/main" val="4292932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AA14-36E4-494A-52AA-CB3584B458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A9B390-66D6-BC4C-EADA-7FF0FDB79130}"/>
              </a:ext>
            </a:extLst>
          </p:cNvPr>
          <p:cNvSpPr>
            <a:spLocks noGrp="1"/>
          </p:cNvSpPr>
          <p:nvPr>
            <p:ph idx="1"/>
          </p:nvPr>
        </p:nvSpPr>
        <p:spPr/>
        <p:txBody>
          <a:bodyPr>
            <a:normAutofit fontScale="85000" lnSpcReduction="20000"/>
          </a:bodyPr>
          <a:lstStyle/>
          <a:p>
            <a:r>
              <a:rPr lang="en-US" b="1" dirty="0"/>
              <a:t>Phase 6: Continuous Improvement Loop</a:t>
            </a:r>
          </a:p>
          <a:p>
            <a:r>
              <a:rPr lang="en-US" b="1" dirty="0"/>
              <a:t>6.1 Feedback Integration Process</a:t>
            </a:r>
          </a:p>
          <a:p>
            <a:r>
              <a:rPr lang="en-US" b="1" dirty="0"/>
              <a:t>Monthly Review Cycle</a:t>
            </a:r>
            <a:r>
              <a:rPr lang="en-US" dirty="0"/>
              <a:t>:</a:t>
            </a:r>
          </a:p>
          <a:p>
            <a:r>
              <a:rPr lang="en-US" dirty="0"/>
              <a:t>Aggregate all feedback from crowdsourced platform</a:t>
            </a:r>
          </a:p>
          <a:p>
            <a:r>
              <a:rPr lang="en-US" dirty="0"/>
              <a:t>Prioritize revisions based on: </a:t>
            </a:r>
          </a:p>
          <a:p>
            <a:pPr lvl="1"/>
            <a:r>
              <a:rPr lang="en-US" dirty="0"/>
              <a:t>Business impact of the concept</a:t>
            </a:r>
          </a:p>
          <a:p>
            <a:pPr lvl="1"/>
            <a:r>
              <a:rPr lang="en-US" dirty="0"/>
              <a:t>Volume of feedback</a:t>
            </a:r>
          </a:p>
          <a:p>
            <a:pPr lvl="1"/>
            <a:r>
              <a:rPr lang="en-US" dirty="0"/>
              <a:t>Severity of issues raised</a:t>
            </a:r>
          </a:p>
          <a:p>
            <a:r>
              <a:rPr lang="en-US" dirty="0"/>
              <a:t>Implement approved changes</a:t>
            </a:r>
          </a:p>
          <a:p>
            <a:r>
              <a:rPr lang="en-US" dirty="0"/>
              <a:t>Notify reviewers of resolutions</a:t>
            </a:r>
          </a:p>
          <a:p>
            <a:r>
              <a:rPr lang="en-US" b="1" dirty="0"/>
              <a:t>6.2 DSQ Performance Tracking</a:t>
            </a:r>
          </a:p>
          <a:p>
            <a:r>
              <a:rPr lang="en-US" b="1" dirty="0"/>
              <a:t>Success Metrics Dashboard</a:t>
            </a:r>
            <a:r>
              <a:rPr lang="en-US" dirty="0"/>
              <a:t>:</a:t>
            </a:r>
          </a:p>
          <a:p>
            <a:endParaRPr lang="en-US" dirty="0"/>
          </a:p>
        </p:txBody>
      </p:sp>
    </p:spTree>
    <p:extLst>
      <p:ext uri="{BB962C8B-B14F-4D97-AF65-F5344CB8AC3E}">
        <p14:creationId xmlns:p14="http://schemas.microsoft.com/office/powerpoint/2010/main" val="706999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A9D64-2213-7A8C-4AF7-474BBD56EE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0FBFED-D1F7-CEE7-9502-4DEB289CACD5}"/>
              </a:ext>
            </a:extLst>
          </p:cNvPr>
          <p:cNvSpPr>
            <a:spLocks noGrp="1"/>
          </p:cNvSpPr>
          <p:nvPr>
            <p:ph idx="1"/>
          </p:nvPr>
        </p:nvSpPr>
        <p:spPr/>
        <p:txBody>
          <a:bodyPr>
            <a:normAutofit lnSpcReduction="10000"/>
          </a:bodyPr>
          <a:lstStyle/>
          <a:p>
            <a:r>
              <a:rPr lang="en-US" b="1" dirty="0"/>
              <a:t>Implementation Timeline Summary</a:t>
            </a:r>
          </a:p>
          <a:p>
            <a:r>
              <a:rPr lang="en-US" dirty="0"/>
              <a:t>Weeks 1-3:   DSQ Discovery &amp; Stakeholder Engagement</a:t>
            </a:r>
          </a:p>
          <a:p>
            <a:r>
              <a:rPr lang="en-US" dirty="0"/>
              <a:t>Weeks 4-6:   Automated Schema Profiling</a:t>
            </a:r>
          </a:p>
          <a:p>
            <a:r>
              <a:rPr lang="en-US" dirty="0"/>
              <a:t>Weeks 7-9:   Semantic Enrichment &amp; Entity Resolution</a:t>
            </a:r>
          </a:p>
          <a:p>
            <a:r>
              <a:rPr lang="en-US" dirty="0"/>
              <a:t>Weeks 10-12: Column-to-Concept Mapping</a:t>
            </a:r>
          </a:p>
          <a:p>
            <a:r>
              <a:rPr lang="en-US" dirty="0"/>
              <a:t>Weeks 13-15: Concept Formalization</a:t>
            </a:r>
          </a:p>
          <a:p>
            <a:r>
              <a:rPr lang="en-US" dirty="0"/>
              <a:t>Weeks 16-18: Web Documentation Creation</a:t>
            </a:r>
          </a:p>
          <a:p>
            <a:r>
              <a:rPr lang="en-US" dirty="0"/>
              <a:t>Weeks 19-21: Validation &amp; Review Platform Launch</a:t>
            </a:r>
          </a:p>
          <a:p>
            <a:r>
              <a:rPr lang="en-US" dirty="0"/>
              <a:t>Weeks 22-24: Production Deployment &amp; Optimization</a:t>
            </a:r>
          </a:p>
        </p:txBody>
      </p:sp>
    </p:spTree>
    <p:extLst>
      <p:ext uri="{BB962C8B-B14F-4D97-AF65-F5344CB8AC3E}">
        <p14:creationId xmlns:p14="http://schemas.microsoft.com/office/powerpoint/2010/main" val="680853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1958-13BE-AC25-0FF9-9BE800828B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3A47AC-7268-1517-0426-E1054FF57C18}"/>
              </a:ext>
            </a:extLst>
          </p:cNvPr>
          <p:cNvSpPr>
            <a:spLocks noGrp="1"/>
          </p:cNvSpPr>
          <p:nvPr>
            <p:ph idx="1"/>
          </p:nvPr>
        </p:nvSpPr>
        <p:spPr/>
        <p:txBody>
          <a:bodyPr>
            <a:normAutofit fontScale="92500" lnSpcReduction="10000"/>
          </a:bodyPr>
          <a:lstStyle/>
          <a:p>
            <a:r>
              <a:rPr lang="en-US" b="1" dirty="0"/>
              <a:t>Critical Success Factors</a:t>
            </a:r>
          </a:p>
          <a:p>
            <a:r>
              <a:rPr lang="en-US" b="1" dirty="0"/>
              <a:t>Stakeholder Engagement</a:t>
            </a:r>
            <a:r>
              <a:rPr lang="en-US" dirty="0"/>
              <a:t>: Regular touchpoints with business users throughout the process</a:t>
            </a:r>
          </a:p>
          <a:p>
            <a:r>
              <a:rPr lang="en-US" b="1" dirty="0"/>
              <a:t>Automation Balance</a:t>
            </a:r>
            <a:r>
              <a:rPr lang="en-US" dirty="0"/>
              <a:t>: Use tools to accelerate but maintain human oversight for quality</a:t>
            </a:r>
          </a:p>
          <a:p>
            <a:r>
              <a:rPr lang="en-US" b="1" dirty="0"/>
              <a:t>Incremental Value</a:t>
            </a:r>
            <a:r>
              <a:rPr lang="en-US" dirty="0"/>
              <a:t>: Deliver working concepts weekly rather than waiting for complete ontology</a:t>
            </a:r>
          </a:p>
          <a:p>
            <a:r>
              <a:rPr lang="en-US" b="1" dirty="0"/>
              <a:t>Transparent Process</a:t>
            </a:r>
            <a:r>
              <a:rPr lang="en-US" dirty="0"/>
              <a:t>: Make all mappings, decisions, and rationales visible to stakeholders</a:t>
            </a:r>
          </a:p>
          <a:p>
            <a:r>
              <a:rPr lang="en-US" b="1" dirty="0"/>
              <a:t>Continuous Validation</a:t>
            </a:r>
            <a:r>
              <a:rPr lang="en-US" dirty="0"/>
              <a:t>: Treat the ontology as living documentation requiring constant refinement</a:t>
            </a:r>
          </a:p>
          <a:p>
            <a:endParaRPr lang="en-US" dirty="0"/>
          </a:p>
        </p:txBody>
      </p:sp>
    </p:spTree>
    <p:extLst>
      <p:ext uri="{BB962C8B-B14F-4D97-AF65-F5344CB8AC3E}">
        <p14:creationId xmlns:p14="http://schemas.microsoft.com/office/powerpoint/2010/main" val="653883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A08C4-970E-404A-343A-4B18F780BB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97100F-EE89-BD82-9707-756B9FC309D5}"/>
              </a:ext>
            </a:extLst>
          </p:cNvPr>
          <p:cNvSpPr>
            <a:spLocks noGrp="1"/>
          </p:cNvSpPr>
          <p:nvPr>
            <p:ph idx="1"/>
          </p:nvPr>
        </p:nvSpPr>
        <p:spPr/>
        <p:txBody>
          <a:bodyPr/>
          <a:lstStyle/>
          <a:p>
            <a:r>
              <a:rPr lang="en-US" b="1" dirty="0"/>
              <a:t>DSQ-to-Ontology Playbook (Demo Plan)</a:t>
            </a:r>
          </a:p>
          <a:p>
            <a:r>
              <a:rPr lang="en-US" b="1" dirty="0"/>
              <a:t>Step 1: Define Decision Support Questions (DSQs)</a:t>
            </a:r>
          </a:p>
          <a:p>
            <a:r>
              <a:rPr lang="en-US" b="1" dirty="0"/>
              <a:t>Other Domains</a:t>
            </a:r>
            <a:r>
              <a:rPr lang="en-US" dirty="0"/>
              <a:t>: Elicit DSQs by interviewing stakeholders:</a:t>
            </a:r>
          </a:p>
          <a:p>
            <a:pPr lvl="1"/>
            <a:r>
              <a:rPr lang="en-US" dirty="0"/>
              <a:t>“What questions about the data are difficult to answer today?”</a:t>
            </a:r>
          </a:p>
          <a:p>
            <a:pPr lvl="1"/>
            <a:r>
              <a:rPr lang="en-US" dirty="0"/>
              <a:t>“Where do you waste time searching across systems?”</a:t>
            </a:r>
          </a:p>
          <a:p>
            <a:pPr lvl="1"/>
            <a:r>
              <a:rPr lang="en-US" dirty="0"/>
              <a:t>“What decisions are impacted because of unclear data?”</a:t>
            </a:r>
          </a:p>
          <a:p>
            <a:r>
              <a:rPr lang="en-US" dirty="0"/>
              <a:t>📌 </a:t>
            </a:r>
            <a:r>
              <a:rPr lang="en-US" i="1" dirty="0"/>
              <a:t>Outcome</a:t>
            </a:r>
            <a:r>
              <a:rPr lang="en-US" dirty="0"/>
              <a:t>: A prioritized DSQ list = business value anchor.</a:t>
            </a:r>
          </a:p>
          <a:p>
            <a:endParaRPr lang="en-US" dirty="0"/>
          </a:p>
        </p:txBody>
      </p:sp>
    </p:spTree>
    <p:extLst>
      <p:ext uri="{BB962C8B-B14F-4D97-AF65-F5344CB8AC3E}">
        <p14:creationId xmlns:p14="http://schemas.microsoft.com/office/powerpoint/2010/main" val="123423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E359F-2D09-60F1-D939-FB22B30276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9E8B47-C26A-E8CE-0F0C-DDD6B266228E}"/>
              </a:ext>
            </a:extLst>
          </p:cNvPr>
          <p:cNvSpPr>
            <a:spLocks noGrp="1"/>
          </p:cNvSpPr>
          <p:nvPr>
            <p:ph idx="1"/>
          </p:nvPr>
        </p:nvSpPr>
        <p:spPr/>
        <p:txBody>
          <a:bodyPr/>
          <a:lstStyle/>
          <a:p>
            <a:r>
              <a:rPr lang="en-US" b="1" dirty="0"/>
              <a:t>Step 2: Identify &amp; Profile Data Sources</a:t>
            </a:r>
          </a:p>
          <a:p>
            <a:r>
              <a:rPr lang="en-US" b="1" dirty="0"/>
              <a:t>Schema Analysis</a:t>
            </a:r>
            <a:r>
              <a:rPr lang="en-US" dirty="0"/>
              <a:t>: For each DB:</a:t>
            </a:r>
          </a:p>
          <a:p>
            <a:pPr lvl="1"/>
            <a:r>
              <a:rPr lang="en-US" dirty="0"/>
              <a:t>Extract tables, columns, PK/FK relationships.</a:t>
            </a:r>
          </a:p>
          <a:p>
            <a:pPr lvl="1"/>
            <a:r>
              <a:rPr lang="en-US" dirty="0"/>
              <a:t>Build </a:t>
            </a:r>
            <a:r>
              <a:rPr lang="en-US" b="1" dirty="0"/>
              <a:t>data type matrix</a:t>
            </a:r>
            <a:r>
              <a:rPr lang="en-US" dirty="0"/>
              <a:t> (column → datatype distribution).</a:t>
            </a:r>
          </a:p>
          <a:p>
            <a:r>
              <a:rPr lang="en-US" b="1" dirty="0"/>
              <a:t>Frequency Analysis</a:t>
            </a:r>
            <a:r>
              <a:rPr lang="en-US" dirty="0"/>
              <a:t>: Most common/reused columns across schemas.</a:t>
            </a:r>
          </a:p>
          <a:p>
            <a:r>
              <a:rPr lang="en-US" b="1" dirty="0"/>
              <a:t>Sample Queries</a:t>
            </a:r>
            <a:r>
              <a:rPr lang="en-US" dirty="0"/>
              <a:t>: Pull representative data to clarify semantics.</a:t>
            </a:r>
          </a:p>
          <a:p>
            <a:r>
              <a:rPr lang="en-US" dirty="0"/>
              <a:t>📌 </a:t>
            </a:r>
            <a:r>
              <a:rPr lang="en-US" i="1" dirty="0"/>
              <a:t>Outcome</a:t>
            </a:r>
            <a:r>
              <a:rPr lang="en-US" dirty="0"/>
              <a:t>: Structured profile of columns + candidate mappings to DSQs.</a:t>
            </a:r>
          </a:p>
          <a:p>
            <a:endParaRPr lang="en-US" dirty="0"/>
          </a:p>
        </p:txBody>
      </p:sp>
    </p:spTree>
    <p:extLst>
      <p:ext uri="{BB962C8B-B14F-4D97-AF65-F5344CB8AC3E}">
        <p14:creationId xmlns:p14="http://schemas.microsoft.com/office/powerpoint/2010/main" val="4254758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9423-4AD2-59FF-AAE5-AFEEF99228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0C3B9F-AB48-E3F1-3B53-B4FD931A172D}"/>
              </a:ext>
            </a:extLst>
          </p:cNvPr>
          <p:cNvSpPr>
            <a:spLocks noGrp="1"/>
          </p:cNvSpPr>
          <p:nvPr>
            <p:ph idx="1"/>
          </p:nvPr>
        </p:nvSpPr>
        <p:spPr/>
        <p:txBody>
          <a:bodyPr/>
          <a:lstStyle/>
          <a:p>
            <a:r>
              <a:rPr lang="en-US" b="1" dirty="0"/>
              <a:t>Step 3: Decode &amp; Standardize</a:t>
            </a:r>
          </a:p>
          <a:p>
            <a:r>
              <a:rPr lang="en-US" b="1" dirty="0"/>
              <a:t>Acronym Expansion</a:t>
            </a:r>
            <a:r>
              <a:rPr lang="en-US" dirty="0"/>
              <a:t>: Use the 20K-term acronym dataset (on Mobi KG).</a:t>
            </a:r>
          </a:p>
          <a:p>
            <a:r>
              <a:rPr lang="en-US" b="1" dirty="0"/>
              <a:t>Entity Resolution</a:t>
            </a:r>
            <a:r>
              <a:rPr lang="en-US" dirty="0"/>
              <a:t>: Detect synonyms/duplicates (e.g., </a:t>
            </a:r>
            <a:r>
              <a:rPr lang="en-US" i="1" dirty="0"/>
              <a:t>ESN</a:t>
            </a:r>
            <a:r>
              <a:rPr lang="en-US" dirty="0"/>
              <a:t> vs </a:t>
            </a:r>
            <a:r>
              <a:rPr lang="en-US" i="1" dirty="0" err="1"/>
              <a:t>Engine_SN</a:t>
            </a:r>
            <a:r>
              <a:rPr lang="en-US" dirty="0"/>
              <a:t>).</a:t>
            </a:r>
          </a:p>
          <a:p>
            <a:r>
              <a:rPr lang="en-US" b="1" dirty="0"/>
              <a:t>Column Meaning Extraction</a:t>
            </a:r>
            <a:r>
              <a:rPr lang="en-US" dirty="0"/>
              <a:t>: Combine name + datatype + sample values to infer semantics.</a:t>
            </a:r>
          </a:p>
          <a:p>
            <a:r>
              <a:rPr lang="en-US" dirty="0"/>
              <a:t>📌 </a:t>
            </a:r>
            <a:r>
              <a:rPr lang="en-US" i="1" dirty="0"/>
              <a:t>Outcome</a:t>
            </a:r>
            <a:r>
              <a:rPr lang="en-US" dirty="0"/>
              <a:t>: Human-readable meaning for each column, reducing ambiguity.</a:t>
            </a:r>
          </a:p>
          <a:p>
            <a:endParaRPr lang="en-US" dirty="0"/>
          </a:p>
        </p:txBody>
      </p:sp>
    </p:spTree>
    <p:extLst>
      <p:ext uri="{BB962C8B-B14F-4D97-AF65-F5344CB8AC3E}">
        <p14:creationId xmlns:p14="http://schemas.microsoft.com/office/powerpoint/2010/main" val="2817233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1290F-8F83-8817-E105-68B26730AB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0A21ED-0513-C82E-5324-2A83F51715D6}"/>
              </a:ext>
            </a:extLst>
          </p:cNvPr>
          <p:cNvSpPr>
            <a:spLocks noGrp="1"/>
          </p:cNvSpPr>
          <p:nvPr>
            <p:ph idx="1"/>
          </p:nvPr>
        </p:nvSpPr>
        <p:spPr/>
        <p:txBody>
          <a:bodyPr/>
          <a:lstStyle/>
          <a:p>
            <a:r>
              <a:rPr lang="en-US" b="1" dirty="0"/>
              <a:t>Step 4: Map Columns → Ontology Concepts</a:t>
            </a:r>
          </a:p>
          <a:p>
            <a:r>
              <a:rPr lang="en-US" b="1" dirty="0"/>
              <a:t>Use Ontology Modeling Canvas</a:t>
            </a:r>
            <a:r>
              <a:rPr lang="en-US" dirty="0"/>
              <a:t>: Place columns into categories:</a:t>
            </a:r>
          </a:p>
          <a:p>
            <a:r>
              <a:rPr lang="en-US" b="1" dirty="0"/>
              <a:t>Contextual Linking</a:t>
            </a:r>
            <a:r>
              <a:rPr lang="en-US" dirty="0"/>
              <a:t>: Show how each mapped class connects to others</a:t>
            </a:r>
          </a:p>
          <a:p>
            <a:r>
              <a:rPr lang="en-US" i="1" dirty="0"/>
              <a:t>Outcome</a:t>
            </a:r>
            <a:r>
              <a:rPr lang="en-US" dirty="0"/>
              <a:t>: Each ambiguous column now tied to a clear ontology class.</a:t>
            </a:r>
          </a:p>
        </p:txBody>
      </p:sp>
    </p:spTree>
    <p:extLst>
      <p:ext uri="{BB962C8B-B14F-4D97-AF65-F5344CB8AC3E}">
        <p14:creationId xmlns:p14="http://schemas.microsoft.com/office/powerpoint/2010/main" val="750582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6167-10FE-2E47-3B5B-9DB3078A0B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BE9FD5-2246-075C-5B7F-08415C45BE2E}"/>
              </a:ext>
            </a:extLst>
          </p:cNvPr>
          <p:cNvSpPr>
            <a:spLocks noGrp="1"/>
          </p:cNvSpPr>
          <p:nvPr>
            <p:ph idx="1"/>
          </p:nvPr>
        </p:nvSpPr>
        <p:spPr/>
        <p:txBody>
          <a:bodyPr>
            <a:normAutofit fontScale="92500" lnSpcReduction="10000"/>
          </a:bodyPr>
          <a:lstStyle/>
          <a:p>
            <a:r>
              <a:rPr lang="en-US" b="1" dirty="0"/>
              <a:t>Step 5: Enrich Class Pages</a:t>
            </a:r>
          </a:p>
          <a:p>
            <a:r>
              <a:rPr lang="en-US" dirty="0"/>
              <a:t>For each ontology class, generate a </a:t>
            </a:r>
            <a:r>
              <a:rPr lang="en-US" b="1" dirty="0"/>
              <a:t>class webpage</a:t>
            </a:r>
            <a:r>
              <a:rPr lang="en-US" dirty="0"/>
              <a:t> (hosted in Mobi KG or another platform):</a:t>
            </a:r>
          </a:p>
          <a:p>
            <a:r>
              <a:rPr lang="en-US" dirty="0"/>
              <a:t>Definition + formal logic axioms.</a:t>
            </a:r>
          </a:p>
          <a:p>
            <a:r>
              <a:rPr lang="en-US" dirty="0"/>
              <a:t>Examples + real-world photo.</a:t>
            </a:r>
          </a:p>
          <a:p>
            <a:r>
              <a:rPr lang="en-US" dirty="0"/>
              <a:t>Relationships (mini-graph or canvas).</a:t>
            </a:r>
          </a:p>
          <a:p>
            <a:r>
              <a:rPr lang="en-US" dirty="0"/>
              <a:t>Annotation properties (synonyms, acronyms).</a:t>
            </a:r>
          </a:p>
          <a:p>
            <a:r>
              <a:rPr lang="en-US" dirty="0"/>
              <a:t>Data mapping (tables/columns linked).</a:t>
            </a:r>
          </a:p>
          <a:p>
            <a:r>
              <a:rPr lang="en-US" dirty="0"/>
              <a:t>📌 </a:t>
            </a:r>
            <a:r>
              <a:rPr lang="en-US" i="1" dirty="0"/>
              <a:t>Outcome</a:t>
            </a:r>
            <a:r>
              <a:rPr lang="en-US" dirty="0"/>
              <a:t>: Rich, self-service “Wikipedia for Ontology” accessible to data stewards.</a:t>
            </a:r>
          </a:p>
          <a:p>
            <a:endParaRPr lang="en-US" dirty="0"/>
          </a:p>
        </p:txBody>
      </p:sp>
    </p:spTree>
    <p:extLst>
      <p:ext uri="{BB962C8B-B14F-4D97-AF65-F5344CB8AC3E}">
        <p14:creationId xmlns:p14="http://schemas.microsoft.com/office/powerpoint/2010/main" val="2890554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05438-B8F5-41D5-947D-944404CD06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60C3D4-5E9B-8A67-B22E-24946D98B269}"/>
              </a:ext>
            </a:extLst>
          </p:cNvPr>
          <p:cNvSpPr>
            <a:spLocks noGrp="1"/>
          </p:cNvSpPr>
          <p:nvPr>
            <p:ph idx="1"/>
          </p:nvPr>
        </p:nvSpPr>
        <p:spPr/>
        <p:txBody>
          <a:bodyPr/>
          <a:lstStyle/>
          <a:p>
            <a:r>
              <a:rPr lang="en-US" b="1" dirty="0"/>
              <a:t>Step 6: Validate &amp; Crowdsource</a:t>
            </a:r>
          </a:p>
          <a:p>
            <a:r>
              <a:rPr lang="en-US" b="1" dirty="0"/>
              <a:t>Stakeholder Validation</a:t>
            </a:r>
            <a:r>
              <a:rPr lang="en-US" dirty="0"/>
              <a:t>: SMEs confirm mappings make sense.</a:t>
            </a:r>
          </a:p>
          <a:p>
            <a:r>
              <a:rPr lang="en-US" b="1" dirty="0"/>
              <a:t>Crowdsourcing Feedback</a:t>
            </a:r>
            <a:r>
              <a:rPr lang="en-US" dirty="0"/>
              <a:t>: Allow users to:</a:t>
            </a:r>
          </a:p>
          <a:p>
            <a:pPr lvl="1"/>
            <a:r>
              <a:rPr lang="en-US" dirty="0"/>
              <a:t>Upvote/downvote mappings.</a:t>
            </a:r>
          </a:p>
          <a:p>
            <a:pPr lvl="1"/>
            <a:r>
              <a:rPr lang="en-US" dirty="0"/>
              <a:t>Comment or suggest corrections.</a:t>
            </a:r>
          </a:p>
          <a:p>
            <a:r>
              <a:rPr lang="en-US" b="1" dirty="0"/>
              <a:t>Governance Workflow</a:t>
            </a:r>
            <a:r>
              <a:rPr lang="en-US" dirty="0"/>
              <a:t>: Approved mappings get locked into ontology; drafts remain under review.</a:t>
            </a:r>
          </a:p>
          <a:p>
            <a:r>
              <a:rPr lang="en-US" dirty="0"/>
              <a:t>📌 </a:t>
            </a:r>
            <a:r>
              <a:rPr lang="en-US" i="1" dirty="0"/>
              <a:t>Outcome</a:t>
            </a:r>
            <a:r>
              <a:rPr lang="en-US" dirty="0"/>
              <a:t>: Continuous improvement loop, scaled review process.</a:t>
            </a:r>
          </a:p>
          <a:p>
            <a:endParaRPr lang="en-US" dirty="0"/>
          </a:p>
        </p:txBody>
      </p:sp>
    </p:spTree>
    <p:extLst>
      <p:ext uri="{BB962C8B-B14F-4D97-AF65-F5344CB8AC3E}">
        <p14:creationId xmlns:p14="http://schemas.microsoft.com/office/powerpoint/2010/main" val="923887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CB0C5-6DF1-17B7-35EF-BFF3C50201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C61EEE-54D6-F6CF-9A08-ACD7DD9F6F6F}"/>
              </a:ext>
            </a:extLst>
          </p:cNvPr>
          <p:cNvSpPr>
            <a:spLocks noGrp="1"/>
          </p:cNvSpPr>
          <p:nvPr>
            <p:ph idx="1"/>
          </p:nvPr>
        </p:nvSpPr>
        <p:spPr/>
        <p:txBody>
          <a:bodyPr/>
          <a:lstStyle/>
          <a:p>
            <a:r>
              <a:rPr lang="en-US" b="1" dirty="0"/>
              <a:t>Step 7: Integrate with Data Governance Tools</a:t>
            </a:r>
          </a:p>
          <a:p>
            <a:r>
              <a:rPr lang="en-US" dirty="0"/>
              <a:t>Push enriched ontology mappings into </a:t>
            </a:r>
            <a:r>
              <a:rPr lang="en-US" b="1" dirty="0"/>
              <a:t>Informatica Data Catalog (IDC)</a:t>
            </a:r>
            <a:r>
              <a:rPr lang="en-US" dirty="0"/>
              <a:t> or Purview.</a:t>
            </a:r>
          </a:p>
          <a:p>
            <a:r>
              <a:rPr lang="en-US" dirty="0"/>
              <a:t>Enable </a:t>
            </a:r>
            <a:r>
              <a:rPr lang="en-US" b="1" dirty="0"/>
              <a:t>semantic search</a:t>
            </a:r>
            <a:r>
              <a:rPr lang="en-US" dirty="0"/>
              <a:t> (search “engine identifier” → returns ESN + </a:t>
            </a:r>
            <a:r>
              <a:rPr lang="en-US" dirty="0" err="1"/>
              <a:t>Engine_SN</a:t>
            </a:r>
            <a:r>
              <a:rPr lang="en-US" dirty="0"/>
              <a:t> with ontology context).</a:t>
            </a:r>
          </a:p>
          <a:p>
            <a:r>
              <a:rPr lang="en-US" dirty="0"/>
              <a:t>Provide APIs to sync ontology ↔ catalog metadata.</a:t>
            </a:r>
          </a:p>
          <a:p>
            <a:r>
              <a:rPr lang="en-US" dirty="0"/>
              <a:t>📌 </a:t>
            </a:r>
            <a:r>
              <a:rPr lang="en-US" i="1" dirty="0"/>
              <a:t>Outcome</a:t>
            </a:r>
            <a:r>
              <a:rPr lang="en-US" dirty="0"/>
              <a:t>: Ontology becomes a </a:t>
            </a:r>
            <a:r>
              <a:rPr lang="en-US" b="1" dirty="0"/>
              <a:t>semantic layer for governance</a:t>
            </a:r>
            <a:r>
              <a:rPr lang="en-US" dirty="0"/>
              <a:t>, bridging technical and business data views.</a:t>
            </a:r>
          </a:p>
          <a:p>
            <a:endParaRPr lang="en-US" dirty="0"/>
          </a:p>
        </p:txBody>
      </p:sp>
    </p:spTree>
    <p:extLst>
      <p:ext uri="{BB962C8B-B14F-4D97-AF65-F5344CB8AC3E}">
        <p14:creationId xmlns:p14="http://schemas.microsoft.com/office/powerpoint/2010/main" val="834602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D26A8-0CF7-61E4-C2E8-05638B8907A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9049E78-EC18-7E29-BE15-F9701D5FD6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15491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612FA-CF4C-B268-6F89-06D8AF4893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1DB2DB-379A-C4FA-0703-5E4FF4B401C1}"/>
              </a:ext>
            </a:extLst>
          </p:cNvPr>
          <p:cNvSpPr>
            <a:spLocks noGrp="1"/>
          </p:cNvSpPr>
          <p:nvPr>
            <p:ph idx="1"/>
          </p:nvPr>
        </p:nvSpPr>
        <p:spPr/>
        <p:txBody>
          <a:bodyPr>
            <a:normAutofit fontScale="62500" lnSpcReduction="20000"/>
          </a:bodyPr>
          <a:lstStyle/>
          <a:p>
            <a:r>
              <a:rPr lang="en-US" b="1" dirty="0"/>
              <a:t>The Four-Phase Execution Plan</a:t>
            </a:r>
          </a:p>
          <a:p>
            <a:r>
              <a:rPr lang="en-US" b="1" dirty="0"/>
              <a:t>Phase 1: Discovery &amp; Scoping (The "Why")</a:t>
            </a:r>
          </a:p>
          <a:p>
            <a:r>
              <a:rPr lang="en-US" b="1" dirty="0"/>
              <a:t>Goal:</a:t>
            </a:r>
            <a:r>
              <a:rPr lang="en-US" dirty="0"/>
              <a:t> To identify and prioritize the business problems we will solve and the specific data required to solve them.</a:t>
            </a:r>
          </a:p>
          <a:p>
            <a:r>
              <a:rPr lang="en-US" b="1" dirty="0"/>
              <a:t>Activity 1.1: DSQ Elicitation &amp; Prioritization</a:t>
            </a:r>
            <a:endParaRPr lang="en-US" dirty="0"/>
          </a:p>
          <a:p>
            <a:pPr lvl="1"/>
            <a:r>
              <a:rPr lang="en-US" b="1" dirty="0"/>
              <a:t>Process:</a:t>
            </a:r>
            <a:r>
              <a:rPr lang="en-US" dirty="0"/>
              <a:t> For new projects, we will engage directly with business stakeholders. We will ask targeted questions to uncover their primary data-related challenges:</a:t>
            </a:r>
          </a:p>
          <a:p>
            <a:pPr lvl="2"/>
            <a:r>
              <a:rPr lang="en-US" i="1" dirty="0">
                <a:effectLst/>
              </a:rPr>
              <a:t>What critical questions are difficult or time-consuming to answer?</a:t>
            </a:r>
            <a:endParaRPr lang="en-US" dirty="0"/>
          </a:p>
          <a:p>
            <a:pPr lvl="2"/>
            <a:r>
              <a:rPr lang="en-US" i="1" dirty="0">
                <a:effectLst/>
              </a:rPr>
              <a:t>What information do you suspect is in the data but can't easily connect?</a:t>
            </a:r>
            <a:endParaRPr lang="en-US" dirty="0"/>
          </a:p>
          <a:p>
            <a:pPr lvl="2"/>
            <a:r>
              <a:rPr lang="en-US" i="1" dirty="0">
                <a:effectLst/>
              </a:rPr>
              <a:t>Where do you spend the most time manually joining and cleaning data for reports?</a:t>
            </a:r>
            <a:endParaRPr lang="en-US" dirty="0"/>
          </a:p>
          <a:p>
            <a:pPr lvl="1"/>
            <a:r>
              <a:rPr lang="en-US" dirty="0"/>
              <a:t>From these conversations, we will formalize a set of clear, actionable Decision Support Questions.</a:t>
            </a:r>
          </a:p>
          <a:p>
            <a:pPr lvl="1"/>
            <a:r>
              <a:rPr lang="en-US" b="1" dirty="0"/>
              <a:t>For GTF Aftermarket:</a:t>
            </a:r>
            <a:r>
              <a:rPr lang="en-US" dirty="0"/>
              <a:t> This work is complete. We will start with the predefined list of DSQs and select a high-impact subset for the pilot.</a:t>
            </a:r>
          </a:p>
          <a:p>
            <a:r>
              <a:rPr lang="en-US" b="1" dirty="0"/>
              <a:t>Activity 1.2: Data Source Identification</a:t>
            </a:r>
            <a:endParaRPr lang="en-US" dirty="0"/>
          </a:p>
          <a:p>
            <a:pPr lvl="1"/>
            <a:r>
              <a:rPr lang="en-US" b="1" dirty="0"/>
              <a:t>Process:</a:t>
            </a:r>
            <a:r>
              <a:rPr lang="en-US" dirty="0"/>
              <a:t> With the prioritized DSQs in hand, we will identify the minimal set of databases, tables, and files required to answer them. This defines the scope of our technical analysis.</a:t>
            </a:r>
          </a:p>
          <a:p>
            <a:r>
              <a:rPr lang="en-US" b="1" dirty="0"/>
              <a:t>Deliverable:</a:t>
            </a:r>
            <a:r>
              <a:rPr lang="en-US" dirty="0"/>
              <a:t> A </a:t>
            </a:r>
            <a:r>
              <a:rPr lang="en-US" b="1" dirty="0"/>
              <a:t>Pilot Project Charter</a:t>
            </a:r>
            <a:r>
              <a:rPr lang="en-US" dirty="0"/>
              <a:t> detailing the 3-4 target DSQs, the data sources in scope, and the success criteria for the final demonstration.</a:t>
            </a:r>
          </a:p>
          <a:p>
            <a:endParaRPr lang="en-US" dirty="0"/>
          </a:p>
        </p:txBody>
      </p:sp>
    </p:spTree>
    <p:extLst>
      <p:ext uri="{BB962C8B-B14F-4D97-AF65-F5344CB8AC3E}">
        <p14:creationId xmlns:p14="http://schemas.microsoft.com/office/powerpoint/2010/main" val="786404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6B2A-E165-5A24-D023-3D01AE7B46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EBE2D5-ED30-0D1A-14EB-EA167BAB854B}"/>
              </a:ext>
            </a:extLst>
          </p:cNvPr>
          <p:cNvSpPr>
            <a:spLocks noGrp="1"/>
          </p:cNvSpPr>
          <p:nvPr>
            <p:ph idx="1"/>
          </p:nvPr>
        </p:nvSpPr>
        <p:spPr/>
        <p:txBody>
          <a:bodyPr>
            <a:normAutofit fontScale="55000" lnSpcReduction="20000"/>
          </a:bodyPr>
          <a:lstStyle/>
          <a:p>
            <a:r>
              <a:rPr lang="en-US" b="1" dirty="0"/>
              <a:t>Phase 2: Data Profiling &amp; Analysis (The "What")</a:t>
            </a:r>
          </a:p>
          <a:p>
            <a:r>
              <a:rPr lang="en-US" b="1" dirty="0"/>
              <a:t>Goal:</a:t>
            </a:r>
            <a:r>
              <a:rPr lang="en-US" dirty="0"/>
              <a:t> To perform a deep, systematic analysis of the source data to understand its structure, content, and quality.</a:t>
            </a:r>
          </a:p>
          <a:p>
            <a:r>
              <a:rPr lang="en-US" b="1" dirty="0"/>
              <a:t>Activity 2.1: Structural &amp; Frequency Analysis</a:t>
            </a:r>
            <a:endParaRPr lang="en-US" dirty="0"/>
          </a:p>
          <a:p>
            <a:pPr lvl="1"/>
            <a:r>
              <a:rPr lang="en-US" b="1" dirty="0"/>
              <a:t>Process:</a:t>
            </a:r>
            <a:r>
              <a:rPr lang="en-US" dirty="0"/>
              <a:t> We will run automated profiling algorithms against the schemas of the in-scope databases.</a:t>
            </a:r>
          </a:p>
          <a:p>
            <a:pPr lvl="1"/>
            <a:r>
              <a:rPr lang="en-US" b="1" dirty="0"/>
              <a:t>Outputs:</a:t>
            </a:r>
            <a:endParaRPr lang="en-US" dirty="0"/>
          </a:p>
          <a:p>
            <a:pPr lvl="2"/>
            <a:r>
              <a:rPr lang="en-US" dirty="0"/>
              <a:t>A list of the </a:t>
            </a:r>
            <a:r>
              <a:rPr lang="en-US" b="1" dirty="0"/>
              <a:t>most frequently occurring columns</a:t>
            </a:r>
            <a:r>
              <a:rPr lang="en-US" dirty="0"/>
              <a:t> across all tables (e.g., </a:t>
            </a:r>
            <a:r>
              <a:rPr lang="en-US" dirty="0" err="1"/>
              <a:t>Part_Number</a:t>
            </a:r>
            <a:r>
              <a:rPr lang="en-US" dirty="0"/>
              <a:t>, </a:t>
            </a:r>
            <a:r>
              <a:rPr lang="en-US" dirty="0" err="1"/>
              <a:t>Engine_SN</a:t>
            </a:r>
            <a:r>
              <a:rPr lang="en-US" dirty="0"/>
              <a:t>). These are primary candidates for becoming central ontology concepts.</a:t>
            </a:r>
          </a:p>
          <a:p>
            <a:pPr lvl="2"/>
            <a:r>
              <a:rPr lang="en-US" dirty="0"/>
              <a:t>A list of all unique columns.</a:t>
            </a:r>
          </a:p>
          <a:p>
            <a:r>
              <a:rPr lang="en-US" b="1" dirty="0"/>
              <a:t>Activity 2.2: Data Type Profiling</a:t>
            </a:r>
            <a:endParaRPr lang="en-US" dirty="0"/>
          </a:p>
          <a:p>
            <a:pPr lvl="1"/>
            <a:r>
              <a:rPr lang="en-US" b="1" dirty="0"/>
              <a:t>Process:</a:t>
            </a:r>
            <a:r>
              <a:rPr lang="en-US" dirty="0"/>
              <a:t> We will analyze the data types of every column.</a:t>
            </a:r>
          </a:p>
          <a:p>
            <a:pPr lvl="1"/>
            <a:r>
              <a:rPr lang="en-US" b="1" dirty="0"/>
              <a:t>Output:</a:t>
            </a:r>
            <a:r>
              <a:rPr lang="en-US" dirty="0"/>
              <a:t> A </a:t>
            </a:r>
            <a:r>
              <a:rPr lang="en-US" b="1" dirty="0"/>
              <a:t>Data Type Matrix</a:t>
            </a:r>
            <a:r>
              <a:rPr lang="en-US" dirty="0"/>
              <a:t> that cross-references tables and columns with their data types (e.g., string, integer, timestamp). This matrix helps us quickly understand the kind of information stored and identify columns that may hold similar data.</a:t>
            </a:r>
          </a:p>
          <a:p>
            <a:r>
              <a:rPr lang="en-US" b="1" dirty="0"/>
              <a:t>Activity 2.3: Content &amp; Semantic Analysis</a:t>
            </a:r>
            <a:endParaRPr lang="en-US" dirty="0"/>
          </a:p>
          <a:p>
            <a:pPr lvl="1"/>
            <a:r>
              <a:rPr lang="en-US" b="1" dirty="0"/>
              <a:t>Process:</a:t>
            </a:r>
            <a:r>
              <a:rPr lang="en-US" dirty="0"/>
              <a:t> We will move from structure to meaning.</a:t>
            </a:r>
          </a:p>
          <a:p>
            <a:pPr lvl="2"/>
            <a:r>
              <a:rPr lang="en-US" b="1" dirty="0"/>
              <a:t>Decode Names:</a:t>
            </a:r>
            <a:r>
              <a:rPr lang="en-US" dirty="0"/>
              <a:t> For frequently appearing columns with cryptic names (e.g., "PN," "CPL"), we will use the corporate </a:t>
            </a:r>
            <a:r>
              <a:rPr lang="en-US" b="1" dirty="0"/>
              <a:t>acronym library</a:t>
            </a:r>
            <a:r>
              <a:rPr lang="en-US" dirty="0"/>
              <a:t> in Mobi to find their long-form meanings.</a:t>
            </a:r>
          </a:p>
          <a:p>
            <a:pPr lvl="2"/>
            <a:r>
              <a:rPr lang="en-US" b="1" dirty="0"/>
              <a:t>Sample Data:</a:t>
            </a:r>
            <a:r>
              <a:rPr lang="en-US" dirty="0"/>
              <a:t> We will query and inspect sample data from key columns to confirm our understanding of their content.</a:t>
            </a:r>
          </a:p>
          <a:p>
            <a:pPr lvl="2"/>
            <a:r>
              <a:rPr lang="en-US" b="1" dirty="0"/>
              <a:t>Entity Resolution:</a:t>
            </a:r>
            <a:r>
              <a:rPr lang="en-US" dirty="0"/>
              <a:t> We will perform analysis to identify columns with different names that contain the same data (e.g., ESN and </a:t>
            </a:r>
            <a:r>
              <a:rPr lang="en-US" dirty="0" err="1"/>
              <a:t>Engine_SN</a:t>
            </a:r>
            <a:r>
              <a:rPr lang="en-US" dirty="0"/>
              <a:t>), flagging them for mapping to a single ontology class.</a:t>
            </a:r>
          </a:p>
          <a:p>
            <a:r>
              <a:rPr lang="en-US" b="1" dirty="0"/>
              <a:t>Deliverable:</a:t>
            </a:r>
            <a:r>
              <a:rPr lang="en-US" dirty="0"/>
              <a:t> A </a:t>
            </a:r>
            <a:r>
              <a:rPr lang="en-US" b="1" dirty="0"/>
              <a:t>Data Profiling &amp; Analysis Report</a:t>
            </a:r>
            <a:r>
              <a:rPr lang="en-US" dirty="0"/>
              <a:t> that summarizes our findings, including the frequency analysis, data type matrix, and a list of candidate columns for semantic modeling.</a:t>
            </a:r>
          </a:p>
          <a:p>
            <a:endParaRPr lang="en-US" dirty="0"/>
          </a:p>
        </p:txBody>
      </p:sp>
    </p:spTree>
    <p:extLst>
      <p:ext uri="{BB962C8B-B14F-4D97-AF65-F5344CB8AC3E}">
        <p14:creationId xmlns:p14="http://schemas.microsoft.com/office/powerpoint/2010/main" val="3364791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C1057-648D-B6E8-09DD-C47DC2F156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429E30-AAAD-26C1-06B4-E7918904EFD9}"/>
              </a:ext>
            </a:extLst>
          </p:cNvPr>
          <p:cNvSpPr>
            <a:spLocks noGrp="1"/>
          </p:cNvSpPr>
          <p:nvPr>
            <p:ph idx="1"/>
          </p:nvPr>
        </p:nvSpPr>
        <p:spPr/>
        <p:txBody>
          <a:bodyPr>
            <a:normAutofit fontScale="55000" lnSpcReduction="20000"/>
          </a:bodyPr>
          <a:lstStyle/>
          <a:p>
            <a:r>
              <a:rPr lang="en-US" b="1" dirty="0"/>
              <a:t>Phase 3: Semantic Modeling &amp; Enrichment (The "Bridge")</a:t>
            </a:r>
          </a:p>
          <a:p>
            <a:r>
              <a:rPr lang="en-US" b="1" dirty="0"/>
              <a:t>Goal:</a:t>
            </a:r>
            <a:r>
              <a:rPr lang="en-US" dirty="0"/>
              <a:t> To formally map the physical data columns to a rich, contextualized, and well-documented ontology.</a:t>
            </a:r>
          </a:p>
          <a:p>
            <a:r>
              <a:rPr lang="en-US" b="1" dirty="0"/>
              <a:t>Activity 3.1: Column-to-Concept Mapping</a:t>
            </a:r>
            <a:endParaRPr lang="en-US" dirty="0"/>
          </a:p>
          <a:p>
            <a:pPr lvl="1"/>
            <a:r>
              <a:rPr lang="en-US" b="1" dirty="0"/>
              <a:t>Process:</a:t>
            </a:r>
            <a:r>
              <a:rPr lang="en-US" dirty="0"/>
              <a:t> Using the </a:t>
            </a:r>
            <a:r>
              <a:rPr lang="en-US" b="1" dirty="0"/>
              <a:t>Ontology Modeling Canvas</a:t>
            </a:r>
            <a:r>
              <a:rPr lang="en-US" dirty="0"/>
              <a:t>, we will take each high-priority column from our analysis and systematically model it.</a:t>
            </a:r>
          </a:p>
          <a:p>
            <a:pPr lvl="1"/>
            <a:r>
              <a:rPr lang="en-US" dirty="0"/>
              <a:t>This involves determining if the column represents an Identifier (e.g., a serial number), a Quality (e.g., temperature), a Role, etc., and how it connects to the Material Thing or Process it describes. We will explicitly model the context by linking the new concept to a few other core concepts in the ontology.</a:t>
            </a:r>
          </a:p>
          <a:p>
            <a:r>
              <a:rPr lang="en-US" b="1" dirty="0"/>
              <a:t>Activity 3.2: Formal Ontology Definition &amp; Documentation</a:t>
            </a:r>
            <a:endParaRPr lang="en-US" dirty="0"/>
          </a:p>
          <a:p>
            <a:pPr lvl="1"/>
            <a:r>
              <a:rPr lang="en-US" b="1" dirty="0"/>
              <a:t>Process:</a:t>
            </a:r>
            <a:r>
              <a:rPr lang="en-US" dirty="0"/>
              <a:t> For each new class defined via the canvas, we will create its formal definition within the Mobi platform.</a:t>
            </a:r>
          </a:p>
          <a:p>
            <a:pPr lvl="1"/>
            <a:r>
              <a:rPr lang="en-US" dirty="0"/>
              <a:t>This includes creating a dedicated, web-resolvable IRI (webpage) for the class, containing:</a:t>
            </a:r>
          </a:p>
          <a:p>
            <a:pPr lvl="2"/>
            <a:r>
              <a:rPr lang="en-US" dirty="0"/>
              <a:t>A clear, human-readable definition.</a:t>
            </a:r>
          </a:p>
          <a:p>
            <a:pPr lvl="2"/>
            <a:r>
              <a:rPr lang="en-US" dirty="0"/>
              <a:t>Practical examples and modeling notes.</a:t>
            </a:r>
          </a:p>
          <a:p>
            <a:pPr lvl="2"/>
            <a:r>
              <a:rPr lang="en-US" dirty="0"/>
              <a:t>Formal logic axioms (as needed).</a:t>
            </a:r>
          </a:p>
          <a:p>
            <a:pPr lvl="2"/>
            <a:r>
              <a:rPr lang="en-US" b="1" dirty="0"/>
              <a:t>Crucially</a:t>
            </a:r>
            <a:r>
              <a:rPr lang="en-US" dirty="0"/>
              <a:t>, a set of annotation properties that explicitly list the source database(s), table(s), and column(s) that map to this class.</a:t>
            </a:r>
          </a:p>
          <a:p>
            <a:r>
              <a:rPr lang="en-US" b="1" dirty="0"/>
              <a:t>Deliverable:</a:t>
            </a:r>
            <a:endParaRPr lang="en-US" dirty="0"/>
          </a:p>
          <a:p>
            <a:pPr lvl="1"/>
            <a:r>
              <a:rPr lang="en-US" dirty="0"/>
              <a:t>A set of </a:t>
            </a:r>
            <a:r>
              <a:rPr lang="en-US" b="1" dirty="0"/>
              <a:t>Completed Ontology Modeling Canvases</a:t>
            </a:r>
            <a:r>
              <a:rPr lang="en-US" dirty="0"/>
              <a:t> for all in-scope data elements.</a:t>
            </a:r>
          </a:p>
          <a:p>
            <a:pPr lvl="1"/>
            <a:r>
              <a:rPr lang="en-US" dirty="0"/>
              <a:t>A </a:t>
            </a:r>
            <a:r>
              <a:rPr lang="en-US" b="1" dirty="0"/>
              <a:t>Web-Browsable Pilot Ontology</a:t>
            </a:r>
            <a:r>
              <a:rPr lang="en-US" dirty="0"/>
              <a:t> in Mobi, with each class having a rich, documented webpage.</a:t>
            </a:r>
          </a:p>
          <a:p>
            <a:endParaRPr lang="en-US" dirty="0"/>
          </a:p>
        </p:txBody>
      </p:sp>
    </p:spTree>
    <p:extLst>
      <p:ext uri="{BB962C8B-B14F-4D97-AF65-F5344CB8AC3E}">
        <p14:creationId xmlns:p14="http://schemas.microsoft.com/office/powerpoint/2010/main" val="614399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24BA-DC82-779C-1A5F-8E40E80F8E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EC6D70-C44E-39DD-2465-73127833939F}"/>
              </a:ext>
            </a:extLst>
          </p:cNvPr>
          <p:cNvSpPr>
            <a:spLocks noGrp="1"/>
          </p:cNvSpPr>
          <p:nvPr>
            <p:ph idx="1"/>
          </p:nvPr>
        </p:nvSpPr>
        <p:spPr/>
        <p:txBody>
          <a:bodyPr>
            <a:normAutofit fontScale="55000" lnSpcReduction="20000"/>
          </a:bodyPr>
          <a:lstStyle/>
          <a:p>
            <a:r>
              <a:rPr lang="en-US" b="1" dirty="0"/>
              <a:t>Phase 4: Validation, Integration &amp; Demonstration (The "Proof")</a:t>
            </a:r>
          </a:p>
          <a:p>
            <a:r>
              <a:rPr lang="en-US" b="1" dirty="0"/>
              <a:t>Goal:</a:t>
            </a:r>
            <a:r>
              <a:rPr lang="en-US" dirty="0"/>
              <a:t> To validate the model with the community, integrate it with the data catalog, and demonstrate its business value.</a:t>
            </a:r>
          </a:p>
          <a:p>
            <a:r>
              <a:rPr lang="en-US" b="1" dirty="0"/>
              <a:t>Activity 4.1: Collaborative Validation &amp; Governance</a:t>
            </a:r>
            <a:endParaRPr lang="en-US" dirty="0"/>
          </a:p>
          <a:p>
            <a:pPr lvl="1"/>
            <a:r>
              <a:rPr lang="en-US" b="1" dirty="0"/>
              <a:t>Process:</a:t>
            </a:r>
            <a:r>
              <a:rPr lang="en-US" dirty="0"/>
              <a:t> The model is not complete until it is validated.</a:t>
            </a:r>
          </a:p>
          <a:p>
            <a:pPr lvl="2"/>
            <a:r>
              <a:rPr lang="en-US" b="1" dirty="0"/>
              <a:t>Stakeholder Review:</a:t>
            </a:r>
            <a:r>
              <a:rPr lang="en-US" dirty="0"/>
              <a:t> We will hold formal review sessions with the data owners and business SMEs to validate the column-to-concept mappings.</a:t>
            </a:r>
          </a:p>
          <a:p>
            <a:pPr lvl="2"/>
            <a:r>
              <a:rPr lang="en-US" b="1" dirty="0"/>
              <a:t>Crowdsourcing Feedback:</a:t>
            </a:r>
            <a:r>
              <a:rPr lang="en-US" dirty="0"/>
              <a:t> The web-browsable ontology in Mobi will be equipped with features allowing users across the company to review mappings, leave comments, and provide up/down votes. This harnesses the collective intelligence of the organization to improve the model over time.</a:t>
            </a:r>
          </a:p>
          <a:p>
            <a:r>
              <a:rPr lang="en-US" b="1" dirty="0"/>
              <a:t>Activity 4.2: Integration with Informatica Data Catalog</a:t>
            </a:r>
            <a:endParaRPr lang="en-US" dirty="0"/>
          </a:p>
          <a:p>
            <a:pPr lvl="1"/>
            <a:r>
              <a:rPr lang="en-US" b="1" dirty="0"/>
              <a:t>Process:</a:t>
            </a:r>
            <a:r>
              <a:rPr lang="en-US" dirty="0"/>
              <a:t> Using the APIs of both platforms, we will push the semantic context from Mobi into Informatica. For a given column in the data catalog, users will see a new custom property: "Ontology Class," with a direct link to the rich definition page in our ontology.</a:t>
            </a:r>
          </a:p>
          <a:p>
            <a:r>
              <a:rPr lang="en-US" b="1" dirty="0"/>
              <a:t>Activity 4.3: Demonstration &amp; Roadmap</a:t>
            </a:r>
            <a:endParaRPr lang="en-US" dirty="0"/>
          </a:p>
          <a:p>
            <a:pPr lvl="1"/>
            <a:r>
              <a:rPr lang="en-US" b="1" dirty="0"/>
              <a:t>Process:</a:t>
            </a:r>
            <a:r>
              <a:rPr lang="en-US" dirty="0"/>
              <a:t> We will conduct a live demonstration for the Director of Data Governance and business stakeholders, showcasing how the enriched catalog directly helps answer the initial DSQs. We will contrast the slow, ambiguous "before" state with the fast, clear "after" state.</a:t>
            </a:r>
          </a:p>
          <a:p>
            <a:r>
              <a:rPr lang="en-US" b="1" dirty="0"/>
              <a:t>Deliverable:</a:t>
            </a:r>
            <a:endParaRPr lang="en-US" dirty="0"/>
          </a:p>
          <a:p>
            <a:pPr lvl="1"/>
            <a:r>
              <a:rPr lang="en-US" dirty="0"/>
              <a:t>A </a:t>
            </a:r>
            <a:r>
              <a:rPr lang="en-US" b="1" dirty="0"/>
              <a:t>Validation Report</a:t>
            </a:r>
            <a:r>
              <a:rPr lang="en-US" dirty="0"/>
              <a:t> summarizing feedback from stakeholders and the community.</a:t>
            </a:r>
          </a:p>
          <a:p>
            <a:pPr lvl="1"/>
            <a:r>
              <a:rPr lang="en-US" dirty="0"/>
              <a:t>A </a:t>
            </a:r>
            <a:r>
              <a:rPr lang="en-US" b="1" dirty="0"/>
              <a:t>live, functional demonstration</a:t>
            </a:r>
            <a:r>
              <a:rPr lang="en-US" dirty="0"/>
              <a:t> of the integrated solution.</a:t>
            </a:r>
          </a:p>
          <a:p>
            <a:pPr lvl="1"/>
            <a:r>
              <a:rPr lang="en-US" dirty="0"/>
              <a:t>A </a:t>
            </a:r>
            <a:r>
              <a:rPr lang="en-US" b="1" dirty="0"/>
              <a:t>Phase 2 Roadmap</a:t>
            </a:r>
            <a:r>
              <a:rPr lang="en-US" dirty="0"/>
              <a:t> proposing the next set of DSQs and business domains to address.</a:t>
            </a:r>
          </a:p>
          <a:p>
            <a:endParaRPr lang="en-US" dirty="0"/>
          </a:p>
        </p:txBody>
      </p:sp>
    </p:spTree>
    <p:extLst>
      <p:ext uri="{BB962C8B-B14F-4D97-AF65-F5344CB8AC3E}">
        <p14:creationId xmlns:p14="http://schemas.microsoft.com/office/powerpoint/2010/main" val="1145122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059336-9EE9-DD42-4F18-7022A01ADC3A}"/>
              </a:ext>
            </a:extLst>
          </p:cNvPr>
          <p:cNvPicPr>
            <a:picLocks noChangeAspect="1"/>
          </p:cNvPicPr>
          <p:nvPr/>
        </p:nvPicPr>
        <p:blipFill>
          <a:blip r:embed="rId2"/>
          <a:stretch>
            <a:fillRect/>
          </a:stretch>
        </p:blipFill>
        <p:spPr>
          <a:xfrm>
            <a:off x="485295" y="546199"/>
            <a:ext cx="11049000" cy="665603"/>
          </a:xfrm>
          <a:prstGeom prst="rect">
            <a:avLst/>
          </a:prstGeom>
          <a:ln>
            <a:solidFill>
              <a:schemeClr val="tx1"/>
            </a:solidFill>
          </a:ln>
        </p:spPr>
      </p:pic>
      <p:pic>
        <p:nvPicPr>
          <p:cNvPr id="7" name="Picture 6" descr="A white sheet with black text&#10;&#10;AI-generated content may be incorrect.">
            <a:extLst>
              <a:ext uri="{FF2B5EF4-FFF2-40B4-BE49-F238E27FC236}">
                <a16:creationId xmlns:a16="http://schemas.microsoft.com/office/drawing/2014/main" id="{9FAD56FC-2FBC-56EA-8FBD-89F13841D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375" y="1274152"/>
            <a:ext cx="9926840" cy="5583848"/>
          </a:xfrm>
          <a:prstGeom prst="rect">
            <a:avLst/>
          </a:prstGeom>
        </p:spPr>
      </p:pic>
      <p:sp>
        <p:nvSpPr>
          <p:cNvPr id="8" name="TextBox 7">
            <a:extLst>
              <a:ext uri="{FF2B5EF4-FFF2-40B4-BE49-F238E27FC236}">
                <a16:creationId xmlns:a16="http://schemas.microsoft.com/office/drawing/2014/main" id="{60D5641D-FD7D-F93D-A176-49DFAD2E597E}"/>
              </a:ext>
            </a:extLst>
          </p:cNvPr>
          <p:cNvSpPr txBox="1"/>
          <p:nvPr/>
        </p:nvSpPr>
        <p:spPr>
          <a:xfrm>
            <a:off x="485295" y="122548"/>
            <a:ext cx="11049000" cy="338554"/>
          </a:xfrm>
          <a:prstGeom prst="rect">
            <a:avLst/>
          </a:prstGeom>
          <a:noFill/>
        </p:spPr>
        <p:txBody>
          <a:bodyPr wrap="square" rtlCol="0">
            <a:spAutoFit/>
          </a:bodyPr>
          <a:lstStyle/>
          <a:p>
            <a:pPr algn="ctr"/>
            <a:r>
              <a:rPr lang="en-US" sz="1600" dirty="0"/>
              <a:t>Table is in inspection database with real column names, data in rows is synthetic data for demonstration in this case </a:t>
            </a:r>
          </a:p>
        </p:txBody>
      </p:sp>
      <p:sp>
        <p:nvSpPr>
          <p:cNvPr id="10" name="TextBox 9">
            <a:extLst>
              <a:ext uri="{FF2B5EF4-FFF2-40B4-BE49-F238E27FC236}">
                <a16:creationId xmlns:a16="http://schemas.microsoft.com/office/drawing/2014/main" id="{FC5609BD-0C2F-16A0-0F8E-5AEB9D87D384}"/>
              </a:ext>
            </a:extLst>
          </p:cNvPr>
          <p:cNvSpPr txBox="1"/>
          <p:nvPr/>
        </p:nvSpPr>
        <p:spPr>
          <a:xfrm>
            <a:off x="4656842" y="5572607"/>
            <a:ext cx="1536569" cy="246221"/>
          </a:xfrm>
          <a:prstGeom prst="rect">
            <a:avLst/>
          </a:prstGeom>
          <a:noFill/>
          <a:ln>
            <a:solidFill>
              <a:schemeClr val="tx1"/>
            </a:solidFill>
          </a:ln>
        </p:spPr>
        <p:txBody>
          <a:bodyPr wrap="square" rtlCol="0">
            <a:spAutoFit/>
          </a:bodyPr>
          <a:lstStyle/>
          <a:p>
            <a:pPr algn="ctr"/>
            <a:r>
              <a:rPr lang="en-US" sz="1000" dirty="0"/>
              <a:t>Aircraft Engine Identifier</a:t>
            </a:r>
          </a:p>
        </p:txBody>
      </p:sp>
      <p:sp>
        <p:nvSpPr>
          <p:cNvPr id="11" name="TextBox 10">
            <a:extLst>
              <a:ext uri="{FF2B5EF4-FFF2-40B4-BE49-F238E27FC236}">
                <a16:creationId xmlns:a16="http://schemas.microsoft.com/office/drawing/2014/main" id="{F8F4AAA9-AC2F-94BB-3A41-E1654BABB0D0}"/>
              </a:ext>
            </a:extLst>
          </p:cNvPr>
          <p:cNvSpPr txBox="1"/>
          <p:nvPr/>
        </p:nvSpPr>
        <p:spPr>
          <a:xfrm>
            <a:off x="5055124" y="5973113"/>
            <a:ext cx="2081752" cy="246221"/>
          </a:xfrm>
          <a:prstGeom prst="rect">
            <a:avLst/>
          </a:prstGeom>
          <a:noFill/>
          <a:ln>
            <a:solidFill>
              <a:schemeClr val="tx1"/>
            </a:solidFill>
          </a:ln>
        </p:spPr>
        <p:txBody>
          <a:bodyPr wrap="square" rtlCol="0">
            <a:spAutoFit/>
          </a:bodyPr>
          <a:lstStyle/>
          <a:p>
            <a:pPr algn="ctr"/>
            <a:r>
              <a:rPr lang="en-US" sz="1000" dirty="0"/>
              <a:t>Maintenance Process Identifier</a:t>
            </a:r>
          </a:p>
        </p:txBody>
      </p:sp>
      <p:sp>
        <p:nvSpPr>
          <p:cNvPr id="12" name="TextBox 11">
            <a:extLst>
              <a:ext uri="{FF2B5EF4-FFF2-40B4-BE49-F238E27FC236}">
                <a16:creationId xmlns:a16="http://schemas.microsoft.com/office/drawing/2014/main" id="{A7C54C9B-B31C-3481-DAC6-90BA62DD4EB6}"/>
              </a:ext>
            </a:extLst>
          </p:cNvPr>
          <p:cNvSpPr txBox="1"/>
          <p:nvPr/>
        </p:nvSpPr>
        <p:spPr>
          <a:xfrm>
            <a:off x="4733828" y="2557601"/>
            <a:ext cx="1536569" cy="246221"/>
          </a:xfrm>
          <a:prstGeom prst="rect">
            <a:avLst/>
          </a:prstGeom>
          <a:noFill/>
          <a:ln>
            <a:solidFill>
              <a:schemeClr val="tx1"/>
            </a:solidFill>
          </a:ln>
        </p:spPr>
        <p:txBody>
          <a:bodyPr wrap="square" rtlCol="0">
            <a:spAutoFit/>
          </a:bodyPr>
          <a:lstStyle/>
          <a:p>
            <a:pPr algn="ctr"/>
            <a:r>
              <a:rPr lang="en-US" sz="1000" dirty="0"/>
              <a:t>X Coordinate of Defect</a:t>
            </a:r>
          </a:p>
        </p:txBody>
      </p:sp>
      <p:sp>
        <p:nvSpPr>
          <p:cNvPr id="13" name="TextBox 12">
            <a:extLst>
              <a:ext uri="{FF2B5EF4-FFF2-40B4-BE49-F238E27FC236}">
                <a16:creationId xmlns:a16="http://schemas.microsoft.com/office/drawing/2014/main" id="{A29883A1-7CAF-9EB6-CCFB-74DC6227E2AA}"/>
              </a:ext>
            </a:extLst>
          </p:cNvPr>
          <p:cNvSpPr txBox="1"/>
          <p:nvPr/>
        </p:nvSpPr>
        <p:spPr>
          <a:xfrm>
            <a:off x="3157979" y="2434490"/>
            <a:ext cx="597031" cy="246221"/>
          </a:xfrm>
          <a:prstGeom prst="rect">
            <a:avLst/>
          </a:prstGeom>
          <a:noFill/>
          <a:ln>
            <a:solidFill>
              <a:schemeClr val="tx1"/>
            </a:solidFill>
          </a:ln>
        </p:spPr>
        <p:txBody>
          <a:bodyPr wrap="square" rtlCol="0">
            <a:spAutoFit/>
          </a:bodyPr>
          <a:lstStyle/>
          <a:p>
            <a:pPr algn="ctr"/>
            <a:r>
              <a:rPr lang="en-US" sz="1000" dirty="0"/>
              <a:t>Defect</a:t>
            </a:r>
          </a:p>
        </p:txBody>
      </p:sp>
      <p:sp>
        <p:nvSpPr>
          <p:cNvPr id="14" name="TextBox 13">
            <a:extLst>
              <a:ext uri="{FF2B5EF4-FFF2-40B4-BE49-F238E27FC236}">
                <a16:creationId xmlns:a16="http://schemas.microsoft.com/office/drawing/2014/main" id="{7257738F-2A21-363F-3F2B-B458EE601B62}"/>
              </a:ext>
            </a:extLst>
          </p:cNvPr>
          <p:cNvSpPr txBox="1"/>
          <p:nvPr/>
        </p:nvSpPr>
        <p:spPr>
          <a:xfrm>
            <a:off x="4917650" y="6373619"/>
            <a:ext cx="1275761" cy="246221"/>
          </a:xfrm>
          <a:prstGeom prst="rect">
            <a:avLst/>
          </a:prstGeom>
          <a:noFill/>
          <a:ln>
            <a:solidFill>
              <a:schemeClr val="tx1"/>
            </a:solidFill>
          </a:ln>
        </p:spPr>
        <p:txBody>
          <a:bodyPr wrap="square" rtlCol="0">
            <a:spAutoFit/>
          </a:bodyPr>
          <a:lstStyle/>
          <a:p>
            <a:pPr algn="ctr"/>
            <a:r>
              <a:rPr lang="en-US" sz="1000" dirty="0"/>
              <a:t>Defect Identifier</a:t>
            </a:r>
          </a:p>
        </p:txBody>
      </p:sp>
      <p:sp>
        <p:nvSpPr>
          <p:cNvPr id="15" name="TextBox 14">
            <a:extLst>
              <a:ext uri="{FF2B5EF4-FFF2-40B4-BE49-F238E27FC236}">
                <a16:creationId xmlns:a16="http://schemas.microsoft.com/office/drawing/2014/main" id="{9BD1E9D4-676D-C654-0C39-9FFA24065DC0}"/>
              </a:ext>
            </a:extLst>
          </p:cNvPr>
          <p:cNvSpPr txBox="1"/>
          <p:nvPr/>
        </p:nvSpPr>
        <p:spPr>
          <a:xfrm>
            <a:off x="1218785" y="5572606"/>
            <a:ext cx="1128489" cy="246221"/>
          </a:xfrm>
          <a:prstGeom prst="rect">
            <a:avLst/>
          </a:prstGeom>
          <a:noFill/>
          <a:ln>
            <a:solidFill>
              <a:schemeClr val="tx1"/>
            </a:solidFill>
          </a:ln>
        </p:spPr>
        <p:txBody>
          <a:bodyPr wrap="square" rtlCol="0">
            <a:spAutoFit/>
          </a:bodyPr>
          <a:lstStyle/>
          <a:p>
            <a:pPr algn="ctr"/>
            <a:r>
              <a:rPr lang="en-US" sz="1000" dirty="0"/>
              <a:t>Aircraft Engine</a:t>
            </a:r>
          </a:p>
        </p:txBody>
      </p:sp>
      <p:sp>
        <p:nvSpPr>
          <p:cNvPr id="16" name="TextBox 15">
            <a:extLst>
              <a:ext uri="{FF2B5EF4-FFF2-40B4-BE49-F238E27FC236}">
                <a16:creationId xmlns:a16="http://schemas.microsoft.com/office/drawing/2014/main" id="{06A62BF7-8325-5480-9AEE-54A0279E6246}"/>
              </a:ext>
            </a:extLst>
          </p:cNvPr>
          <p:cNvSpPr txBox="1"/>
          <p:nvPr/>
        </p:nvSpPr>
        <p:spPr>
          <a:xfrm>
            <a:off x="1462518" y="4838886"/>
            <a:ext cx="641022" cy="246221"/>
          </a:xfrm>
          <a:prstGeom prst="rect">
            <a:avLst/>
          </a:prstGeom>
          <a:noFill/>
          <a:ln>
            <a:solidFill>
              <a:schemeClr val="tx1"/>
            </a:solidFill>
          </a:ln>
        </p:spPr>
        <p:txBody>
          <a:bodyPr wrap="square" rtlCol="0">
            <a:spAutoFit/>
          </a:bodyPr>
          <a:lstStyle/>
          <a:p>
            <a:pPr algn="ctr"/>
            <a:r>
              <a:rPr lang="en-US" sz="1000" dirty="0"/>
              <a:t>Aircraft</a:t>
            </a:r>
          </a:p>
        </p:txBody>
      </p:sp>
      <p:sp>
        <p:nvSpPr>
          <p:cNvPr id="17" name="TextBox 16">
            <a:extLst>
              <a:ext uri="{FF2B5EF4-FFF2-40B4-BE49-F238E27FC236}">
                <a16:creationId xmlns:a16="http://schemas.microsoft.com/office/drawing/2014/main" id="{73C69745-6D64-0A71-38CC-90C4A3BC6F68}"/>
              </a:ext>
            </a:extLst>
          </p:cNvPr>
          <p:cNvSpPr txBox="1"/>
          <p:nvPr/>
        </p:nvSpPr>
        <p:spPr>
          <a:xfrm>
            <a:off x="1218785" y="6092742"/>
            <a:ext cx="1128489" cy="246221"/>
          </a:xfrm>
          <a:prstGeom prst="rect">
            <a:avLst/>
          </a:prstGeom>
          <a:noFill/>
          <a:ln>
            <a:solidFill>
              <a:schemeClr val="tx1"/>
            </a:solidFill>
          </a:ln>
        </p:spPr>
        <p:txBody>
          <a:bodyPr wrap="square" rtlCol="0">
            <a:spAutoFit/>
          </a:bodyPr>
          <a:lstStyle/>
          <a:p>
            <a:pPr algn="ctr"/>
            <a:r>
              <a:rPr lang="en-US" sz="1000" dirty="0"/>
              <a:t>Turbine Blade</a:t>
            </a:r>
          </a:p>
        </p:txBody>
      </p:sp>
      <p:sp>
        <p:nvSpPr>
          <p:cNvPr id="18" name="TextBox 17">
            <a:extLst>
              <a:ext uri="{FF2B5EF4-FFF2-40B4-BE49-F238E27FC236}">
                <a16:creationId xmlns:a16="http://schemas.microsoft.com/office/drawing/2014/main" id="{E2C7DEEC-D684-AA4F-D790-8E32A24F29CE}"/>
              </a:ext>
            </a:extLst>
          </p:cNvPr>
          <p:cNvSpPr txBox="1"/>
          <p:nvPr/>
        </p:nvSpPr>
        <p:spPr>
          <a:xfrm>
            <a:off x="7764752" y="5695716"/>
            <a:ext cx="1536569" cy="246221"/>
          </a:xfrm>
          <a:prstGeom prst="rect">
            <a:avLst/>
          </a:prstGeom>
          <a:noFill/>
          <a:ln>
            <a:solidFill>
              <a:schemeClr val="tx1"/>
            </a:solidFill>
          </a:ln>
        </p:spPr>
        <p:txBody>
          <a:bodyPr wrap="square" rtlCol="0">
            <a:spAutoFit/>
          </a:bodyPr>
          <a:lstStyle/>
          <a:p>
            <a:pPr algn="ctr"/>
            <a:r>
              <a:rPr lang="en-US" sz="1000" dirty="0"/>
              <a:t>Maintenance Process</a:t>
            </a:r>
          </a:p>
        </p:txBody>
      </p:sp>
      <p:sp>
        <p:nvSpPr>
          <p:cNvPr id="19" name="TextBox 18">
            <a:extLst>
              <a:ext uri="{FF2B5EF4-FFF2-40B4-BE49-F238E27FC236}">
                <a16:creationId xmlns:a16="http://schemas.microsoft.com/office/drawing/2014/main" id="{B44C8F74-E1B0-1CA6-4F1E-705984EB0911}"/>
              </a:ext>
            </a:extLst>
          </p:cNvPr>
          <p:cNvSpPr txBox="1"/>
          <p:nvPr/>
        </p:nvSpPr>
        <p:spPr>
          <a:xfrm>
            <a:off x="7764751" y="4882666"/>
            <a:ext cx="1536569" cy="246221"/>
          </a:xfrm>
          <a:prstGeom prst="rect">
            <a:avLst/>
          </a:prstGeom>
          <a:noFill/>
          <a:ln>
            <a:solidFill>
              <a:schemeClr val="tx1"/>
            </a:solidFill>
          </a:ln>
        </p:spPr>
        <p:txBody>
          <a:bodyPr wrap="square" rtlCol="0">
            <a:spAutoFit/>
          </a:bodyPr>
          <a:lstStyle/>
          <a:p>
            <a:pPr algn="ctr"/>
            <a:r>
              <a:rPr lang="en-US" sz="1000" dirty="0"/>
              <a:t>Inspection Process</a:t>
            </a:r>
          </a:p>
        </p:txBody>
      </p:sp>
      <p:sp>
        <p:nvSpPr>
          <p:cNvPr id="20" name="TextBox 19">
            <a:extLst>
              <a:ext uri="{FF2B5EF4-FFF2-40B4-BE49-F238E27FC236}">
                <a16:creationId xmlns:a16="http://schemas.microsoft.com/office/drawing/2014/main" id="{4BF7CD87-4EF3-4924-CFDC-6FC793AA56B7}"/>
              </a:ext>
            </a:extLst>
          </p:cNvPr>
          <p:cNvSpPr txBox="1"/>
          <p:nvPr/>
        </p:nvSpPr>
        <p:spPr>
          <a:xfrm>
            <a:off x="9799371" y="4805721"/>
            <a:ext cx="930111" cy="400110"/>
          </a:xfrm>
          <a:prstGeom prst="rect">
            <a:avLst/>
          </a:prstGeom>
          <a:noFill/>
          <a:ln>
            <a:solidFill>
              <a:schemeClr val="tx1"/>
            </a:solidFill>
          </a:ln>
        </p:spPr>
        <p:txBody>
          <a:bodyPr wrap="square" rtlCol="0">
            <a:spAutoFit/>
          </a:bodyPr>
          <a:lstStyle/>
          <a:p>
            <a:pPr algn="ctr"/>
            <a:r>
              <a:rPr lang="en-US" sz="1000" dirty="0"/>
              <a:t>Inspection Process</a:t>
            </a:r>
          </a:p>
        </p:txBody>
      </p:sp>
      <p:sp>
        <p:nvSpPr>
          <p:cNvPr id="21" name="TextBox 20">
            <a:extLst>
              <a:ext uri="{FF2B5EF4-FFF2-40B4-BE49-F238E27FC236}">
                <a16:creationId xmlns:a16="http://schemas.microsoft.com/office/drawing/2014/main" id="{3829EC3E-6D77-7A27-8A60-53AC9EB534AB}"/>
              </a:ext>
            </a:extLst>
          </p:cNvPr>
          <p:cNvSpPr txBox="1"/>
          <p:nvPr/>
        </p:nvSpPr>
        <p:spPr>
          <a:xfrm>
            <a:off x="5544739" y="4188412"/>
            <a:ext cx="930111" cy="553998"/>
          </a:xfrm>
          <a:prstGeom prst="rect">
            <a:avLst/>
          </a:prstGeom>
          <a:noFill/>
          <a:ln>
            <a:solidFill>
              <a:schemeClr val="tx1"/>
            </a:solidFill>
          </a:ln>
        </p:spPr>
        <p:txBody>
          <a:bodyPr wrap="square" rtlCol="0">
            <a:spAutoFit/>
          </a:bodyPr>
          <a:lstStyle/>
          <a:p>
            <a:pPr algn="ctr"/>
            <a:r>
              <a:rPr lang="en-US" sz="1000" dirty="0"/>
              <a:t>Aircraft Engine Part Specification</a:t>
            </a:r>
          </a:p>
        </p:txBody>
      </p:sp>
    </p:spTree>
    <p:extLst>
      <p:ext uri="{BB962C8B-B14F-4D97-AF65-F5344CB8AC3E}">
        <p14:creationId xmlns:p14="http://schemas.microsoft.com/office/powerpoint/2010/main" val="1783944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89D2-CF43-58AF-A410-0E9CF9BCE6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A6C518A-3E6D-A112-7861-0E0DAC728CCF}"/>
              </a:ext>
            </a:extLst>
          </p:cNvPr>
          <p:cNvPicPr>
            <a:picLocks noChangeAspect="1"/>
          </p:cNvPicPr>
          <p:nvPr/>
        </p:nvPicPr>
        <p:blipFill>
          <a:blip r:embed="rId2"/>
          <a:stretch>
            <a:fillRect/>
          </a:stretch>
        </p:blipFill>
        <p:spPr>
          <a:xfrm>
            <a:off x="485295" y="546199"/>
            <a:ext cx="11049000" cy="665603"/>
          </a:xfrm>
          <a:prstGeom prst="rect">
            <a:avLst/>
          </a:prstGeom>
          <a:ln>
            <a:solidFill>
              <a:schemeClr val="tx1"/>
            </a:solidFill>
          </a:ln>
        </p:spPr>
      </p:pic>
      <p:pic>
        <p:nvPicPr>
          <p:cNvPr id="7" name="Picture 6" descr="A white sheet with black text&#10;&#10;AI-generated content may be incorrect.">
            <a:extLst>
              <a:ext uri="{FF2B5EF4-FFF2-40B4-BE49-F238E27FC236}">
                <a16:creationId xmlns:a16="http://schemas.microsoft.com/office/drawing/2014/main" id="{A6489B82-67EA-0396-B283-E7FC74978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375" y="1274152"/>
            <a:ext cx="9926840" cy="5583848"/>
          </a:xfrm>
          <a:prstGeom prst="rect">
            <a:avLst/>
          </a:prstGeom>
        </p:spPr>
      </p:pic>
      <p:sp>
        <p:nvSpPr>
          <p:cNvPr id="8" name="TextBox 7">
            <a:extLst>
              <a:ext uri="{FF2B5EF4-FFF2-40B4-BE49-F238E27FC236}">
                <a16:creationId xmlns:a16="http://schemas.microsoft.com/office/drawing/2014/main" id="{1472EB13-289A-8CB9-14B9-39082B6A6CDD}"/>
              </a:ext>
            </a:extLst>
          </p:cNvPr>
          <p:cNvSpPr txBox="1"/>
          <p:nvPr/>
        </p:nvSpPr>
        <p:spPr>
          <a:xfrm>
            <a:off x="485295" y="122548"/>
            <a:ext cx="11049000" cy="338554"/>
          </a:xfrm>
          <a:prstGeom prst="rect">
            <a:avLst/>
          </a:prstGeom>
          <a:noFill/>
        </p:spPr>
        <p:txBody>
          <a:bodyPr wrap="square" rtlCol="0">
            <a:spAutoFit/>
          </a:bodyPr>
          <a:lstStyle/>
          <a:p>
            <a:pPr algn="ctr"/>
            <a:r>
              <a:rPr lang="en-US" sz="1600" dirty="0"/>
              <a:t>Table is in inspection database with real column names, data in rows is synthetic data for demonstration in this case </a:t>
            </a:r>
          </a:p>
        </p:txBody>
      </p:sp>
      <p:sp>
        <p:nvSpPr>
          <p:cNvPr id="10" name="TextBox 9">
            <a:extLst>
              <a:ext uri="{FF2B5EF4-FFF2-40B4-BE49-F238E27FC236}">
                <a16:creationId xmlns:a16="http://schemas.microsoft.com/office/drawing/2014/main" id="{3F68958F-07C4-0C6C-6466-AD17FDCAEABB}"/>
              </a:ext>
            </a:extLst>
          </p:cNvPr>
          <p:cNvSpPr txBox="1"/>
          <p:nvPr/>
        </p:nvSpPr>
        <p:spPr>
          <a:xfrm>
            <a:off x="4656842" y="5572607"/>
            <a:ext cx="1536569" cy="246221"/>
          </a:xfrm>
          <a:prstGeom prst="rect">
            <a:avLst/>
          </a:prstGeom>
          <a:noFill/>
          <a:ln>
            <a:solidFill>
              <a:schemeClr val="tx1"/>
            </a:solidFill>
          </a:ln>
        </p:spPr>
        <p:txBody>
          <a:bodyPr wrap="square" rtlCol="0">
            <a:spAutoFit/>
          </a:bodyPr>
          <a:lstStyle/>
          <a:p>
            <a:pPr algn="ctr"/>
            <a:r>
              <a:rPr lang="en-US" sz="1000" dirty="0"/>
              <a:t>Aircraft Engine Identifier</a:t>
            </a:r>
          </a:p>
        </p:txBody>
      </p:sp>
      <p:sp>
        <p:nvSpPr>
          <p:cNvPr id="11" name="TextBox 10">
            <a:extLst>
              <a:ext uri="{FF2B5EF4-FFF2-40B4-BE49-F238E27FC236}">
                <a16:creationId xmlns:a16="http://schemas.microsoft.com/office/drawing/2014/main" id="{D4641FA3-B7F3-446C-3349-4D96691C5414}"/>
              </a:ext>
            </a:extLst>
          </p:cNvPr>
          <p:cNvSpPr txBox="1"/>
          <p:nvPr/>
        </p:nvSpPr>
        <p:spPr>
          <a:xfrm>
            <a:off x="5055124" y="5973113"/>
            <a:ext cx="2081752" cy="246221"/>
          </a:xfrm>
          <a:prstGeom prst="rect">
            <a:avLst/>
          </a:prstGeom>
          <a:noFill/>
          <a:ln>
            <a:solidFill>
              <a:schemeClr val="tx1"/>
            </a:solidFill>
          </a:ln>
        </p:spPr>
        <p:txBody>
          <a:bodyPr wrap="square" rtlCol="0">
            <a:spAutoFit/>
          </a:bodyPr>
          <a:lstStyle/>
          <a:p>
            <a:pPr algn="ctr"/>
            <a:r>
              <a:rPr lang="en-US" sz="1000" dirty="0"/>
              <a:t>Maintenance Process Identifier</a:t>
            </a:r>
          </a:p>
        </p:txBody>
      </p:sp>
      <p:sp>
        <p:nvSpPr>
          <p:cNvPr id="12" name="TextBox 11">
            <a:extLst>
              <a:ext uri="{FF2B5EF4-FFF2-40B4-BE49-F238E27FC236}">
                <a16:creationId xmlns:a16="http://schemas.microsoft.com/office/drawing/2014/main" id="{2AA7D1F2-F588-9202-CC63-F92AF6A10D49}"/>
              </a:ext>
            </a:extLst>
          </p:cNvPr>
          <p:cNvSpPr txBox="1"/>
          <p:nvPr/>
        </p:nvSpPr>
        <p:spPr>
          <a:xfrm>
            <a:off x="4733828" y="2557601"/>
            <a:ext cx="1536569" cy="246221"/>
          </a:xfrm>
          <a:prstGeom prst="rect">
            <a:avLst/>
          </a:prstGeom>
          <a:noFill/>
          <a:ln>
            <a:solidFill>
              <a:schemeClr val="tx1"/>
            </a:solidFill>
          </a:ln>
        </p:spPr>
        <p:txBody>
          <a:bodyPr wrap="square" rtlCol="0">
            <a:spAutoFit/>
          </a:bodyPr>
          <a:lstStyle/>
          <a:p>
            <a:pPr algn="ctr"/>
            <a:r>
              <a:rPr lang="en-US" sz="1000" dirty="0"/>
              <a:t>X Coordinate of Defect</a:t>
            </a:r>
          </a:p>
        </p:txBody>
      </p:sp>
      <p:sp>
        <p:nvSpPr>
          <p:cNvPr id="13" name="TextBox 12">
            <a:extLst>
              <a:ext uri="{FF2B5EF4-FFF2-40B4-BE49-F238E27FC236}">
                <a16:creationId xmlns:a16="http://schemas.microsoft.com/office/drawing/2014/main" id="{48188124-5C30-02F5-8DDB-850F0A7DCA5C}"/>
              </a:ext>
            </a:extLst>
          </p:cNvPr>
          <p:cNvSpPr txBox="1"/>
          <p:nvPr/>
        </p:nvSpPr>
        <p:spPr>
          <a:xfrm>
            <a:off x="3157979" y="2434490"/>
            <a:ext cx="597031" cy="246221"/>
          </a:xfrm>
          <a:prstGeom prst="rect">
            <a:avLst/>
          </a:prstGeom>
          <a:noFill/>
          <a:ln>
            <a:solidFill>
              <a:schemeClr val="tx1"/>
            </a:solidFill>
          </a:ln>
        </p:spPr>
        <p:txBody>
          <a:bodyPr wrap="square" rtlCol="0">
            <a:spAutoFit/>
          </a:bodyPr>
          <a:lstStyle/>
          <a:p>
            <a:pPr algn="ctr"/>
            <a:r>
              <a:rPr lang="en-US" sz="1000" dirty="0"/>
              <a:t>Defect</a:t>
            </a:r>
          </a:p>
        </p:txBody>
      </p:sp>
      <p:sp>
        <p:nvSpPr>
          <p:cNvPr id="14" name="TextBox 13">
            <a:extLst>
              <a:ext uri="{FF2B5EF4-FFF2-40B4-BE49-F238E27FC236}">
                <a16:creationId xmlns:a16="http://schemas.microsoft.com/office/drawing/2014/main" id="{74960D42-E38F-0EF2-7576-AB68D4C2DFAC}"/>
              </a:ext>
            </a:extLst>
          </p:cNvPr>
          <p:cNvSpPr txBox="1"/>
          <p:nvPr/>
        </p:nvSpPr>
        <p:spPr>
          <a:xfrm>
            <a:off x="4917650" y="6373619"/>
            <a:ext cx="1275761" cy="246221"/>
          </a:xfrm>
          <a:prstGeom prst="rect">
            <a:avLst/>
          </a:prstGeom>
          <a:noFill/>
          <a:ln>
            <a:solidFill>
              <a:schemeClr val="tx1"/>
            </a:solidFill>
          </a:ln>
        </p:spPr>
        <p:txBody>
          <a:bodyPr wrap="square" rtlCol="0">
            <a:spAutoFit/>
          </a:bodyPr>
          <a:lstStyle/>
          <a:p>
            <a:pPr algn="ctr"/>
            <a:r>
              <a:rPr lang="en-US" sz="1000" dirty="0"/>
              <a:t>Defect Identifier</a:t>
            </a:r>
          </a:p>
        </p:txBody>
      </p:sp>
      <p:sp>
        <p:nvSpPr>
          <p:cNvPr id="15" name="TextBox 14">
            <a:extLst>
              <a:ext uri="{FF2B5EF4-FFF2-40B4-BE49-F238E27FC236}">
                <a16:creationId xmlns:a16="http://schemas.microsoft.com/office/drawing/2014/main" id="{50E2F80D-864D-B4E3-9F3A-0CA1853294EE}"/>
              </a:ext>
            </a:extLst>
          </p:cNvPr>
          <p:cNvSpPr txBox="1"/>
          <p:nvPr/>
        </p:nvSpPr>
        <p:spPr>
          <a:xfrm>
            <a:off x="1218785" y="5572606"/>
            <a:ext cx="1128489" cy="246221"/>
          </a:xfrm>
          <a:prstGeom prst="rect">
            <a:avLst/>
          </a:prstGeom>
          <a:noFill/>
          <a:ln>
            <a:solidFill>
              <a:schemeClr val="tx1"/>
            </a:solidFill>
          </a:ln>
        </p:spPr>
        <p:txBody>
          <a:bodyPr wrap="square" rtlCol="0">
            <a:spAutoFit/>
          </a:bodyPr>
          <a:lstStyle/>
          <a:p>
            <a:pPr algn="ctr"/>
            <a:r>
              <a:rPr lang="en-US" sz="1000" dirty="0"/>
              <a:t>Aircraft Engine</a:t>
            </a:r>
          </a:p>
        </p:txBody>
      </p:sp>
      <p:sp>
        <p:nvSpPr>
          <p:cNvPr id="16" name="TextBox 15">
            <a:extLst>
              <a:ext uri="{FF2B5EF4-FFF2-40B4-BE49-F238E27FC236}">
                <a16:creationId xmlns:a16="http://schemas.microsoft.com/office/drawing/2014/main" id="{F7AACE61-B455-9906-1AF8-EC02932BE7E1}"/>
              </a:ext>
            </a:extLst>
          </p:cNvPr>
          <p:cNvSpPr txBox="1"/>
          <p:nvPr/>
        </p:nvSpPr>
        <p:spPr>
          <a:xfrm>
            <a:off x="1462518" y="4838886"/>
            <a:ext cx="641022" cy="246221"/>
          </a:xfrm>
          <a:prstGeom prst="rect">
            <a:avLst/>
          </a:prstGeom>
          <a:noFill/>
          <a:ln>
            <a:solidFill>
              <a:schemeClr val="tx1"/>
            </a:solidFill>
          </a:ln>
        </p:spPr>
        <p:txBody>
          <a:bodyPr wrap="square" rtlCol="0">
            <a:spAutoFit/>
          </a:bodyPr>
          <a:lstStyle/>
          <a:p>
            <a:pPr algn="ctr"/>
            <a:r>
              <a:rPr lang="en-US" sz="1000" dirty="0"/>
              <a:t>Aircraft</a:t>
            </a:r>
          </a:p>
        </p:txBody>
      </p:sp>
      <p:sp>
        <p:nvSpPr>
          <p:cNvPr id="17" name="TextBox 16">
            <a:extLst>
              <a:ext uri="{FF2B5EF4-FFF2-40B4-BE49-F238E27FC236}">
                <a16:creationId xmlns:a16="http://schemas.microsoft.com/office/drawing/2014/main" id="{A9939B34-D0FA-2211-1032-82800BDB5D1D}"/>
              </a:ext>
            </a:extLst>
          </p:cNvPr>
          <p:cNvSpPr txBox="1"/>
          <p:nvPr/>
        </p:nvSpPr>
        <p:spPr>
          <a:xfrm>
            <a:off x="1218785" y="6092742"/>
            <a:ext cx="1128489" cy="246221"/>
          </a:xfrm>
          <a:prstGeom prst="rect">
            <a:avLst/>
          </a:prstGeom>
          <a:noFill/>
          <a:ln>
            <a:solidFill>
              <a:schemeClr val="tx1"/>
            </a:solidFill>
          </a:ln>
        </p:spPr>
        <p:txBody>
          <a:bodyPr wrap="square" rtlCol="0">
            <a:spAutoFit/>
          </a:bodyPr>
          <a:lstStyle/>
          <a:p>
            <a:pPr algn="ctr"/>
            <a:r>
              <a:rPr lang="en-US" sz="1000" dirty="0"/>
              <a:t>Turbine Blade</a:t>
            </a:r>
          </a:p>
        </p:txBody>
      </p:sp>
      <p:sp>
        <p:nvSpPr>
          <p:cNvPr id="18" name="TextBox 17">
            <a:extLst>
              <a:ext uri="{FF2B5EF4-FFF2-40B4-BE49-F238E27FC236}">
                <a16:creationId xmlns:a16="http://schemas.microsoft.com/office/drawing/2014/main" id="{93899CF0-F425-53A9-587E-65AF47F31B07}"/>
              </a:ext>
            </a:extLst>
          </p:cNvPr>
          <p:cNvSpPr txBox="1"/>
          <p:nvPr/>
        </p:nvSpPr>
        <p:spPr>
          <a:xfrm>
            <a:off x="7764752" y="5695716"/>
            <a:ext cx="1536569" cy="246221"/>
          </a:xfrm>
          <a:prstGeom prst="rect">
            <a:avLst/>
          </a:prstGeom>
          <a:noFill/>
          <a:ln>
            <a:solidFill>
              <a:schemeClr val="tx1"/>
            </a:solidFill>
          </a:ln>
        </p:spPr>
        <p:txBody>
          <a:bodyPr wrap="square" rtlCol="0">
            <a:spAutoFit/>
          </a:bodyPr>
          <a:lstStyle/>
          <a:p>
            <a:pPr algn="ctr"/>
            <a:r>
              <a:rPr lang="en-US" sz="1000" dirty="0"/>
              <a:t>Maintenance Process</a:t>
            </a:r>
          </a:p>
        </p:txBody>
      </p:sp>
      <p:sp>
        <p:nvSpPr>
          <p:cNvPr id="19" name="TextBox 18">
            <a:extLst>
              <a:ext uri="{FF2B5EF4-FFF2-40B4-BE49-F238E27FC236}">
                <a16:creationId xmlns:a16="http://schemas.microsoft.com/office/drawing/2014/main" id="{7ED49A48-092D-F3F0-A9A8-EBE168122DFF}"/>
              </a:ext>
            </a:extLst>
          </p:cNvPr>
          <p:cNvSpPr txBox="1"/>
          <p:nvPr/>
        </p:nvSpPr>
        <p:spPr>
          <a:xfrm>
            <a:off x="7764751" y="4882666"/>
            <a:ext cx="1536569" cy="246221"/>
          </a:xfrm>
          <a:prstGeom prst="rect">
            <a:avLst/>
          </a:prstGeom>
          <a:noFill/>
          <a:ln>
            <a:solidFill>
              <a:schemeClr val="tx1"/>
            </a:solidFill>
          </a:ln>
        </p:spPr>
        <p:txBody>
          <a:bodyPr wrap="square" rtlCol="0">
            <a:spAutoFit/>
          </a:bodyPr>
          <a:lstStyle/>
          <a:p>
            <a:pPr algn="ctr"/>
            <a:r>
              <a:rPr lang="en-US" sz="1000" dirty="0"/>
              <a:t>Inspection Process</a:t>
            </a:r>
          </a:p>
        </p:txBody>
      </p:sp>
      <p:sp>
        <p:nvSpPr>
          <p:cNvPr id="20" name="TextBox 19">
            <a:extLst>
              <a:ext uri="{FF2B5EF4-FFF2-40B4-BE49-F238E27FC236}">
                <a16:creationId xmlns:a16="http://schemas.microsoft.com/office/drawing/2014/main" id="{62F4FEAF-509C-6E1D-0484-53B198EEF626}"/>
              </a:ext>
            </a:extLst>
          </p:cNvPr>
          <p:cNvSpPr txBox="1"/>
          <p:nvPr/>
        </p:nvSpPr>
        <p:spPr>
          <a:xfrm>
            <a:off x="9799371" y="4805721"/>
            <a:ext cx="930111" cy="400110"/>
          </a:xfrm>
          <a:prstGeom prst="rect">
            <a:avLst/>
          </a:prstGeom>
          <a:noFill/>
          <a:ln>
            <a:solidFill>
              <a:schemeClr val="tx1"/>
            </a:solidFill>
          </a:ln>
        </p:spPr>
        <p:txBody>
          <a:bodyPr wrap="square" rtlCol="0">
            <a:spAutoFit/>
          </a:bodyPr>
          <a:lstStyle/>
          <a:p>
            <a:pPr algn="ctr"/>
            <a:r>
              <a:rPr lang="en-US" sz="1000" dirty="0"/>
              <a:t>Inspection Process</a:t>
            </a:r>
          </a:p>
        </p:txBody>
      </p:sp>
      <p:sp>
        <p:nvSpPr>
          <p:cNvPr id="21" name="TextBox 20">
            <a:extLst>
              <a:ext uri="{FF2B5EF4-FFF2-40B4-BE49-F238E27FC236}">
                <a16:creationId xmlns:a16="http://schemas.microsoft.com/office/drawing/2014/main" id="{4C3D2746-400A-E8E4-31DE-2F5F827B72C0}"/>
              </a:ext>
            </a:extLst>
          </p:cNvPr>
          <p:cNvSpPr txBox="1"/>
          <p:nvPr/>
        </p:nvSpPr>
        <p:spPr>
          <a:xfrm>
            <a:off x="5544739" y="4188412"/>
            <a:ext cx="930111" cy="553998"/>
          </a:xfrm>
          <a:prstGeom prst="rect">
            <a:avLst/>
          </a:prstGeom>
          <a:noFill/>
          <a:ln>
            <a:solidFill>
              <a:schemeClr val="tx1"/>
            </a:solidFill>
          </a:ln>
        </p:spPr>
        <p:txBody>
          <a:bodyPr wrap="square" rtlCol="0">
            <a:spAutoFit/>
          </a:bodyPr>
          <a:lstStyle/>
          <a:p>
            <a:pPr algn="ctr"/>
            <a:r>
              <a:rPr lang="en-US" sz="1000" dirty="0"/>
              <a:t>Aircraft Engine Part Specification</a:t>
            </a:r>
          </a:p>
        </p:txBody>
      </p:sp>
      <p:cxnSp>
        <p:nvCxnSpPr>
          <p:cNvPr id="3" name="Straight Arrow Connector 2">
            <a:extLst>
              <a:ext uri="{FF2B5EF4-FFF2-40B4-BE49-F238E27FC236}">
                <a16:creationId xmlns:a16="http://schemas.microsoft.com/office/drawing/2014/main" id="{AAE5A2E2-EBAC-D569-29CA-9E1C7E58AC88}"/>
              </a:ext>
            </a:extLst>
          </p:cNvPr>
          <p:cNvCxnSpPr/>
          <p:nvPr/>
        </p:nvCxnSpPr>
        <p:spPr>
          <a:xfrm>
            <a:off x="1357460" y="754144"/>
            <a:ext cx="3846136" cy="48184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4CA12DED-D4CE-F6EB-81A7-129B27948145}"/>
              </a:ext>
            </a:extLst>
          </p:cNvPr>
          <p:cNvCxnSpPr>
            <a:cxnSpLocks/>
          </p:cNvCxnSpPr>
          <p:nvPr/>
        </p:nvCxnSpPr>
        <p:spPr>
          <a:xfrm>
            <a:off x="2890679" y="754144"/>
            <a:ext cx="3379718" cy="52189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BB84D38-E524-BAD3-3026-AED11565458D}"/>
              </a:ext>
            </a:extLst>
          </p:cNvPr>
          <p:cNvCxnSpPr>
            <a:cxnSpLocks/>
          </p:cNvCxnSpPr>
          <p:nvPr/>
        </p:nvCxnSpPr>
        <p:spPr>
          <a:xfrm flipH="1">
            <a:off x="5627802" y="754144"/>
            <a:ext cx="1857080" cy="180345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CB6EE6E-6A57-F812-9038-543F2D8B583F}"/>
              </a:ext>
            </a:extLst>
          </p:cNvPr>
          <p:cNvCxnSpPr>
            <a:cxnSpLocks/>
          </p:cNvCxnSpPr>
          <p:nvPr/>
        </p:nvCxnSpPr>
        <p:spPr>
          <a:xfrm flipH="1">
            <a:off x="6270397" y="754144"/>
            <a:ext cx="3030923" cy="573149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9BFFD26-0C15-1560-9A8D-B55B0E58F5A7}"/>
              </a:ext>
            </a:extLst>
          </p:cNvPr>
          <p:cNvCxnSpPr>
            <a:cxnSpLocks/>
          </p:cNvCxnSpPr>
          <p:nvPr/>
        </p:nvCxnSpPr>
        <p:spPr>
          <a:xfrm>
            <a:off x="2103540" y="754144"/>
            <a:ext cx="8181103" cy="398826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221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769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50D1C-41E9-1DDD-1196-B739D8E60349}"/>
              </a:ext>
            </a:extLst>
          </p:cNvPr>
          <p:cNvSpPr>
            <a:spLocks noGrp="1"/>
          </p:cNvSpPr>
          <p:nvPr>
            <p:ph type="title"/>
          </p:nvPr>
        </p:nvSpPr>
        <p:spPr/>
        <p:txBody>
          <a:bodyPr>
            <a:normAutofit/>
          </a:bodyPr>
          <a:lstStyle/>
          <a:p>
            <a:r>
              <a:rPr lang="en-US" dirty="0"/>
              <a:t>Risk Mitigation for Timeline</a:t>
            </a:r>
            <a:br>
              <a:rPr lang="en-US" dirty="0"/>
            </a:br>
            <a:r>
              <a:rPr lang="en-US" dirty="0"/>
              <a:t>Potential Delays and Mitigation Strategies</a:t>
            </a:r>
          </a:p>
        </p:txBody>
      </p:sp>
      <p:graphicFrame>
        <p:nvGraphicFramePr>
          <p:cNvPr id="4" name="Content Placeholder 3">
            <a:extLst>
              <a:ext uri="{FF2B5EF4-FFF2-40B4-BE49-F238E27FC236}">
                <a16:creationId xmlns:a16="http://schemas.microsoft.com/office/drawing/2014/main" id="{B0AF5861-3CED-9BA3-148D-9A73DB614A49}"/>
              </a:ext>
            </a:extLst>
          </p:cNvPr>
          <p:cNvGraphicFramePr>
            <a:graphicFrameLocks noGrp="1"/>
          </p:cNvGraphicFramePr>
          <p:nvPr>
            <p:ph idx="1"/>
          </p:nvPr>
        </p:nvGraphicFramePr>
        <p:xfrm>
          <a:off x="838200" y="2538254"/>
          <a:ext cx="10515600" cy="2926080"/>
        </p:xfrm>
        <a:graphic>
          <a:graphicData uri="http://schemas.openxmlformats.org/drawingml/2006/table">
            <a:tbl>
              <a:tblPr/>
              <a:tblGrid>
                <a:gridCol w="2628900">
                  <a:extLst>
                    <a:ext uri="{9D8B030D-6E8A-4147-A177-3AD203B41FA5}">
                      <a16:colId xmlns:a16="http://schemas.microsoft.com/office/drawing/2014/main" val="462577316"/>
                    </a:ext>
                  </a:extLst>
                </a:gridCol>
                <a:gridCol w="2628900">
                  <a:extLst>
                    <a:ext uri="{9D8B030D-6E8A-4147-A177-3AD203B41FA5}">
                      <a16:colId xmlns:a16="http://schemas.microsoft.com/office/drawing/2014/main" val="2072761402"/>
                    </a:ext>
                  </a:extLst>
                </a:gridCol>
                <a:gridCol w="2628900">
                  <a:extLst>
                    <a:ext uri="{9D8B030D-6E8A-4147-A177-3AD203B41FA5}">
                      <a16:colId xmlns:a16="http://schemas.microsoft.com/office/drawing/2014/main" val="2927448930"/>
                    </a:ext>
                  </a:extLst>
                </a:gridCol>
                <a:gridCol w="2628900">
                  <a:extLst>
                    <a:ext uri="{9D8B030D-6E8A-4147-A177-3AD203B41FA5}">
                      <a16:colId xmlns:a16="http://schemas.microsoft.com/office/drawing/2014/main" val="2430737925"/>
                    </a:ext>
                  </a:extLst>
                </a:gridCol>
              </a:tblGrid>
              <a:tr h="0">
                <a:tc>
                  <a:txBody>
                    <a:bodyPr/>
                    <a:lstStyle/>
                    <a:p>
                      <a:pPr>
                        <a:buNone/>
                      </a:pPr>
                      <a:r>
                        <a:rPr lang="en-US" dirty="0"/>
                        <a:t>Risk</a:t>
                      </a:r>
                    </a:p>
                  </a:txBody>
                  <a:tcPr anchor="ctr">
                    <a:lnL>
                      <a:noFill/>
                    </a:lnL>
                    <a:lnR>
                      <a:noFill/>
                    </a:lnR>
                    <a:lnT>
                      <a:noFill/>
                    </a:lnT>
                    <a:lnB>
                      <a:noFill/>
                    </a:lnB>
                    <a:noFill/>
                  </a:tcPr>
                </a:tc>
                <a:tc>
                  <a:txBody>
                    <a:bodyPr/>
                    <a:lstStyle/>
                    <a:p>
                      <a:pPr>
                        <a:buNone/>
                      </a:pPr>
                      <a:r>
                        <a:rPr lang="en-US"/>
                        <a:t>Impact</a:t>
                      </a:r>
                    </a:p>
                  </a:txBody>
                  <a:tcPr anchor="ctr">
                    <a:lnL>
                      <a:noFill/>
                    </a:lnL>
                    <a:lnR>
                      <a:noFill/>
                    </a:lnR>
                    <a:lnT>
                      <a:noFill/>
                    </a:lnT>
                    <a:lnB>
                      <a:noFill/>
                    </a:lnB>
                    <a:noFill/>
                  </a:tcPr>
                </a:tc>
                <a:tc>
                  <a:txBody>
                    <a:bodyPr/>
                    <a:lstStyle/>
                    <a:p>
                      <a:pPr>
                        <a:buNone/>
                      </a:pPr>
                      <a:r>
                        <a:rPr lang="en-US"/>
                        <a:t>Probability</a:t>
                      </a:r>
                    </a:p>
                  </a:txBody>
                  <a:tcPr anchor="ctr">
                    <a:lnL>
                      <a:noFill/>
                    </a:lnL>
                    <a:lnR>
                      <a:noFill/>
                    </a:lnR>
                    <a:lnT>
                      <a:noFill/>
                    </a:lnT>
                    <a:lnB>
                      <a:noFill/>
                    </a:lnB>
                    <a:noFill/>
                  </a:tcPr>
                </a:tc>
                <a:tc>
                  <a:txBody>
                    <a:bodyPr/>
                    <a:lstStyle/>
                    <a:p>
                      <a:pPr>
                        <a:buNone/>
                      </a:pPr>
                      <a:r>
                        <a:rPr lang="en-US"/>
                        <a:t>Mitigation</a:t>
                      </a:r>
                    </a:p>
                  </a:txBody>
                  <a:tcPr anchor="ctr">
                    <a:lnL>
                      <a:noFill/>
                    </a:lnL>
                    <a:lnR>
                      <a:noFill/>
                    </a:lnR>
                    <a:lnT>
                      <a:noFill/>
                    </a:lnT>
                    <a:lnB>
                      <a:noFill/>
                    </a:lnB>
                    <a:noFill/>
                  </a:tcPr>
                </a:tc>
                <a:extLst>
                  <a:ext uri="{0D108BD9-81ED-4DB2-BD59-A6C34878D82A}">
                    <a16:rowId xmlns:a16="http://schemas.microsoft.com/office/drawing/2014/main" val="2481231526"/>
                  </a:ext>
                </a:extLst>
              </a:tr>
              <a:tr h="0">
                <a:tc>
                  <a:txBody>
                    <a:bodyPr/>
                    <a:lstStyle/>
                    <a:p>
                      <a:pPr>
                        <a:buNone/>
                      </a:pPr>
                      <a:r>
                        <a:rPr lang="en-US"/>
                        <a:t>Data access delays</a:t>
                      </a:r>
                    </a:p>
                  </a:txBody>
                  <a:tcPr anchor="ctr">
                    <a:lnL>
                      <a:noFill/>
                    </a:lnL>
                    <a:lnR>
                      <a:noFill/>
                    </a:lnR>
                    <a:lnT>
                      <a:noFill/>
                    </a:lnT>
                    <a:lnB>
                      <a:noFill/>
                    </a:lnB>
                    <a:noFill/>
                  </a:tcPr>
                </a:tc>
                <a:tc>
                  <a:txBody>
                    <a:bodyPr/>
                    <a:lstStyle/>
                    <a:p>
                      <a:pPr>
                        <a:buNone/>
                      </a:pPr>
                      <a:r>
                        <a:rPr lang="en-US"/>
                        <a:t>2 weeks</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Parallel work streams, mock data</a:t>
                      </a:r>
                    </a:p>
                  </a:txBody>
                  <a:tcPr anchor="ctr">
                    <a:lnL>
                      <a:noFill/>
                    </a:lnL>
                    <a:lnR>
                      <a:noFill/>
                    </a:lnR>
                    <a:lnT>
                      <a:noFill/>
                    </a:lnT>
                    <a:lnB>
                      <a:noFill/>
                    </a:lnB>
                    <a:noFill/>
                  </a:tcPr>
                </a:tc>
                <a:extLst>
                  <a:ext uri="{0D108BD9-81ED-4DB2-BD59-A6C34878D82A}">
                    <a16:rowId xmlns:a16="http://schemas.microsoft.com/office/drawing/2014/main" val="4004933827"/>
                  </a:ext>
                </a:extLst>
              </a:tr>
              <a:tr h="0">
                <a:tc>
                  <a:txBody>
                    <a:bodyPr/>
                    <a:lstStyle/>
                    <a:p>
                      <a:pPr>
                        <a:buNone/>
                      </a:pPr>
                      <a:r>
                        <a:rPr lang="en-US"/>
                        <a:t>Stakeholder availability</a:t>
                      </a:r>
                    </a:p>
                  </a:txBody>
                  <a:tcPr anchor="ctr">
                    <a:lnL>
                      <a:noFill/>
                    </a:lnL>
                    <a:lnR>
                      <a:noFill/>
                    </a:lnR>
                    <a:lnT>
                      <a:noFill/>
                    </a:lnT>
                    <a:lnB>
                      <a:noFill/>
                    </a:lnB>
                    <a:noFill/>
                  </a:tcPr>
                </a:tc>
                <a:tc>
                  <a:txBody>
                    <a:bodyPr/>
                    <a:lstStyle/>
                    <a:p>
                      <a:pPr>
                        <a:buNone/>
                      </a:pPr>
                      <a:r>
                        <a:rPr lang="en-US"/>
                        <a:t>1 week</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Async validation, multiple reviewers</a:t>
                      </a:r>
                    </a:p>
                  </a:txBody>
                  <a:tcPr anchor="ctr">
                    <a:lnL>
                      <a:noFill/>
                    </a:lnL>
                    <a:lnR>
                      <a:noFill/>
                    </a:lnR>
                    <a:lnT>
                      <a:noFill/>
                    </a:lnT>
                    <a:lnB>
                      <a:noFill/>
                    </a:lnB>
                    <a:noFill/>
                  </a:tcPr>
                </a:tc>
                <a:extLst>
                  <a:ext uri="{0D108BD9-81ED-4DB2-BD59-A6C34878D82A}">
                    <a16:rowId xmlns:a16="http://schemas.microsoft.com/office/drawing/2014/main" val="3730130928"/>
                  </a:ext>
                </a:extLst>
              </a:tr>
              <a:tr h="0">
                <a:tc>
                  <a:txBody>
                    <a:bodyPr/>
                    <a:lstStyle/>
                    <a:p>
                      <a:pPr>
                        <a:buNone/>
                      </a:pPr>
                      <a:r>
                        <a:rPr lang="en-US"/>
                        <a:t>Tool integration issues</a:t>
                      </a:r>
                    </a:p>
                  </a:txBody>
                  <a:tcPr anchor="ctr">
                    <a:lnL>
                      <a:noFill/>
                    </a:lnL>
                    <a:lnR>
                      <a:noFill/>
                    </a:lnR>
                    <a:lnT>
                      <a:noFill/>
                    </a:lnT>
                    <a:lnB>
                      <a:noFill/>
                    </a:lnB>
                    <a:noFill/>
                  </a:tcPr>
                </a:tc>
                <a:tc>
                  <a:txBody>
                    <a:bodyPr/>
                    <a:lstStyle/>
                    <a:p>
                      <a:pPr>
                        <a:buNone/>
                      </a:pPr>
                      <a:r>
                        <a:rPr lang="en-US"/>
                        <a:t>2 weeks</a:t>
                      </a:r>
                    </a:p>
                  </a:txBody>
                  <a:tcPr anchor="ctr">
                    <a:lnL>
                      <a:noFill/>
                    </a:lnL>
                    <a:lnR>
                      <a:noFill/>
                    </a:lnR>
                    <a:lnT>
                      <a:noFill/>
                    </a:lnT>
                    <a:lnB>
                      <a:noFill/>
                    </a:lnB>
                    <a:noFill/>
                  </a:tcPr>
                </a:tc>
                <a:tc>
                  <a:txBody>
                    <a:bodyPr/>
                    <a:lstStyle/>
                    <a:p>
                      <a:pPr>
                        <a:buNone/>
                      </a:pPr>
                      <a:r>
                        <a:rPr lang="en-US"/>
                        <a:t>Low</a:t>
                      </a:r>
                    </a:p>
                  </a:txBody>
                  <a:tcPr anchor="ctr">
                    <a:lnL>
                      <a:noFill/>
                    </a:lnL>
                    <a:lnR>
                      <a:noFill/>
                    </a:lnR>
                    <a:lnT>
                      <a:noFill/>
                    </a:lnT>
                    <a:lnB>
                      <a:noFill/>
                    </a:lnB>
                    <a:noFill/>
                  </a:tcPr>
                </a:tc>
                <a:tc>
                  <a:txBody>
                    <a:bodyPr/>
                    <a:lstStyle/>
                    <a:p>
                      <a:pPr>
                        <a:buNone/>
                      </a:pPr>
                      <a:r>
                        <a:rPr lang="en-US"/>
                        <a:t>Proven APIs, fallback options</a:t>
                      </a:r>
                    </a:p>
                  </a:txBody>
                  <a:tcPr anchor="ctr">
                    <a:lnL>
                      <a:noFill/>
                    </a:lnL>
                    <a:lnR>
                      <a:noFill/>
                    </a:lnR>
                    <a:lnT>
                      <a:noFill/>
                    </a:lnT>
                    <a:lnB>
                      <a:noFill/>
                    </a:lnB>
                    <a:noFill/>
                  </a:tcPr>
                </a:tc>
                <a:extLst>
                  <a:ext uri="{0D108BD9-81ED-4DB2-BD59-A6C34878D82A}">
                    <a16:rowId xmlns:a16="http://schemas.microsoft.com/office/drawing/2014/main" val="2298490480"/>
                  </a:ext>
                </a:extLst>
              </a:tr>
              <a:tr h="0">
                <a:tc>
                  <a:txBody>
                    <a:bodyPr/>
                    <a:lstStyle/>
                    <a:p>
                      <a:pPr>
                        <a:buNone/>
                      </a:pPr>
                      <a:r>
                        <a:rPr lang="en-US"/>
                        <a:t>Scope creep</a:t>
                      </a:r>
                    </a:p>
                  </a:txBody>
                  <a:tcPr anchor="ctr">
                    <a:lnL>
                      <a:noFill/>
                    </a:lnL>
                    <a:lnR>
                      <a:noFill/>
                    </a:lnR>
                    <a:lnT>
                      <a:noFill/>
                    </a:lnT>
                    <a:lnB>
                      <a:noFill/>
                    </a:lnB>
                    <a:noFill/>
                  </a:tcPr>
                </a:tc>
                <a:tc>
                  <a:txBody>
                    <a:bodyPr/>
                    <a:lstStyle/>
                    <a:p>
                      <a:pPr>
                        <a:buNone/>
                      </a:pPr>
                      <a:r>
                        <a:rPr lang="en-US"/>
                        <a:t>3 weeks</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dirty="0"/>
                        <a:t>Strict phase gates, change control</a:t>
                      </a:r>
                    </a:p>
                  </a:txBody>
                  <a:tcPr anchor="ctr">
                    <a:lnL>
                      <a:noFill/>
                    </a:lnL>
                    <a:lnR>
                      <a:noFill/>
                    </a:lnR>
                    <a:lnT>
                      <a:noFill/>
                    </a:lnT>
                    <a:lnB>
                      <a:noFill/>
                    </a:lnB>
                    <a:noFill/>
                  </a:tcPr>
                </a:tc>
                <a:extLst>
                  <a:ext uri="{0D108BD9-81ED-4DB2-BD59-A6C34878D82A}">
                    <a16:rowId xmlns:a16="http://schemas.microsoft.com/office/drawing/2014/main" val="758012525"/>
                  </a:ext>
                </a:extLst>
              </a:tr>
            </a:tbl>
          </a:graphicData>
        </a:graphic>
      </p:graphicFrame>
    </p:spTree>
    <p:extLst>
      <p:ext uri="{BB962C8B-B14F-4D97-AF65-F5344CB8AC3E}">
        <p14:creationId xmlns:p14="http://schemas.microsoft.com/office/powerpoint/2010/main" val="2894981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C25D-858F-DAA5-CBDA-EBBA265FFC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1E1DBC-6139-CC0F-61DA-71D3BB665C59}"/>
              </a:ext>
            </a:extLst>
          </p:cNvPr>
          <p:cNvSpPr>
            <a:spLocks noGrp="1"/>
          </p:cNvSpPr>
          <p:nvPr>
            <p:ph idx="1"/>
          </p:nvPr>
        </p:nvSpPr>
        <p:spPr/>
        <p:txBody>
          <a:bodyPr>
            <a:normAutofit/>
          </a:bodyPr>
          <a:lstStyle/>
          <a:p>
            <a:r>
              <a:rPr lang="en-US" dirty="0"/>
              <a:t>Goal:</a:t>
            </a:r>
          </a:p>
          <a:p>
            <a:r>
              <a:rPr lang="en-US" dirty="0"/>
              <a:t>Make data</a:t>
            </a:r>
          </a:p>
          <a:p>
            <a:pPr lvl="1"/>
            <a:r>
              <a:rPr lang="en-US" dirty="0"/>
              <a:t>Visible  via comprehensive enterprise data catalog</a:t>
            </a:r>
          </a:p>
          <a:p>
            <a:pPr lvl="1"/>
            <a:r>
              <a:rPr lang="en-US" dirty="0"/>
              <a:t>Accessible via </a:t>
            </a:r>
            <a:r>
              <a:rPr lang="en-US" dirty="0" err="1"/>
              <a:t>api’s</a:t>
            </a:r>
            <a:r>
              <a:rPr lang="en-US" dirty="0"/>
              <a:t> and data marketplace</a:t>
            </a:r>
          </a:p>
          <a:p>
            <a:pPr lvl="1"/>
            <a:r>
              <a:rPr lang="en-US" dirty="0"/>
              <a:t>Understandable – via robust enterprise business glossary</a:t>
            </a:r>
          </a:p>
          <a:p>
            <a:pPr lvl="1"/>
            <a:r>
              <a:rPr lang="en-US" dirty="0"/>
              <a:t>Linked – lineage &amp; traceability</a:t>
            </a:r>
          </a:p>
          <a:p>
            <a:pPr lvl="1"/>
            <a:r>
              <a:rPr lang="en-US" dirty="0"/>
              <a:t>Trustworthy </a:t>
            </a:r>
          </a:p>
          <a:p>
            <a:pPr lvl="1"/>
            <a:r>
              <a:rPr lang="en-US" dirty="0"/>
              <a:t>Interoperable – common data models, formats, semantics</a:t>
            </a:r>
          </a:p>
          <a:p>
            <a:pPr lvl="1"/>
            <a:r>
              <a:rPr lang="en-US" dirty="0"/>
              <a:t>Secure - </a:t>
            </a:r>
          </a:p>
        </p:txBody>
      </p:sp>
    </p:spTree>
    <p:extLst>
      <p:ext uri="{BB962C8B-B14F-4D97-AF65-F5344CB8AC3E}">
        <p14:creationId xmlns:p14="http://schemas.microsoft.com/office/powerpoint/2010/main" val="704669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1805</TotalTime>
  <Words>4480</Words>
  <Application>Microsoft Office PowerPoint</Application>
  <PresentationFormat>Widescreen</PresentationFormat>
  <Paragraphs>408</Paragraphs>
  <Slides>39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Aptos Display</vt:lpstr>
      <vt:lpstr>Arial</vt:lpstr>
      <vt:lpstr>Office Theme</vt:lpstr>
      <vt:lpstr>Data gov ontology</vt:lpstr>
      <vt:lpstr>Executive Summary</vt:lpstr>
      <vt:lpstr>Problem Statement Current data catalogs faces challenges that impede effective data governance and utilization:</vt:lpstr>
      <vt:lpstr>PowerPoint Presentation</vt:lpstr>
      <vt:lpstr>Proposed Solution Architecture The integration of ontology into the data catalog involves three core components that work together to create an intelligent, semantically-aware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Risk Mitigation for Timeline Potential Delays and Mitigation Strategies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Poonam Sutar</dc:creator>
  <cp:lastModifiedBy>Poonam Sutar</cp:lastModifiedBy>
  <cp:revision>4</cp:revision>
  <dcterms:created xsi:type="dcterms:W3CDTF">2025-09-01T19:51:59Z</dcterms:created>
  <dcterms:modified xsi:type="dcterms:W3CDTF">2025-09-03T15:54:16Z</dcterms:modified>
</cp:coreProperties>
</file>