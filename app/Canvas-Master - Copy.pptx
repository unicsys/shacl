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660"/>
  </p:normalViewPr>
  <p:slideViewPr>
    <p:cSldViewPr snapToGrid="0">
      <p:cViewPr>
        <p:scale>
          <a:sx n="100" d="100"/>
          <a:sy n="100" d="100"/>
        </p:scale>
        <p:origin x="6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77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25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767078E-7F54-B0CA-C099-8F3F765A5CA6}"/>
              </a:ext>
            </a:extLst>
          </p:cNvPr>
          <p:cNvSpPr txBox="1">
            <a:spLocks/>
          </p:cNvSpPr>
          <p:nvPr userDrawn="1"/>
        </p:nvSpPr>
        <p:spPr>
          <a:xfrm>
            <a:off x="72851" y="252064"/>
            <a:ext cx="7854159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Things That Exist</a:t>
            </a:r>
            <a:endParaRPr lang="en-US" sz="12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8199A8-FDD1-B939-C35B-43B700D41178}"/>
              </a:ext>
            </a:extLst>
          </p:cNvPr>
          <p:cNvSpPr txBox="1">
            <a:spLocks/>
          </p:cNvSpPr>
          <p:nvPr userDrawn="1"/>
        </p:nvSpPr>
        <p:spPr>
          <a:xfrm>
            <a:off x="7994688" y="249991"/>
            <a:ext cx="4124435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Things That Happen</a:t>
            </a:r>
            <a:endParaRPr lang="en-US" sz="12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F41B6E6-EA74-B8BD-81C7-6F88B67CE922}"/>
              </a:ext>
            </a:extLst>
          </p:cNvPr>
          <p:cNvSpPr txBox="1">
            <a:spLocks/>
          </p:cNvSpPr>
          <p:nvPr userDrawn="1"/>
        </p:nvSpPr>
        <p:spPr>
          <a:xfrm>
            <a:off x="4255741" y="555640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Information Things</a:t>
            </a:r>
            <a:br>
              <a:rPr lang="en-US" sz="4800" b="1" dirty="0"/>
            </a:br>
            <a:r>
              <a:rPr lang="en-US" sz="4000" dirty="0"/>
              <a:t>(Data that describes, prescribes, designates things)</a:t>
            </a:r>
            <a:endParaRPr lang="en-US" sz="105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0475E3D-A2F7-D47F-14E9-6E0955013BA2}"/>
              </a:ext>
            </a:extLst>
          </p:cNvPr>
          <p:cNvSpPr txBox="1">
            <a:spLocks/>
          </p:cNvSpPr>
          <p:nvPr userDrawn="1"/>
        </p:nvSpPr>
        <p:spPr>
          <a:xfrm>
            <a:off x="1815050" y="555640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Qualities, Functions, Roles</a:t>
            </a:r>
            <a:br>
              <a:rPr lang="en-US" b="1" dirty="0"/>
            </a:br>
            <a:r>
              <a:rPr lang="en-US" sz="4000" dirty="0"/>
              <a:t>(Entities tied to things)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3D35D08-40FA-CAD1-B237-F68E41DA9434}"/>
              </a:ext>
            </a:extLst>
          </p:cNvPr>
          <p:cNvSpPr txBox="1">
            <a:spLocks/>
          </p:cNvSpPr>
          <p:nvPr userDrawn="1"/>
        </p:nvSpPr>
        <p:spPr>
          <a:xfrm>
            <a:off x="72851" y="555640"/>
            <a:ext cx="1674594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Material Things </a:t>
            </a:r>
            <a:br>
              <a:rPr lang="en-US" sz="4800" b="1" dirty="0"/>
            </a:br>
            <a:r>
              <a:rPr lang="en-US" sz="4000" dirty="0"/>
              <a:t>(e.g., aircraft engine)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0BA4242-8F1F-EDF1-F9D5-0ACB34179287}"/>
              </a:ext>
            </a:extLst>
          </p:cNvPr>
          <p:cNvSpPr txBox="1">
            <a:spLocks/>
          </p:cNvSpPr>
          <p:nvPr userDrawn="1"/>
        </p:nvSpPr>
        <p:spPr>
          <a:xfrm>
            <a:off x="7994698" y="555640"/>
            <a:ext cx="2375997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Processes</a:t>
            </a:r>
            <a:br>
              <a:rPr lang="en-US" b="1" dirty="0"/>
            </a:br>
            <a:r>
              <a:rPr lang="en-US" sz="4000" dirty="0"/>
              <a:t>(e.g., inspection)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D41626E-1A6F-E92A-AF87-018206A86B04}"/>
              </a:ext>
            </a:extLst>
          </p:cNvPr>
          <p:cNvSpPr txBox="1">
            <a:spLocks/>
          </p:cNvSpPr>
          <p:nvPr userDrawn="1"/>
        </p:nvSpPr>
        <p:spPr>
          <a:xfrm>
            <a:off x="10438301" y="555640"/>
            <a:ext cx="1680822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Time Periods</a:t>
            </a:r>
            <a:br>
              <a:rPr lang="en-US" sz="4800" b="1" dirty="0"/>
            </a:br>
            <a:r>
              <a:rPr lang="en-US" sz="4000" dirty="0"/>
              <a:t>(e.g., work shift)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CFB83-A5D1-502F-7F9D-765A2B50DB94}"/>
              </a:ext>
            </a:extLst>
          </p:cNvPr>
          <p:cNvSpPr/>
          <p:nvPr userDrawn="1"/>
        </p:nvSpPr>
        <p:spPr>
          <a:xfrm>
            <a:off x="72851" y="872458"/>
            <a:ext cx="1674593" cy="591648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C14BEC-D076-F1E6-1FA6-B7CEDEADD19A}"/>
              </a:ext>
            </a:extLst>
          </p:cNvPr>
          <p:cNvSpPr/>
          <p:nvPr userDrawn="1"/>
        </p:nvSpPr>
        <p:spPr>
          <a:xfrm>
            <a:off x="1815049" y="872458"/>
            <a:ext cx="2373084" cy="591648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3CDE76-3F64-5982-2AF9-E95FEBE08097}"/>
              </a:ext>
            </a:extLst>
          </p:cNvPr>
          <p:cNvSpPr/>
          <p:nvPr userDrawn="1"/>
        </p:nvSpPr>
        <p:spPr>
          <a:xfrm>
            <a:off x="4255736" y="872459"/>
            <a:ext cx="3671351" cy="591648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60206-6E55-004C-7239-468B9E671CDE}"/>
              </a:ext>
            </a:extLst>
          </p:cNvPr>
          <p:cNvSpPr/>
          <p:nvPr userDrawn="1"/>
        </p:nvSpPr>
        <p:spPr>
          <a:xfrm>
            <a:off x="7994688" y="872458"/>
            <a:ext cx="2375997" cy="591648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A1B0C-0598-4458-C520-D0518529C29F}"/>
              </a:ext>
            </a:extLst>
          </p:cNvPr>
          <p:cNvSpPr/>
          <p:nvPr userDrawn="1"/>
        </p:nvSpPr>
        <p:spPr>
          <a:xfrm>
            <a:off x="10438327" y="872459"/>
            <a:ext cx="1680822" cy="59164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10CEB38-906F-E5DC-3E5A-DBAC76E3562E}"/>
              </a:ext>
            </a:extLst>
          </p:cNvPr>
          <p:cNvSpPr txBox="1">
            <a:spLocks/>
          </p:cNvSpPr>
          <p:nvPr userDrawn="1"/>
        </p:nvSpPr>
        <p:spPr>
          <a:xfrm>
            <a:off x="1815009" y="92378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</a:t>
            </a:r>
            <a:br>
              <a:rPr lang="en-US" dirty="0"/>
            </a:br>
            <a:r>
              <a:rPr lang="en-US" sz="4000" dirty="0"/>
              <a:t>(e.g., mass, temperature)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76152FB-2F0B-63F2-62A2-E230433F98E6}"/>
              </a:ext>
            </a:extLst>
          </p:cNvPr>
          <p:cNvSpPr txBox="1">
            <a:spLocks/>
          </p:cNvSpPr>
          <p:nvPr userDrawn="1"/>
        </p:nvSpPr>
        <p:spPr>
          <a:xfrm>
            <a:off x="1815009" y="2913637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Functions </a:t>
            </a:r>
            <a:br>
              <a:rPr lang="en-US" sz="1000" dirty="0"/>
            </a:br>
            <a:r>
              <a:rPr lang="en-US" sz="1000" dirty="0"/>
              <a:t>(e.g., generating thrust function) 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6F34719-84BB-7E51-26ED-EB115521AE31}"/>
              </a:ext>
            </a:extLst>
          </p:cNvPr>
          <p:cNvSpPr txBox="1">
            <a:spLocks/>
          </p:cNvSpPr>
          <p:nvPr userDrawn="1"/>
        </p:nvSpPr>
        <p:spPr>
          <a:xfrm>
            <a:off x="1815008" y="489591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Roles</a:t>
            </a:r>
            <a:br>
              <a:rPr lang="en-US" dirty="0"/>
            </a:br>
            <a:r>
              <a:rPr lang="en-US" sz="4000" dirty="0"/>
              <a:t>(e.g., supplier role, primary pump role)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A04F06F-AFB2-3982-8F42-0843765EEF6D}"/>
              </a:ext>
            </a:extLst>
          </p:cNvPr>
          <p:cNvSpPr txBox="1">
            <a:spLocks/>
          </p:cNvSpPr>
          <p:nvPr userDrawn="1"/>
        </p:nvSpPr>
        <p:spPr>
          <a:xfrm>
            <a:off x="4255560" y="4895917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Identifiers</a:t>
            </a:r>
            <a:br>
              <a:rPr lang="en-US" dirty="0"/>
            </a:br>
            <a:r>
              <a:rPr lang="en-US" sz="4000" dirty="0"/>
              <a:t>(Data that designates things - e.g., names, serial numbers)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6C9E9D8-B51A-2C74-2822-DADE6E13515D}"/>
              </a:ext>
            </a:extLst>
          </p:cNvPr>
          <p:cNvSpPr txBox="1">
            <a:spLocks/>
          </p:cNvSpPr>
          <p:nvPr userDrawn="1"/>
        </p:nvSpPr>
        <p:spPr>
          <a:xfrm>
            <a:off x="4255657" y="922452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Descriptive Data</a:t>
            </a:r>
            <a:br>
              <a:rPr lang="en-US" dirty="0"/>
            </a:br>
            <a:r>
              <a:rPr lang="en-US" sz="4000" dirty="0"/>
              <a:t>(Data that describes things - e.g., measurements, reports)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8312035-13B7-987E-8775-062F1BB33014}"/>
              </a:ext>
            </a:extLst>
          </p:cNvPr>
          <p:cNvSpPr txBox="1">
            <a:spLocks/>
          </p:cNvSpPr>
          <p:nvPr userDrawn="1"/>
        </p:nvSpPr>
        <p:spPr>
          <a:xfrm>
            <a:off x="4255560" y="2912048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Prescriptive Data</a:t>
            </a:r>
            <a:br>
              <a:rPr lang="en-US" sz="1200" b="1" dirty="0"/>
            </a:br>
            <a:r>
              <a:rPr lang="en-US" sz="1000" dirty="0"/>
              <a:t>(Data that prescribes things - e.g., designs, requirements, plans)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8ED39-4C54-72F7-F9EE-88703E9EFD3F}"/>
              </a:ext>
            </a:extLst>
          </p:cNvPr>
          <p:cNvSpPr txBox="1"/>
          <p:nvPr userDrawn="1"/>
        </p:nvSpPr>
        <p:spPr>
          <a:xfrm>
            <a:off x="0" y="0"/>
            <a:ext cx="16745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Ontology Modeling Scope:</a:t>
            </a:r>
          </a:p>
        </p:txBody>
      </p:sp>
    </p:spTree>
    <p:extLst>
      <p:ext uri="{BB962C8B-B14F-4D97-AF65-F5344CB8AC3E}">
        <p14:creationId xmlns:p14="http://schemas.microsoft.com/office/powerpoint/2010/main" val="138533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62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09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803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Office Theme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Sutar</dc:creator>
  <cp:lastModifiedBy>Poonam Sutar</cp:lastModifiedBy>
  <cp:revision>3</cp:revision>
  <dcterms:created xsi:type="dcterms:W3CDTF">2025-09-01T05:50:38Z</dcterms:created>
  <dcterms:modified xsi:type="dcterms:W3CDTF">2025-09-03T14:49:35Z</dcterms:modified>
</cp:coreProperties>
</file>